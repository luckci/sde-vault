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58" r:id="rId7"/>
    <p:sldId id="271" r:id="rId8"/>
    <p:sldId id="259" r:id="rId9"/>
    <p:sldId id="260" r:id="rId10"/>
    <p:sldId id="261" r:id="rId11"/>
    <p:sldId id="262" r:id="rId12"/>
    <p:sldId id="263" r:id="rId13"/>
    <p:sldId id="264" r:id="rId14"/>
    <p:sldId id="266" r:id="rId15"/>
    <p:sldId id="267" r:id="rId16"/>
    <p:sldId id="268" r:id="rId17"/>
    <p:sldId id="270" r:id="rId18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75200" autoAdjust="0"/>
  </p:normalViewPr>
  <p:slideViewPr>
    <p:cSldViewPr snapToGrid="0">
      <p:cViewPr varScale="1">
        <p:scale>
          <a:sx n="61" d="100"/>
          <a:sy n="61" d="100"/>
        </p:scale>
        <p:origin x="152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802C9C-1E04-416F-99B2-1923AE0BB93E}" type="datetimeFigureOut">
              <a:rPr lang="da-DK" smtClean="0"/>
              <a:t>12-11-2025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CD032B-E903-48DA-881A-7A3CB640331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85086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D032B-E903-48DA-881A-7A3CB6403316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477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Talernoter:</a:t>
            </a:r>
            <a:r>
              <a:rPr lang="da-DK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r>
              <a:rPr lang="da-DK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GAI =(f.eks. </a:t>
            </a:r>
            <a:r>
              <a:rPr lang="da-DK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ChatGPT</a:t>
            </a:r>
            <a:r>
              <a:rPr lang="da-DK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kan hjælpe dig med at validere, strukturere og forklare dine svar — ikke erstatte din viden</a:t>
            </a:r>
          </a:p>
          <a:p>
            <a:r>
              <a:rPr lang="da-DK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Forklar kort hvad GAI er: en sprogmodel der kan foreslå forklaringer, rette beregninger (hvis du beder den), og give alternative formuleringer. </a:t>
            </a:r>
          </a:p>
          <a:p>
            <a:r>
              <a:rPr lang="da-DK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Målet: gøre </a:t>
            </a:r>
            <a:r>
              <a:rPr lang="da-DK" dirty="0">
                <a:latin typeface="Times New Roman" panose="02020603050405020304" pitchFamily="18" charset="0"/>
                <a:ea typeface="Times New Roman" panose="02020603050405020304" pitchFamily="18" charset="0"/>
              </a:rPr>
              <a:t>jeres</a:t>
            </a:r>
            <a:r>
              <a:rPr lang="da-DK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egne svar bedre og lære mere.</a:t>
            </a:r>
            <a:endParaRPr lang="da-DK" dirty="0"/>
          </a:p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D032B-E903-48DA-881A-7A3CB6403316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19302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D032B-E903-48DA-881A-7A3CB6403316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18728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GAI er bedst til at forbedre kommunikation, opdage logiske huller, og foreslå forbedringer — men den kan lave fejl i faglige beregninger eller kilder, så du skal tjekke altid.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D032B-E903-48DA-881A-7A3CB6403316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069068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Demonstrér med en kort sætning: “Her er mit svar — giv feedback.”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D032B-E903-48DA-881A-7A3CB6403316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583138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Nævn skolens akademiske ærlighedspolitik. Hvis usikkerhed: spørg læreren.</a:t>
            </a:r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D032B-E903-48DA-881A-7A3CB6403316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54643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CD032B-E903-48DA-881A-7A3CB6403316}" type="slidenum">
              <a:rPr lang="da-DK" smtClean="0"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83984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38D4A0-E577-47D5-90BE-55274D3354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0535246F-70B7-4460-80ED-EEFEEB7E8F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286E61C-2C59-4D95-83DD-9CD05B770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2AFA1-1F94-4F72-9A72-44285D18080E}" type="datetimeFigureOut">
              <a:rPr lang="da-DK" smtClean="0"/>
              <a:t>12-11-2025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5A716848-7F98-4E46-9880-4D475601F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4F7A640F-D981-4927-BEB4-AB9DE417F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93A24-5123-4C2D-8D5E-CB3128FFF98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5708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05DB17-2E83-4D00-B054-C106FF6B8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3FAEFF1-6347-45DA-98C9-ACB42BED0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6C7574B-A220-4A1B-8F37-3CE94F661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2AFA1-1F94-4F72-9A72-44285D18080E}" type="datetimeFigureOut">
              <a:rPr lang="da-DK" smtClean="0"/>
              <a:t>12-11-2025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64B3D6B3-DEA0-482D-8FCE-194230056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8A54BCD-CB0F-42C7-AF35-AC6194707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93A24-5123-4C2D-8D5E-CB3128FFF98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70890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8F5E93-AFAE-40BF-A133-1116E54D3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9AD5CD88-D7B5-4D90-A8E7-C31BC86CF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4A3F338-2FE6-4662-B9FE-FC46C57E7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2AFA1-1F94-4F72-9A72-44285D18080E}" type="datetimeFigureOut">
              <a:rPr lang="da-DK" smtClean="0"/>
              <a:t>12-11-2025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343E979-9992-4108-85A0-CACFAF2CD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EEB1B53E-88F1-4885-96A5-D0D8814C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93A24-5123-4C2D-8D5E-CB3128FFF98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86768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7B3414-8F89-4C0B-A73C-94A66A990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7D97654-9393-4CAC-9A5A-DBD5CB6C1E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BA89DCC1-B2E0-4ECB-BA12-EB3930711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ABECA632-B652-49F4-AF1A-D65D94CFF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2AFA1-1F94-4F72-9A72-44285D18080E}" type="datetimeFigureOut">
              <a:rPr lang="da-DK" smtClean="0"/>
              <a:t>12-11-2025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99834134-2660-4D7F-8DEE-82D94678B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A09C8F46-D6F1-4777-917B-A4D9C5A81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93A24-5123-4C2D-8D5E-CB3128FFF98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6018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D5EA5E-E6E9-4452-B4EA-F7475FBB1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417EC2DE-09E3-4E82-B72E-E60725E93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59B3D574-5539-426A-8C10-08AC53117B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1EA19E41-58E0-4861-9C4D-230F600384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FB96CACA-A0A0-4F4A-B8ED-23947C2896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583F1B27-1AA0-4D3F-97B7-D01FD3BD0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2AFA1-1F94-4F72-9A72-44285D18080E}" type="datetimeFigureOut">
              <a:rPr lang="da-DK" smtClean="0"/>
              <a:t>12-11-2025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C1F76B43-CF10-4E3A-934E-D066EA4B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05CBDB96-7E90-4F0E-B3B1-914937D4D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93A24-5123-4C2D-8D5E-CB3128FFF98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744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573541-AB2C-454C-8EAC-81A58F833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D1497D1D-9F04-4A68-A5DE-2D12B7D29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2AFA1-1F94-4F72-9A72-44285D18080E}" type="datetimeFigureOut">
              <a:rPr lang="da-DK" smtClean="0"/>
              <a:t>12-11-2025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21B63079-9851-4492-B132-6C2AA774B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78E295AC-5E8B-4F96-8592-4FF6F6518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93A24-5123-4C2D-8D5E-CB3128FFF98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46991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334A00BD-4C29-4363-B0F7-0F489D770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2AFA1-1F94-4F72-9A72-44285D18080E}" type="datetimeFigureOut">
              <a:rPr lang="da-DK" smtClean="0"/>
              <a:t>12-11-2025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07BFB859-E215-43BB-848C-B04CAFDAA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28D38D4-9033-4D15-9733-EAB5B8DC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93A24-5123-4C2D-8D5E-CB3128FFF98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8525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9439F9-F175-4BA8-BA61-EB03F4F4A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61BD90B-978A-495F-8512-0FEDE8323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ED9EEEA8-1B70-4ABB-9202-1918A47048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0D6887F6-D5D0-4F8D-BF17-16D0FE0DA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2AFA1-1F94-4F72-9A72-44285D18080E}" type="datetimeFigureOut">
              <a:rPr lang="da-DK" smtClean="0"/>
              <a:t>12-11-2025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D7451C9D-FF6A-4739-BFFC-E771C394E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F5EAF6A6-0FB5-4376-9BEC-C16956DF3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93A24-5123-4C2D-8D5E-CB3128FFF98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03472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9CC68E-F032-49F1-8CC9-CB0A1ED12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13AA1717-326B-43F0-BB85-A087874B1A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8BB76EB0-C3E0-4B53-8A21-A339B6F01C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2E9036D1-73B0-46E8-B415-8123C696F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2AFA1-1F94-4F72-9A72-44285D18080E}" type="datetimeFigureOut">
              <a:rPr lang="da-DK" smtClean="0"/>
              <a:t>12-11-2025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CAA51E6-CD2B-42C2-ABFE-35AEEFCD4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3A390C1C-4B98-4935-A8BB-2E448373F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93A24-5123-4C2D-8D5E-CB3128FFF98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3514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575516-904B-459A-B204-E373DE87B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1FEEFEA8-55B9-4D26-9F28-98179A8A6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D457A31-C199-4ADC-AE58-BB92EF8D9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2AFA1-1F94-4F72-9A72-44285D18080E}" type="datetimeFigureOut">
              <a:rPr lang="da-DK" smtClean="0"/>
              <a:t>12-11-2025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800FC18-09B0-4863-8CE7-A5DE8AA32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5B0CE12-A02D-42AE-9406-6FF8BB0B5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93A24-5123-4C2D-8D5E-CB3128FFF98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32794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BC4D8F23-9781-426A-A48A-434EE20148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B014D90E-49CE-4BD5-8EF1-D8745140CB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7C38B03-F2C3-41CB-B358-8DAED06CE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2AFA1-1F94-4F72-9A72-44285D18080E}" type="datetimeFigureOut">
              <a:rPr lang="da-DK" smtClean="0"/>
              <a:t>12-11-2025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4E060BC-F927-4B47-A517-D6C46BBCC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4B1112CA-5CBE-4F41-B38A-7EDC8BF50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93A24-5123-4C2D-8D5E-CB3128FFF98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22120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B2BFAA7F-6FE3-4E6A-BA63-1959770B1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746FC7A5-B9A0-4D73-AF30-8819A9F01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49AFA35-6D45-42C7-98F2-4500A9D52F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2AFA1-1F94-4F72-9A72-44285D18080E}" type="datetimeFigureOut">
              <a:rPr lang="da-DK" smtClean="0"/>
              <a:t>12-11-2025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8E84FF4-9994-45B7-917A-E34B0BF72E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308B85C-1C82-48E4-A93D-E0893C113F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93A24-5123-4C2D-8D5E-CB3128FFF98E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8976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A1AFB5-37E4-4619-A761-8939CE012B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Brug af generative AI (GAI) i Kemi i 2. </a:t>
            </a:r>
            <a:r>
              <a:rPr lang="da-DK"/>
              <a:t>B</a:t>
            </a:r>
            <a:endParaRPr lang="da-DK" dirty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29BD17DB-A646-4B9A-A31C-6393705ACD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Forsøg med en samlet mundtlig og skriftlig karakter i kemi B </a:t>
            </a:r>
          </a:p>
        </p:txBody>
      </p:sp>
    </p:spTree>
    <p:extLst>
      <p:ext uri="{BB962C8B-B14F-4D97-AF65-F5344CB8AC3E}">
        <p14:creationId xmlns:p14="http://schemas.microsoft.com/office/powerpoint/2010/main" val="4270806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D618B2-2B37-4FFF-B5E4-65E58C8B5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Formål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218EE7E6-48C1-4CB8-952A-D60789432BE9}"/>
              </a:ext>
            </a:extLst>
          </p:cNvPr>
          <p:cNvSpPr txBox="1"/>
          <p:nvPr/>
        </p:nvSpPr>
        <p:spPr>
          <a:xfrm>
            <a:off x="838199" y="1690688"/>
            <a:ext cx="101818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2000" b="1" dirty="0">
                <a:effectLst/>
                <a:latin typeface="Calibri Light" panose="020F0302020204030204" pitchFamily="34" charset="0"/>
                <a:ea typeface="Garamond" panose="02020404030301010803" pitchFamily="18" charset="0"/>
              </a:rPr>
              <a:t>Formålet med forsøget er at få mere viden om, hvordan undervisningen kan tilrettelægges så elevernes skriftlige kompetencer udvikles, når der gives én samlet mundtlig og skriftlig standpunktskarakter. </a:t>
            </a:r>
            <a:endParaRPr lang="da-DK" sz="2000" b="1" dirty="0"/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26E3D45C-6099-4D14-B828-F6FF721F58D5}"/>
              </a:ext>
            </a:extLst>
          </p:cNvPr>
          <p:cNvSpPr txBox="1"/>
          <p:nvPr/>
        </p:nvSpPr>
        <p:spPr>
          <a:xfrm>
            <a:off x="838199" y="2828836"/>
            <a:ext cx="975622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2000" dirty="0">
                <a:effectLst/>
                <a:latin typeface="Calibri Light" panose="020F0302020204030204" pitchFamily="34" charset="0"/>
                <a:ea typeface="Calibri" panose="020F0502020204030204" pitchFamily="34" charset="0"/>
              </a:rPr>
              <a:t>Vi ønsker at styrke elevernes skriftlige kompetencer ved at lade dem bruge GAI som redskab til feedback på forskellige typer skriftlige opgaver, fx teoriafsnit, billedtekster og skriftlige repetitioner m.m.</a:t>
            </a:r>
            <a:endParaRPr lang="da-DK" sz="2000" dirty="0"/>
          </a:p>
        </p:txBody>
      </p:sp>
      <p:sp>
        <p:nvSpPr>
          <p:cNvPr id="8" name="Tekstfelt 7">
            <a:extLst>
              <a:ext uri="{FF2B5EF4-FFF2-40B4-BE49-F238E27FC236}">
                <a16:creationId xmlns:a16="http://schemas.microsoft.com/office/drawing/2014/main" id="{E116B5C2-8F3A-4E2B-AF6A-B1B05B19D010}"/>
              </a:ext>
            </a:extLst>
          </p:cNvPr>
          <p:cNvSpPr txBox="1"/>
          <p:nvPr/>
        </p:nvSpPr>
        <p:spPr>
          <a:xfrm>
            <a:off x="838199" y="4184490"/>
            <a:ext cx="9975630" cy="1236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tabLst>
                <a:tab pos="5941060" algn="r"/>
              </a:tabLst>
            </a:pPr>
            <a:r>
              <a:rPr lang="da-DK" sz="2000" dirty="0">
                <a:effectLst/>
                <a:latin typeface="+mj-lt"/>
                <a:ea typeface="Garamond" panose="02020404030301010803" pitchFamily="18" charset="0"/>
              </a:rPr>
              <a:t>At eleverne bliver fortrolige med at prompte og bruge GAI, på den rigtige måde, således at de får feedback og hjælp til at forbedre en delvis afsluttet skriftlig opgave. </a:t>
            </a:r>
            <a:endParaRPr lang="da-DK" sz="2000" dirty="0">
              <a:effectLst/>
              <a:latin typeface="+mj-lt"/>
              <a:ea typeface="Calibri" panose="020F0502020204030204" pitchFamily="34" charset="0"/>
            </a:endParaRPr>
          </a:p>
          <a:p>
            <a:r>
              <a:rPr lang="da-DK" sz="2000" dirty="0">
                <a:effectLst/>
                <a:latin typeface="+mj-lt"/>
                <a:ea typeface="Garamond" panose="02020404030301010803" pitchFamily="18" charset="0"/>
              </a:rPr>
              <a:t>Det bør vise sig ved at kvaliteten af de skriftlige afleveringer øges.</a:t>
            </a:r>
            <a:endParaRPr lang="da-DK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35470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5598CB-B7D9-44E7-BC3B-CBFC0FEC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GAI i kemi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0ADEABC7-E6C6-4581-A97B-7A729863D226}"/>
              </a:ext>
            </a:extLst>
          </p:cNvPr>
          <p:cNvSpPr txBox="1"/>
          <p:nvPr/>
        </p:nvSpPr>
        <p:spPr>
          <a:xfrm>
            <a:off x="838200" y="1767006"/>
            <a:ext cx="10911214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2400" b="1" dirty="0">
                <a:effectLst/>
                <a:latin typeface="+mj-lt"/>
                <a:ea typeface="Times New Roman" panose="02020603050405020304" pitchFamily="18" charset="0"/>
              </a:rPr>
              <a:t>Hvad er GAI (Generative AI)</a:t>
            </a:r>
          </a:p>
          <a:p>
            <a:r>
              <a:rPr lang="da-DK" sz="2400" dirty="0">
                <a:effectLst/>
                <a:latin typeface="+mj-lt"/>
                <a:ea typeface="Times New Roman" panose="02020603050405020304" pitchFamily="18" charset="0"/>
              </a:rPr>
              <a:t>GAI er en sprogmodel der kan foreslå forklaringer, rette beregninger (hvis du beder den), og give alternative formuleringer. </a:t>
            </a:r>
          </a:p>
          <a:p>
            <a:endParaRPr lang="da-DK" sz="2400" dirty="0">
              <a:effectLst/>
              <a:latin typeface="+mj-lt"/>
              <a:ea typeface="Times New Roman" panose="02020603050405020304" pitchFamily="18" charset="0"/>
            </a:endParaRPr>
          </a:p>
          <a:p>
            <a:endParaRPr lang="da-DK" sz="2400" dirty="0">
              <a:latin typeface="+mj-lt"/>
              <a:ea typeface="Times New Roman" panose="02020603050405020304" pitchFamily="18" charset="0"/>
            </a:endParaRPr>
          </a:p>
          <a:p>
            <a:r>
              <a:rPr lang="da-DK" sz="2400" b="1" dirty="0">
                <a:latin typeface="+mj-lt"/>
                <a:ea typeface="Times New Roman" panose="02020603050405020304" pitchFamily="18" charset="0"/>
              </a:rPr>
              <a:t>Hvad kan GAI bruges til?</a:t>
            </a:r>
          </a:p>
          <a:p>
            <a:r>
              <a:rPr lang="da-DK" sz="2400" dirty="0">
                <a:effectLst/>
                <a:latin typeface="+mj-lt"/>
                <a:ea typeface="Times New Roman" panose="02020603050405020304" pitchFamily="18" charset="0"/>
              </a:rPr>
              <a:t>GAI =(f.eks. </a:t>
            </a:r>
            <a:r>
              <a:rPr lang="da-DK" sz="2400" dirty="0" err="1">
                <a:effectLst/>
                <a:latin typeface="+mj-lt"/>
                <a:ea typeface="Times New Roman" panose="02020603050405020304" pitchFamily="18" charset="0"/>
              </a:rPr>
              <a:t>ChatGPT</a:t>
            </a:r>
            <a:r>
              <a:rPr lang="da-DK" sz="2400" dirty="0">
                <a:effectLst/>
                <a:latin typeface="+mj-lt"/>
                <a:ea typeface="Times New Roman" panose="02020603050405020304" pitchFamily="18" charset="0"/>
              </a:rPr>
              <a:t>) kan hjælpe dig med at validere, strukturere og forklare dine svar — ikke erstatte din viden</a:t>
            </a:r>
          </a:p>
          <a:p>
            <a:r>
              <a:rPr lang="da-DK" sz="2400" dirty="0">
                <a:effectLst/>
                <a:latin typeface="+mj-lt"/>
                <a:ea typeface="Times New Roman" panose="02020603050405020304" pitchFamily="18" charset="0"/>
              </a:rPr>
              <a:t> GAI kan bruges til at forbered eksisterende kemisvar</a:t>
            </a:r>
          </a:p>
          <a:p>
            <a:r>
              <a:rPr lang="da-DK" sz="2400" dirty="0">
                <a:effectLst/>
                <a:latin typeface="+mj-lt"/>
                <a:ea typeface="Times New Roman" panose="02020603050405020304" pitchFamily="18" charset="0"/>
              </a:rPr>
              <a:t>Målet med brug af GAI er at gøre </a:t>
            </a:r>
            <a:r>
              <a:rPr lang="da-DK" sz="2400" dirty="0">
                <a:latin typeface="+mj-lt"/>
                <a:ea typeface="Times New Roman" panose="02020603050405020304" pitchFamily="18" charset="0"/>
              </a:rPr>
              <a:t>jeres</a:t>
            </a:r>
            <a:r>
              <a:rPr lang="da-DK" sz="2400" dirty="0">
                <a:effectLst/>
                <a:latin typeface="+mj-lt"/>
                <a:ea typeface="Times New Roman" panose="02020603050405020304" pitchFamily="18" charset="0"/>
              </a:rPr>
              <a:t> egne svar bedre og lære mere.</a:t>
            </a:r>
            <a:endParaRPr lang="da-DK" sz="2400" dirty="0">
              <a:latin typeface="+mj-lt"/>
            </a:endParaRPr>
          </a:p>
          <a:p>
            <a:endParaRPr lang="da-DK" sz="2400" dirty="0">
              <a:effectLst/>
              <a:latin typeface="+mj-lt"/>
              <a:ea typeface="Times New Roman" panose="02020603050405020304" pitchFamily="18" charset="0"/>
            </a:endParaRPr>
          </a:p>
          <a:p>
            <a:r>
              <a:rPr lang="da-DK" sz="2400" b="1" dirty="0">
                <a:effectLst/>
                <a:latin typeface="+mj-lt"/>
                <a:ea typeface="Times New Roman" panose="02020603050405020304" pitchFamily="18" charset="0"/>
              </a:rPr>
              <a:t>Hvordan må man ikke bruge GAI?</a:t>
            </a:r>
          </a:p>
          <a:p>
            <a:endParaRPr lang="da-DK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da-DK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br>
              <a:rPr lang="da-DK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53912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5598CB-B7D9-44E7-BC3B-CBFC0FEC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GAI i kemi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0ADEABC7-E6C6-4581-A97B-7A729863D226}"/>
              </a:ext>
            </a:extLst>
          </p:cNvPr>
          <p:cNvSpPr txBox="1"/>
          <p:nvPr/>
        </p:nvSpPr>
        <p:spPr>
          <a:xfrm>
            <a:off x="838200" y="1767006"/>
            <a:ext cx="10911214" cy="40121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2400" b="1" dirty="0">
                <a:effectLst/>
                <a:latin typeface="+mj-lt"/>
                <a:ea typeface="Times New Roman" panose="02020603050405020304" pitchFamily="18" charset="0"/>
              </a:rPr>
              <a:t>Hvordan må man ikke bruge GAI?</a:t>
            </a:r>
          </a:p>
          <a:p>
            <a:endParaRPr lang="da-DK" sz="2400" b="1" dirty="0">
              <a:effectLst/>
              <a:latin typeface="+mj-lt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da-DK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Blindt at kopiere svar til aflevering = plagiat</a:t>
            </a:r>
            <a:endParaRPr lang="da-DK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da-DK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Erstatte eksperimentel dokumentation eller egne analyser</a:t>
            </a:r>
            <a:endParaRPr lang="da-DK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da-DK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Tiltro til kilder uden kildeangivelse - bed om referencer</a:t>
            </a:r>
            <a:r>
              <a:rPr lang="da-DK" sz="24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, skriv fx i dit prompt at kilderne skal angives</a:t>
            </a:r>
            <a:endParaRPr lang="da-DK" sz="2400" b="1" dirty="0">
              <a:effectLst/>
              <a:latin typeface="+mj-lt"/>
              <a:ea typeface="Times New Roman" panose="02020603050405020304" pitchFamily="18" charset="0"/>
            </a:endParaRPr>
          </a:p>
          <a:p>
            <a:endParaRPr lang="da-DK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da-DK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br>
              <a:rPr lang="da-DK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515752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B6A866-2237-4A1B-8EA6-58EA27CC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Hvornår er GAI nyttigt i kemi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8A35DDC5-97B1-4AFD-8702-77C90B2BB044}"/>
              </a:ext>
            </a:extLst>
          </p:cNvPr>
          <p:cNvSpPr txBox="1"/>
          <p:nvPr/>
        </p:nvSpPr>
        <p:spPr>
          <a:xfrm>
            <a:off x="1005212" y="1819262"/>
            <a:ext cx="10130425" cy="2121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da-DK" sz="28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Når du vil have et ekstra sæt øjne på ræsonnement eller beregning.</a:t>
            </a:r>
            <a:endParaRPr lang="da-DK" sz="2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da-DK" sz="28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Når du vil omformulere svar til bedre faglig sprogbrug.</a:t>
            </a:r>
            <a:endParaRPr lang="da-DK" sz="2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da-DK" sz="28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Når du vil have alternative forklaringsniveauer (kort, detaljeret).</a:t>
            </a:r>
            <a:br>
              <a:rPr lang="da-DK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da-DK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801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596E1A-E580-4DB3-AB61-B9E8B9D02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Konkrete trin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2A21C421-9327-452E-9A2E-16EF1D158E5D}"/>
              </a:ext>
            </a:extLst>
          </p:cNvPr>
          <p:cNvSpPr txBox="1"/>
          <p:nvPr/>
        </p:nvSpPr>
        <p:spPr>
          <a:xfrm>
            <a:off x="942582" y="1690688"/>
            <a:ext cx="10411217" cy="312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da-DK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Kopiér dit oprindelige svar.</a:t>
            </a:r>
            <a:endParaRPr lang="da-DK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da-DK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Spørg GAI: “Giv feedback på mit svar — på korrekthed, mangler og forbedret formulering.”</a:t>
            </a:r>
            <a:endParaRPr lang="da-DK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da-DK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Bed om en kort opsummering + punktvis liste over fejl/uklarheder.</a:t>
            </a:r>
            <a:endParaRPr lang="da-DK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da-DK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Bed om en forbedret version (kort/normal/udbygget).</a:t>
            </a:r>
            <a:endParaRPr lang="da-DK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da-DK" sz="24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Du skal altid t</a:t>
            </a:r>
            <a:r>
              <a:rPr lang="da-DK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jekke dine beregninger og spørge din lærer hvis du er i tvivl.</a:t>
            </a:r>
            <a:br>
              <a:rPr lang="da-DK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da-DK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558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F22E92-BD33-4F23-8BA5-C7CF64AA9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Eksempel 1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626362BC-E7D4-44B8-BDC4-ED262B6DC48A}"/>
              </a:ext>
            </a:extLst>
          </p:cNvPr>
          <p:cNvSpPr txBox="1"/>
          <p:nvPr/>
        </p:nvSpPr>
        <p:spPr>
          <a:xfrm>
            <a:off x="838200" y="1690688"/>
            <a:ext cx="1036006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dirty="0">
                <a:latin typeface="+mj-lt"/>
              </a:rPr>
              <a:t>Hvad er forskellen på, om man beskriver et kemisk system på makro- eller mikroskopisk niveau. Tag fx udgangspunkt i en kemisk reaktion fra din hverdag. </a:t>
            </a:r>
          </a:p>
          <a:p>
            <a:r>
              <a:rPr lang="da-DK" dirty="0">
                <a:latin typeface="+mj-lt"/>
              </a:rPr>
              <a:t>SVAR:</a:t>
            </a:r>
          </a:p>
          <a:p>
            <a:r>
              <a:rPr lang="da-DK" dirty="0">
                <a:latin typeface="+mj-lt"/>
              </a:rPr>
              <a:t>Makroskopisk betragter man det som helhed, fx ved at angive temperatur, tryk, farve, lugt, </a:t>
            </a:r>
            <a:r>
              <a:rPr lang="da-DK" dirty="0" err="1">
                <a:latin typeface="+mj-lt"/>
              </a:rPr>
              <a:t>stoffsammesætning</a:t>
            </a:r>
            <a:r>
              <a:rPr lang="da-DK" dirty="0">
                <a:latin typeface="+mj-lt"/>
              </a:rPr>
              <a:t>, energi osv. </a:t>
            </a:r>
          </a:p>
          <a:p>
            <a:r>
              <a:rPr lang="da-DK" dirty="0">
                <a:latin typeface="+mj-lt"/>
              </a:rPr>
              <a:t>Mikro kigger man på de enkelte partikler, atomer og joner. Man kan angive positionerne i forhold til hinanden, og deres hastigheder. Man forklarer kun ud fra 1 trin</a:t>
            </a:r>
          </a:p>
          <a:p>
            <a:endParaRPr lang="da-DK" dirty="0">
              <a:latin typeface="+mj-lt"/>
            </a:endParaRPr>
          </a:p>
          <a:p>
            <a:endParaRPr lang="da-DK" dirty="0">
              <a:latin typeface="+mj-lt"/>
            </a:endParaRPr>
          </a:p>
          <a:p>
            <a:r>
              <a:rPr lang="da-DK" dirty="0">
                <a:latin typeface="+mj-lt"/>
              </a:rPr>
              <a:t>Prompt:</a:t>
            </a:r>
          </a:p>
          <a:p>
            <a:r>
              <a:rPr lang="da-DK" dirty="0">
                <a:latin typeface="+mj-lt"/>
              </a:rPr>
              <a:t>Hvordan kan svaret på spørgsmålet forbedres: </a:t>
            </a:r>
          </a:p>
          <a:p>
            <a:r>
              <a:rPr lang="da-DK" dirty="0">
                <a:latin typeface="+mj-lt"/>
              </a:rPr>
              <a:t>Hvad er forskellen på, om man beskriver et kemisk system på makro- eller mikroskopisk niveau. Tag fx udgangspunkt i en kemisk reaktion fra din hverdag. SVAR: Makroskopisk betragter man det som helhed, fx ved at angive temperatur, tryk, farve, lugt, </a:t>
            </a:r>
            <a:r>
              <a:rPr lang="da-DK" dirty="0" err="1">
                <a:latin typeface="+mj-lt"/>
              </a:rPr>
              <a:t>stofsammesætning</a:t>
            </a:r>
            <a:r>
              <a:rPr lang="da-DK" dirty="0">
                <a:latin typeface="+mj-lt"/>
              </a:rPr>
              <a:t>, energi osv. Mikro kigger man på de enkelte partikler, atomer og joner. Man kan angive positionerne i forhold til hinanden, og deres hastigheder. Man forklarer kun ud fra 1 trin</a:t>
            </a:r>
          </a:p>
        </p:txBody>
      </p:sp>
    </p:spTree>
    <p:extLst>
      <p:ext uri="{BB962C8B-B14F-4D97-AF65-F5344CB8AC3E}">
        <p14:creationId xmlns:p14="http://schemas.microsoft.com/office/powerpoint/2010/main" val="3603972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0506E6-ECDC-4868-91F0-F9BE0B53D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GAI-feedback (punktform) på eksempel 1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DA04EA2E-E841-4C74-A0EC-61C878A9480A}"/>
              </a:ext>
            </a:extLst>
          </p:cNvPr>
          <p:cNvSpPr txBox="1"/>
          <p:nvPr/>
        </p:nvSpPr>
        <p:spPr>
          <a:xfrm>
            <a:off x="967634" y="1558993"/>
            <a:ext cx="1018052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2400" b="1" dirty="0">
                <a:latin typeface="+mj-lt"/>
              </a:rPr>
              <a:t>Styrker:</a:t>
            </a:r>
            <a:endParaRPr lang="da-DK" sz="24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a-DK" sz="2400" dirty="0">
                <a:latin typeface="+mj-lt"/>
              </a:rPr>
              <a:t>God grundidé om forskellen mellem helhed (makro) og partikler (mikro).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a-DK" sz="2400" dirty="0">
                <a:latin typeface="+mj-lt"/>
              </a:rPr>
              <a:t>Nævner relevante makroskopiske egenskaber (temperatur, farve, osv.).</a:t>
            </a:r>
          </a:p>
          <a:p>
            <a:r>
              <a:rPr lang="da-DK" sz="2400" b="1" dirty="0">
                <a:latin typeface="+mj-lt"/>
              </a:rPr>
              <a:t>Mulige forbedringer:</a:t>
            </a:r>
            <a:endParaRPr lang="da-DK" sz="2400" dirty="0">
              <a:latin typeface="+mj-lt"/>
            </a:endParaRPr>
          </a:p>
          <a:p>
            <a:pPr>
              <a:buFont typeface="+mj-lt"/>
              <a:buAutoNum type="arabicPeriod"/>
            </a:pPr>
            <a:r>
              <a:rPr lang="da-DK" sz="2400" dirty="0">
                <a:latin typeface="+mj-lt"/>
              </a:rPr>
              <a:t>Brug et </a:t>
            </a:r>
            <a:r>
              <a:rPr lang="da-DK" sz="2400" b="1" dirty="0">
                <a:latin typeface="+mj-lt"/>
              </a:rPr>
              <a:t>konkret eksempel fra hverdagen</a:t>
            </a:r>
            <a:r>
              <a:rPr lang="da-DK" sz="2400" dirty="0">
                <a:latin typeface="+mj-lt"/>
              </a:rPr>
              <a:t>, som spørgsmålet kræver (fx opløsning af sukker i vand eller rustdannelse).</a:t>
            </a:r>
          </a:p>
          <a:p>
            <a:pPr>
              <a:buFont typeface="+mj-lt"/>
              <a:buAutoNum type="arabicPeriod"/>
            </a:pPr>
            <a:r>
              <a:rPr lang="da-DK" sz="2400" dirty="0">
                <a:latin typeface="+mj-lt"/>
              </a:rPr>
              <a:t>Udbyg forklaringen af mikroniveau: hvordan partikler faktisk reagerer eller ændres.</a:t>
            </a:r>
          </a:p>
          <a:p>
            <a:pPr>
              <a:buFont typeface="+mj-lt"/>
              <a:buAutoNum type="arabicPeriod"/>
            </a:pPr>
            <a:r>
              <a:rPr lang="da-DK" sz="2400" dirty="0">
                <a:latin typeface="+mj-lt"/>
              </a:rPr>
              <a:t>Undgå “man forklarer kun ud fra 1 trin” – det er uklart og fagligt upræcist (kemiske processer kan have flere trin på mikroniveau).</a:t>
            </a:r>
          </a:p>
          <a:p>
            <a:pPr>
              <a:buFont typeface="+mj-lt"/>
              <a:buAutoNum type="arabicPeriod"/>
            </a:pPr>
            <a:r>
              <a:rPr lang="da-DK" sz="2400" dirty="0">
                <a:latin typeface="+mj-lt"/>
              </a:rPr>
              <a:t>Gør sproget mere præcist og sammenhængende.</a:t>
            </a:r>
          </a:p>
        </p:txBody>
      </p:sp>
    </p:spTree>
    <p:extLst>
      <p:ext uri="{BB962C8B-B14F-4D97-AF65-F5344CB8AC3E}">
        <p14:creationId xmlns:p14="http://schemas.microsoft.com/office/powerpoint/2010/main" val="1605838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3051A5-8643-4F6A-B0C2-90BB88C02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Forbedret version – eksempel 1</a:t>
            </a: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0418A2EC-4FD1-49E3-8746-12ACB3DB0D44}"/>
              </a:ext>
            </a:extLst>
          </p:cNvPr>
          <p:cNvSpPr txBox="1"/>
          <p:nvPr/>
        </p:nvSpPr>
        <p:spPr>
          <a:xfrm>
            <a:off x="980160" y="1690688"/>
            <a:ext cx="1001769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2400" b="1" dirty="0">
                <a:latin typeface="+mj-lt"/>
              </a:rPr>
              <a:t>Eksempel med rustdannelse</a:t>
            </a:r>
          </a:p>
          <a:p>
            <a:endParaRPr lang="da-DK" sz="2400" b="1" dirty="0">
              <a:latin typeface="+mj-lt"/>
            </a:endParaRPr>
          </a:p>
          <a:p>
            <a:r>
              <a:rPr lang="da-DK" sz="2400" b="1" dirty="0">
                <a:latin typeface="+mj-lt"/>
              </a:rPr>
              <a:t>Makroskopisk niveau:</a:t>
            </a:r>
            <a:r>
              <a:rPr lang="da-DK" sz="2400" dirty="0">
                <a:latin typeface="+mj-lt"/>
              </a:rPr>
              <a:t> Man beskriver, hvad man kan observere med sanserne eller måle, fx at jern reagerer med ilt og vand og bliver dækket af et </a:t>
            </a:r>
            <a:r>
              <a:rPr lang="da-DK" sz="2400" dirty="0" err="1">
                <a:latin typeface="+mj-lt"/>
              </a:rPr>
              <a:t>rødtbrunt</a:t>
            </a:r>
            <a:r>
              <a:rPr lang="da-DK" sz="2400" dirty="0">
                <a:latin typeface="+mj-lt"/>
              </a:rPr>
              <a:t> lag rust. Man kan måle ændringer i masse, temperatur eller pH.</a:t>
            </a:r>
          </a:p>
          <a:p>
            <a:r>
              <a:rPr lang="da-DK" sz="2400" b="1" dirty="0">
                <a:latin typeface="+mj-lt"/>
              </a:rPr>
              <a:t>Mikroskopisk niveau:</a:t>
            </a:r>
            <a:r>
              <a:rPr lang="da-DK" sz="2400" dirty="0">
                <a:latin typeface="+mj-lt"/>
              </a:rPr>
              <a:t> Man forklarer, hvad der sker på partikelniveau — at jernatomer oxideres til jern(II)- og jern(III)-ioner, mens iltmolekyler reduceres til </a:t>
            </a:r>
            <a:r>
              <a:rPr lang="da-DK" sz="2400" dirty="0" err="1">
                <a:latin typeface="+mj-lt"/>
              </a:rPr>
              <a:t>hydroxidioner</a:t>
            </a:r>
            <a:r>
              <a:rPr lang="da-DK" sz="2400" dirty="0">
                <a:latin typeface="+mj-lt"/>
              </a:rPr>
              <a:t>. Disse ioner danner komplekse forbindelser som </a:t>
            </a:r>
            <a:r>
              <a:rPr lang="da-DK" sz="2400" dirty="0" err="1">
                <a:latin typeface="+mj-lt"/>
              </a:rPr>
              <a:t>Fe₂O₃·nH₂O</a:t>
            </a:r>
            <a:r>
              <a:rPr lang="da-DK" sz="2400" dirty="0">
                <a:latin typeface="+mj-lt"/>
              </a:rPr>
              <a:t> (rust).</a:t>
            </a:r>
          </a:p>
          <a:p>
            <a:r>
              <a:rPr lang="da-DK" sz="2400" b="1" dirty="0">
                <a:latin typeface="+mj-lt"/>
              </a:rPr>
              <a:t>Forskellen:</a:t>
            </a:r>
            <a:r>
              <a:rPr lang="da-DK" sz="2400" dirty="0">
                <a:latin typeface="+mj-lt"/>
              </a:rPr>
              <a:t> Makroniveau handler om de målbare, synlige ændringer, mens mikroniveau beskriver de underliggende partikelreaktioner, som forklarer, </a:t>
            </a:r>
            <a:r>
              <a:rPr lang="da-DK" sz="2400" i="1" dirty="0">
                <a:latin typeface="+mj-lt"/>
              </a:rPr>
              <a:t>hvorfor</a:t>
            </a:r>
            <a:r>
              <a:rPr lang="da-DK" sz="2400" dirty="0">
                <a:latin typeface="+mj-lt"/>
              </a:rPr>
              <a:t> vi ser ændringerne.</a:t>
            </a:r>
          </a:p>
        </p:txBody>
      </p:sp>
    </p:spTree>
    <p:extLst>
      <p:ext uri="{BB962C8B-B14F-4D97-AF65-F5344CB8AC3E}">
        <p14:creationId xmlns:p14="http://schemas.microsoft.com/office/powerpoint/2010/main" val="1419816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3051A5-8643-4F6A-B0C2-90BB88C02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Forbedret version – eksempel 1</a:t>
            </a:r>
          </a:p>
        </p:txBody>
      </p:sp>
      <p:sp>
        <p:nvSpPr>
          <p:cNvPr id="6" name="Tekstfelt 5">
            <a:extLst>
              <a:ext uri="{FF2B5EF4-FFF2-40B4-BE49-F238E27FC236}">
                <a16:creationId xmlns:a16="http://schemas.microsoft.com/office/drawing/2014/main" id="{0418A2EC-4FD1-49E3-8746-12ACB3DB0D44}"/>
              </a:ext>
            </a:extLst>
          </p:cNvPr>
          <p:cNvSpPr txBox="1"/>
          <p:nvPr/>
        </p:nvSpPr>
        <p:spPr>
          <a:xfrm>
            <a:off x="980160" y="1690688"/>
            <a:ext cx="1001769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2400" b="1" dirty="0">
                <a:latin typeface="+mj-lt"/>
              </a:rPr>
              <a:t>Kortere svar end eksempel med rustdannelse</a:t>
            </a:r>
          </a:p>
          <a:p>
            <a:endParaRPr lang="da-DK" sz="2400" b="1" dirty="0">
              <a:latin typeface="+mj-lt"/>
            </a:endParaRPr>
          </a:p>
          <a:p>
            <a:r>
              <a:rPr lang="da-DK" sz="2400" dirty="0">
                <a:latin typeface="+mj-lt"/>
              </a:rPr>
              <a:t>På </a:t>
            </a:r>
            <a:r>
              <a:rPr lang="da-DK" sz="2400" b="1" dirty="0">
                <a:latin typeface="+mj-lt"/>
              </a:rPr>
              <a:t>makroskopisk niveau</a:t>
            </a:r>
            <a:r>
              <a:rPr lang="da-DK" sz="2400" dirty="0">
                <a:latin typeface="+mj-lt"/>
              </a:rPr>
              <a:t> beskriver man et system ud fra observerbare egenskaber som farve, temperatur og tryk.</a:t>
            </a:r>
            <a:br>
              <a:rPr lang="da-DK" sz="2400" dirty="0">
                <a:latin typeface="+mj-lt"/>
              </a:rPr>
            </a:br>
            <a:r>
              <a:rPr lang="da-DK" sz="2400" dirty="0">
                <a:latin typeface="+mj-lt"/>
              </a:rPr>
              <a:t>På </a:t>
            </a:r>
            <a:r>
              <a:rPr lang="da-DK" sz="2400" b="1" dirty="0">
                <a:latin typeface="+mj-lt"/>
              </a:rPr>
              <a:t>mikroskopisk niveau</a:t>
            </a:r>
            <a:r>
              <a:rPr lang="da-DK" sz="2400" dirty="0">
                <a:latin typeface="+mj-lt"/>
              </a:rPr>
              <a:t> ser man på, hvordan partikler som atomer, ioner og molekyler reagerer og ændres.</a:t>
            </a:r>
            <a:br>
              <a:rPr lang="da-DK" sz="2400" dirty="0">
                <a:latin typeface="+mj-lt"/>
              </a:rPr>
            </a:br>
            <a:r>
              <a:rPr lang="da-DK" sz="2400" dirty="0">
                <a:latin typeface="+mj-lt"/>
              </a:rPr>
              <a:t>Fx ved opløsning af sukker i vand: makroskopisk ser man, at sukker forsvinder; mikroskopisk opløses sukkerkrystaller, og sukkermolekyler spredes mellem vandmolekyler.</a:t>
            </a:r>
            <a:endParaRPr lang="da-DK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25832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4754A5-F877-4A7E-9E85-7E823C5E3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Etiske og faglige regler</a:t>
            </a:r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DA197723-E5AC-4696-B3C5-521C9FBBA427}"/>
              </a:ext>
            </a:extLst>
          </p:cNvPr>
          <p:cNvSpPr txBox="1"/>
          <p:nvPr/>
        </p:nvSpPr>
        <p:spPr>
          <a:xfrm>
            <a:off x="838200" y="2053942"/>
            <a:ext cx="10347542" cy="2948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da-DK" sz="32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Vær ærlig omkring brug af GAI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da-DK" sz="32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Skriv i din aflevering hvis du brugte GAI</a:t>
            </a:r>
            <a:endParaRPr lang="da-DK" sz="32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da-DK" sz="32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Brug GAI som hjælpemiddel — lær frem for at snyde</a:t>
            </a:r>
            <a:endParaRPr lang="da-DK" sz="32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da-DK" sz="32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Gem din egen version + GAI-output som dokumentation</a:t>
            </a:r>
            <a:br>
              <a:rPr lang="da-DK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da-DK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788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4754A5-F877-4A7E-9E85-7E823C5E3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Tips til gode prompt</a:t>
            </a:r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7E99DB0F-EFD3-4FC8-AA56-308F37933CB0}"/>
              </a:ext>
            </a:extLst>
          </p:cNvPr>
          <p:cNvSpPr txBox="1"/>
          <p:nvPr/>
        </p:nvSpPr>
        <p:spPr>
          <a:xfrm>
            <a:off x="980160" y="1901491"/>
            <a:ext cx="10373639" cy="2682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da-DK" sz="28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Vær konkret: inkluder tal, enheder og hvilke antagelser der er gjort.</a:t>
            </a:r>
            <a:endParaRPr lang="da-DK" sz="2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da-DK" sz="28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Bed om “trinvis udregning” hvis du vil kontrollere matematik.</a:t>
            </a:r>
            <a:endParaRPr lang="da-DK" sz="2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da-DK" sz="28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Anmod om “mulige fejlkilder” i eksperimentet.</a:t>
            </a:r>
            <a:endParaRPr lang="da-DK" sz="2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da-DK" sz="28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Bed om forklaringer på forskellige sværhedsgrader (kort → detaljeret).</a:t>
            </a:r>
            <a:endParaRPr lang="da-DK" sz="28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560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7E3E36-905E-4349-AC51-7F3EFBE8E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Eksempler på </a:t>
            </a:r>
            <a:r>
              <a:rPr lang="da-DK" dirty="0" err="1"/>
              <a:t>promts</a:t>
            </a:r>
            <a:endParaRPr lang="da-DK" dirty="0"/>
          </a:p>
        </p:txBody>
      </p:sp>
      <p:sp>
        <p:nvSpPr>
          <p:cNvPr id="4" name="Tekstfelt 3">
            <a:extLst>
              <a:ext uri="{FF2B5EF4-FFF2-40B4-BE49-F238E27FC236}">
                <a16:creationId xmlns:a16="http://schemas.microsoft.com/office/drawing/2014/main" id="{B3E9FD81-8F2E-43E8-9808-91C68FDAB154}"/>
              </a:ext>
            </a:extLst>
          </p:cNvPr>
          <p:cNvSpPr txBox="1"/>
          <p:nvPr/>
        </p:nvSpPr>
        <p:spPr>
          <a:xfrm>
            <a:off x="1017738" y="1690688"/>
            <a:ext cx="10515599" cy="4349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da-DK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“Læs mit svar nedenfor. Giv: 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da-DK" sz="24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da-DK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a) Tre faglige fejl (hvis nogen)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da-DK" sz="2400" dirty="0"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da-DK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b) To forslag til forbedring af formulering</a:t>
            </a:r>
            <a:endParaRPr lang="da-DK" sz="240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da-DK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		c) En kort forbedret version (60–80 ord). Mit svar: [indsæt].”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da-DK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da-DK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“Find eventuelle regnefejl i denne beregning og vis en trinvis løsning: [indsæt].”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da-DK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da-DK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“Forklar forskellen mellem en stærk og svag base med </a:t>
            </a:r>
            <a:r>
              <a:rPr lang="da-DK" sz="240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pKa</a:t>
            </a:r>
            <a:r>
              <a:rPr lang="da-DK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da-DK" sz="2400" dirty="0" err="1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pKb</a:t>
            </a:r>
            <a:r>
              <a:rPr lang="da-DK" sz="24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-begreber — først i én sætning, så i 5-punkt opsummering.”</a:t>
            </a:r>
            <a:endParaRPr lang="da-DK" sz="24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988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felt 2">
            <a:extLst>
              <a:ext uri="{FF2B5EF4-FFF2-40B4-BE49-F238E27FC236}">
                <a16:creationId xmlns:a16="http://schemas.microsoft.com/office/drawing/2014/main" id="{86D466C1-0A2C-4C24-8CB1-10194F273CC9}"/>
              </a:ext>
            </a:extLst>
          </p:cNvPr>
          <p:cNvSpPr txBox="1"/>
          <p:nvPr/>
        </p:nvSpPr>
        <p:spPr>
          <a:xfrm>
            <a:off x="1390389" y="1180429"/>
            <a:ext cx="9344416" cy="3437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36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Brug GAI som en kritisk hjælper: </a:t>
            </a:r>
          </a:p>
          <a:p>
            <a:pPr marL="571500" indent="-5715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da-DK" sz="36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få feedback</a:t>
            </a:r>
            <a:endParaRPr lang="da-DK" sz="360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da-DK" sz="36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kræv forklaring</a:t>
            </a:r>
            <a:endParaRPr lang="da-DK" sz="3600" dirty="0"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da-DK" sz="36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dobbelttjek tal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sz="360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— lær mere ved at stille bedre spørgsmål.</a:t>
            </a:r>
            <a:endParaRPr lang="da-DK" sz="36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661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F410AC02759A45906EE9B0C2104CB3" ma:contentTypeVersion="6" ma:contentTypeDescription="Create a new document." ma:contentTypeScope="" ma:versionID="9af499206f1774947ff4b0e4541420e4">
  <xsd:schema xmlns:xsd="http://www.w3.org/2001/XMLSchema" xmlns:xs="http://www.w3.org/2001/XMLSchema" xmlns:p="http://schemas.microsoft.com/office/2006/metadata/properties" xmlns:ns3="2e86d1db-d5da-4720-a3d3-74f4b94c7a47" targetNamespace="http://schemas.microsoft.com/office/2006/metadata/properties" ma:root="true" ma:fieldsID="2a91d9ad16860d8475d8fd2005cc96cd" ns3:_="">
    <xsd:import namespace="2e86d1db-d5da-4720-a3d3-74f4b94c7a4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86d1db-d5da-4720-a3d3-74f4b94c7a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893091-6D66-4B60-8488-56C69DFAAA7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D50E7F-321E-4D9C-A56B-5A9CB941DCB4}">
  <ds:schemaRefs>
    <ds:schemaRef ds:uri="http://schemas.openxmlformats.org/package/2006/metadata/core-properties"/>
    <ds:schemaRef ds:uri="2e86d1db-d5da-4720-a3d3-74f4b94c7a47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purl.org/dc/dcmitype/"/>
    <ds:schemaRef ds:uri="http://purl.org/dc/elements/1.1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F7E4B12-EC6D-4CDC-8277-49C5E03B46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86d1db-d5da-4720-a3d3-74f4b94c7a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1201</Words>
  <Application>Microsoft Office PowerPoint</Application>
  <PresentationFormat>Widescreen</PresentationFormat>
  <Paragraphs>107</Paragraphs>
  <Slides>14</Slides>
  <Notes>7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Symbol</vt:lpstr>
      <vt:lpstr>Times New Roman</vt:lpstr>
      <vt:lpstr>Office-tema</vt:lpstr>
      <vt:lpstr>Brug af generative AI (GAI) i Kemi i 2. B</vt:lpstr>
      <vt:lpstr>Formål</vt:lpstr>
      <vt:lpstr>GAI i kemi</vt:lpstr>
      <vt:lpstr>GAI i kemi</vt:lpstr>
      <vt:lpstr>Hvornår er GAI nyttigt i kemi</vt:lpstr>
      <vt:lpstr>Konkrete trin</vt:lpstr>
      <vt:lpstr>Eksempel 1</vt:lpstr>
      <vt:lpstr>GAI-feedback (punktform) på eksempel 1</vt:lpstr>
      <vt:lpstr>Forbedret version – eksempel 1</vt:lpstr>
      <vt:lpstr>Forbedret version – eksempel 1</vt:lpstr>
      <vt:lpstr>Etiske og faglige regler</vt:lpstr>
      <vt:lpstr>Tips til gode prompt</vt:lpstr>
      <vt:lpstr>Eksempler på promts</vt:lpstr>
      <vt:lpstr>PowerPoint-præsentation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Kemi</dc:title>
  <dc:creator>Charlotte Lena Boesen</dc:creator>
  <cp:lastModifiedBy>Charlotte Lena Boesen</cp:lastModifiedBy>
  <cp:revision>12</cp:revision>
  <dcterms:created xsi:type="dcterms:W3CDTF">2025-10-25T10:11:10Z</dcterms:created>
  <dcterms:modified xsi:type="dcterms:W3CDTF">2025-11-12T15:27:29Z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0x0101006BF410AC02759A45906EE9B0C2104CB3</vt:lpwstr>
  </property>
</Properties>
</file>