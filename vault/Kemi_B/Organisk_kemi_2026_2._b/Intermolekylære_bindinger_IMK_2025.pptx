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257" r:id="rId4"/>
    <p:sldId id="258" r:id="rId5"/>
    <p:sldId id="264" r:id="rId6"/>
    <p:sldId id="265" r:id="rId7"/>
    <p:sldId id="269" r:id="rId8"/>
    <p:sldId id="270" r:id="rId9"/>
    <p:sldId id="285" r:id="rId10"/>
    <p:sldId id="260" r:id="rId11"/>
    <p:sldId id="261" r:id="rId12"/>
    <p:sldId id="280" r:id="rId13"/>
    <p:sldId id="279" r:id="rId14"/>
    <p:sldId id="289" r:id="rId15"/>
    <p:sldId id="290" r:id="rId16"/>
    <p:sldId id="291" r:id="rId17"/>
    <p:sldId id="287" r:id="rId18"/>
    <p:sldId id="288" r:id="rId19"/>
    <p:sldId id="281" r:id="rId20"/>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a-DK"/>
              <a:t>Klik for at redigere i master</a:t>
            </a:r>
          </a:p>
        </p:txBody>
      </p:sp>
      <p:sp>
        <p:nvSpPr>
          <p:cNvPr id="3" name="U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i master</a:t>
            </a:r>
          </a:p>
        </p:txBody>
      </p:sp>
      <p:sp>
        <p:nvSpPr>
          <p:cNvPr id="4" name="Pladsholder til dato 3"/>
          <p:cNvSpPr>
            <a:spLocks noGrp="1"/>
          </p:cNvSpPr>
          <p:nvPr>
            <p:ph type="dt" sz="half" idx="10"/>
          </p:nvPr>
        </p:nvSpPr>
        <p:spPr/>
        <p:txBody>
          <a:bodyPr/>
          <a:lstStyle/>
          <a:p>
            <a:fld id="{2AE43082-B980-4F94-AD8B-A7A0A0752FBA}" type="datetimeFigureOut">
              <a:rPr lang="da-DK" smtClean="0"/>
              <a:t>09-03-2025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2582817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idx="1"/>
          </p:nvPr>
        </p:nvSpPr>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2AE43082-B980-4F94-AD8B-A7A0A0752FBA}" type="datetimeFigureOut">
              <a:rPr lang="da-DK" smtClean="0"/>
              <a:t>09-03-2025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3022493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a-DK"/>
              <a:t>Klik for at redigere i master</a:t>
            </a:r>
          </a:p>
        </p:txBody>
      </p:sp>
      <p:sp>
        <p:nvSpPr>
          <p:cNvPr id="3" name="Pladsholder til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Klik for at redigere i master</a:t>
            </a:r>
          </a:p>
        </p:txBody>
      </p:sp>
      <p:sp>
        <p:nvSpPr>
          <p:cNvPr id="4" name="Pladsholder til dato 3"/>
          <p:cNvSpPr>
            <a:spLocks noGrp="1"/>
          </p:cNvSpPr>
          <p:nvPr>
            <p:ph type="dt" sz="half" idx="10"/>
          </p:nvPr>
        </p:nvSpPr>
        <p:spPr/>
        <p:txBody>
          <a:bodyPr/>
          <a:lstStyle/>
          <a:p>
            <a:fld id="{2AE43082-B980-4F94-AD8B-A7A0A0752FBA}" type="datetimeFigureOut">
              <a:rPr lang="da-DK" smtClean="0"/>
              <a:t>09-03-2025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1286933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sz="half" idx="1"/>
          </p:nvPr>
        </p:nvSpPr>
        <p:spPr>
          <a:xfrm>
            <a:off x="838200" y="1825625"/>
            <a:ext cx="5181600" cy="4351338"/>
          </a:xfrm>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p:cNvSpPr>
            <a:spLocks noGrp="1"/>
          </p:cNvSpPr>
          <p:nvPr>
            <p:ph sz="half" idx="2"/>
          </p:nvPr>
        </p:nvSpPr>
        <p:spPr>
          <a:xfrm>
            <a:off x="6172200" y="1825625"/>
            <a:ext cx="5181600" cy="4351338"/>
          </a:xfrm>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p:cNvSpPr>
            <a:spLocks noGrp="1"/>
          </p:cNvSpPr>
          <p:nvPr>
            <p:ph type="dt" sz="half" idx="10"/>
          </p:nvPr>
        </p:nvSpPr>
        <p:spPr/>
        <p:txBody>
          <a:bodyPr/>
          <a:lstStyle/>
          <a:p>
            <a:fld id="{2AE43082-B980-4F94-AD8B-A7A0A0752FBA}" type="datetimeFigureOut">
              <a:rPr lang="da-DK" smtClean="0"/>
              <a:t>09-03-2025</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640736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a-DK"/>
              <a:t>Klik for at redigere i master</a:t>
            </a:r>
          </a:p>
        </p:txBody>
      </p:sp>
      <p:sp>
        <p:nvSpPr>
          <p:cNvPr id="3" name="Pladsholder til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i master</a:t>
            </a:r>
          </a:p>
        </p:txBody>
      </p:sp>
      <p:sp>
        <p:nvSpPr>
          <p:cNvPr id="4" name="Pladsholder til indhold 3"/>
          <p:cNvSpPr>
            <a:spLocks noGrp="1"/>
          </p:cNvSpPr>
          <p:nvPr>
            <p:ph sz="half" idx="2"/>
          </p:nvPr>
        </p:nvSpPr>
        <p:spPr>
          <a:xfrm>
            <a:off x="839788" y="2505075"/>
            <a:ext cx="5157787" cy="3684588"/>
          </a:xfrm>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i master</a:t>
            </a:r>
          </a:p>
        </p:txBody>
      </p:sp>
      <p:sp>
        <p:nvSpPr>
          <p:cNvPr id="6" name="Pladsholder til indhold 5"/>
          <p:cNvSpPr>
            <a:spLocks noGrp="1"/>
          </p:cNvSpPr>
          <p:nvPr>
            <p:ph sz="quarter" idx="4"/>
          </p:nvPr>
        </p:nvSpPr>
        <p:spPr>
          <a:xfrm>
            <a:off x="6172200" y="2505075"/>
            <a:ext cx="5183188" cy="3684588"/>
          </a:xfrm>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p:cNvSpPr>
            <a:spLocks noGrp="1"/>
          </p:cNvSpPr>
          <p:nvPr>
            <p:ph type="dt" sz="half" idx="10"/>
          </p:nvPr>
        </p:nvSpPr>
        <p:spPr/>
        <p:txBody>
          <a:bodyPr/>
          <a:lstStyle/>
          <a:p>
            <a:fld id="{2AE43082-B980-4F94-AD8B-A7A0A0752FBA}" type="datetimeFigureOut">
              <a:rPr lang="da-DK" smtClean="0"/>
              <a:t>09-03-2025</a:t>
            </a:fld>
            <a:endParaRPr lang="da-DK"/>
          </a:p>
        </p:txBody>
      </p:sp>
      <p:sp>
        <p:nvSpPr>
          <p:cNvPr id="8" name="Pladsholder til sidefod 7"/>
          <p:cNvSpPr>
            <a:spLocks noGrp="1"/>
          </p:cNvSpPr>
          <p:nvPr>
            <p:ph type="ftr" sz="quarter" idx="11"/>
          </p:nvPr>
        </p:nvSpPr>
        <p:spPr/>
        <p:txBody>
          <a:bodyPr/>
          <a:lstStyle/>
          <a:p>
            <a:endParaRPr lang="da-DK"/>
          </a:p>
        </p:txBody>
      </p:sp>
      <p:sp>
        <p:nvSpPr>
          <p:cNvPr id="9" name="Pladsholder til slidenummer 8"/>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490181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dato 2"/>
          <p:cNvSpPr>
            <a:spLocks noGrp="1"/>
          </p:cNvSpPr>
          <p:nvPr>
            <p:ph type="dt" sz="half" idx="10"/>
          </p:nvPr>
        </p:nvSpPr>
        <p:spPr/>
        <p:txBody>
          <a:bodyPr/>
          <a:lstStyle/>
          <a:p>
            <a:fld id="{2AE43082-B980-4F94-AD8B-A7A0A0752FBA}" type="datetimeFigureOut">
              <a:rPr lang="da-DK" smtClean="0"/>
              <a:t>09-03-2025</a:t>
            </a:fld>
            <a:endParaRPr lang="da-DK"/>
          </a:p>
        </p:txBody>
      </p:sp>
      <p:sp>
        <p:nvSpPr>
          <p:cNvPr id="4" name="Pladsholder til sidefod 3"/>
          <p:cNvSpPr>
            <a:spLocks noGrp="1"/>
          </p:cNvSpPr>
          <p:nvPr>
            <p:ph type="ftr" sz="quarter" idx="11"/>
          </p:nvPr>
        </p:nvSpPr>
        <p:spPr/>
        <p:txBody>
          <a:bodyPr/>
          <a:lstStyle/>
          <a:p>
            <a:endParaRPr lang="da-DK"/>
          </a:p>
        </p:txBody>
      </p:sp>
      <p:sp>
        <p:nvSpPr>
          <p:cNvPr id="5" name="Pladsholder til slidenummer 4"/>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1649364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2AE43082-B980-4F94-AD8B-A7A0A0752FBA}" type="datetimeFigureOut">
              <a:rPr lang="da-DK" smtClean="0"/>
              <a:t>09-03-2025</a:t>
            </a:fld>
            <a:endParaRPr lang="da-DK"/>
          </a:p>
        </p:txBody>
      </p:sp>
      <p:sp>
        <p:nvSpPr>
          <p:cNvPr id="3" name="Pladsholder til sidefod 2"/>
          <p:cNvSpPr>
            <a:spLocks noGrp="1"/>
          </p:cNvSpPr>
          <p:nvPr>
            <p:ph type="ftr" sz="quarter" idx="11"/>
          </p:nvPr>
        </p:nvSpPr>
        <p:spPr/>
        <p:txBody>
          <a:bodyPr/>
          <a:lstStyle/>
          <a:p>
            <a:endParaRPr lang="da-DK"/>
          </a:p>
        </p:txBody>
      </p:sp>
      <p:sp>
        <p:nvSpPr>
          <p:cNvPr id="4" name="Pladsholder til slidenummer 3"/>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218077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a-DK"/>
              <a:t>Klik for at redigere i master</a:t>
            </a:r>
          </a:p>
        </p:txBody>
      </p:sp>
      <p:sp>
        <p:nvSpPr>
          <p:cNvPr id="3" name="Pladsholder til ind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i master</a:t>
            </a:r>
          </a:p>
        </p:txBody>
      </p:sp>
      <p:sp>
        <p:nvSpPr>
          <p:cNvPr id="5" name="Pladsholder til dato 4"/>
          <p:cNvSpPr>
            <a:spLocks noGrp="1"/>
          </p:cNvSpPr>
          <p:nvPr>
            <p:ph type="dt" sz="half" idx="10"/>
          </p:nvPr>
        </p:nvSpPr>
        <p:spPr/>
        <p:txBody>
          <a:bodyPr/>
          <a:lstStyle/>
          <a:p>
            <a:fld id="{2AE43082-B980-4F94-AD8B-A7A0A0752FBA}" type="datetimeFigureOut">
              <a:rPr lang="da-DK" smtClean="0"/>
              <a:t>09-03-2025</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3302084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a-DK"/>
              <a:t>Klik for at redigere i master</a:t>
            </a:r>
          </a:p>
        </p:txBody>
      </p:sp>
      <p:sp>
        <p:nvSpPr>
          <p:cNvPr id="3" name="Pladsholder til bille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i master</a:t>
            </a:r>
          </a:p>
        </p:txBody>
      </p:sp>
      <p:sp>
        <p:nvSpPr>
          <p:cNvPr id="5" name="Pladsholder til dato 4"/>
          <p:cNvSpPr>
            <a:spLocks noGrp="1"/>
          </p:cNvSpPr>
          <p:nvPr>
            <p:ph type="dt" sz="half" idx="10"/>
          </p:nvPr>
        </p:nvSpPr>
        <p:spPr/>
        <p:txBody>
          <a:bodyPr/>
          <a:lstStyle/>
          <a:p>
            <a:fld id="{2AE43082-B980-4F94-AD8B-A7A0A0752FBA}" type="datetimeFigureOut">
              <a:rPr lang="da-DK" smtClean="0"/>
              <a:t>09-03-2025</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2023089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lodret titel 2"/>
          <p:cNvSpPr>
            <a:spLocks noGrp="1"/>
          </p:cNvSpPr>
          <p:nvPr>
            <p:ph type="body" orient="vert" idx="1"/>
          </p:nvPr>
        </p:nvSpPr>
        <p:spPr/>
        <p:txBody>
          <a:bodyPr vert="eaVert"/>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2AE43082-B980-4F94-AD8B-A7A0A0752FBA}" type="datetimeFigureOut">
              <a:rPr lang="da-DK" smtClean="0"/>
              <a:t>09-03-2025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2896012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p:cNvSpPr>
            <a:spLocks noGrp="1"/>
          </p:cNvSpPr>
          <p:nvPr>
            <p:ph type="title" orient="vert"/>
          </p:nvPr>
        </p:nvSpPr>
        <p:spPr>
          <a:xfrm>
            <a:off x="8724900" y="365125"/>
            <a:ext cx="2628900" cy="5811838"/>
          </a:xfrm>
        </p:spPr>
        <p:txBody>
          <a:bodyPr vert="eaVert"/>
          <a:lstStyle/>
          <a:p>
            <a:r>
              <a:rPr lang="da-DK"/>
              <a:t>Klik for at redigere i master</a:t>
            </a:r>
          </a:p>
        </p:txBody>
      </p:sp>
      <p:sp>
        <p:nvSpPr>
          <p:cNvPr id="3" name="Pladsholder til lodret titel 2"/>
          <p:cNvSpPr>
            <a:spLocks noGrp="1"/>
          </p:cNvSpPr>
          <p:nvPr>
            <p:ph type="body" orient="vert" idx="1"/>
          </p:nvPr>
        </p:nvSpPr>
        <p:spPr>
          <a:xfrm>
            <a:off x="838200" y="365125"/>
            <a:ext cx="7734300" cy="5811838"/>
          </a:xfrm>
        </p:spPr>
        <p:txBody>
          <a:bodyPr vert="eaVert"/>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2AE43082-B980-4F94-AD8B-A7A0A0752FBA}" type="datetimeFigureOut">
              <a:rPr lang="da-DK" smtClean="0"/>
              <a:t>09-03-2025</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913C2D17-B302-4CDE-9B71-57B9D5E1D234}" type="slidenum">
              <a:rPr lang="da-DK" smtClean="0"/>
              <a:t>‹nr.›</a:t>
            </a:fld>
            <a:endParaRPr lang="da-DK"/>
          </a:p>
        </p:txBody>
      </p:sp>
    </p:spTree>
    <p:extLst>
      <p:ext uri="{BB962C8B-B14F-4D97-AF65-F5344CB8AC3E}">
        <p14:creationId xmlns:p14="http://schemas.microsoft.com/office/powerpoint/2010/main" val="2778391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i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E43082-B980-4F94-AD8B-A7A0A0752FBA}" type="datetimeFigureOut">
              <a:rPr lang="da-DK" smtClean="0"/>
              <a:t>09-03-2025</a:t>
            </a:fld>
            <a:endParaRPr lang="da-DK"/>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C2D17-B302-4CDE-9B71-57B9D5E1D234}" type="slidenum">
              <a:rPr lang="da-DK" smtClean="0"/>
              <a:t>‹nr.›</a:t>
            </a:fld>
            <a:endParaRPr lang="da-DK"/>
          </a:p>
        </p:txBody>
      </p:sp>
    </p:spTree>
    <p:extLst>
      <p:ext uri="{BB962C8B-B14F-4D97-AF65-F5344CB8AC3E}">
        <p14:creationId xmlns:p14="http://schemas.microsoft.com/office/powerpoint/2010/main" val="2688706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DRPgsYDQzDE"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08kGgrqaZXA" TargetMode="Externa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009991" y="3602038"/>
            <a:ext cx="5299589" cy="2387600"/>
          </a:xfrm>
        </p:spPr>
        <p:txBody>
          <a:bodyPr>
            <a:normAutofit/>
          </a:bodyPr>
          <a:lstStyle/>
          <a:p>
            <a:r>
              <a:rPr lang="da-DK" dirty="0" err="1"/>
              <a:t>Intermolekylære</a:t>
            </a:r>
            <a:r>
              <a:rPr lang="da-DK" dirty="0"/>
              <a:t> bindinger</a:t>
            </a:r>
          </a:p>
        </p:txBody>
      </p:sp>
      <p:sp>
        <p:nvSpPr>
          <p:cNvPr id="3" name="Undertitel 2"/>
          <p:cNvSpPr>
            <a:spLocks noGrp="1"/>
          </p:cNvSpPr>
          <p:nvPr>
            <p:ph type="subTitle" idx="1"/>
          </p:nvPr>
        </p:nvSpPr>
        <p:spPr>
          <a:xfrm>
            <a:off x="1524000" y="3602038"/>
            <a:ext cx="4628606" cy="1655762"/>
          </a:xfrm>
        </p:spPr>
        <p:txBody>
          <a:bodyPr/>
          <a:lstStyle/>
          <a:p>
            <a:endParaRPr lang="da-DK" dirty="0"/>
          </a:p>
        </p:txBody>
      </p:sp>
      <p:pic>
        <p:nvPicPr>
          <p:cNvPr id="1028" name="Picture 4" descr="https://s3-us-west-2.amazonaws.com/courses-images-archive-read-only/wp-content/uploads/sites/887/2015/05/23213515/CNX_Chem_10_01_IntravInt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7143" y="1314450"/>
            <a:ext cx="7358743"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095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12EBDA-6743-424B-A4F6-87A422B42AE4}"/>
              </a:ext>
            </a:extLst>
          </p:cNvPr>
          <p:cNvSpPr>
            <a:spLocks noGrp="1"/>
          </p:cNvSpPr>
          <p:nvPr>
            <p:ph type="title"/>
          </p:nvPr>
        </p:nvSpPr>
        <p:spPr/>
        <p:txBody>
          <a:bodyPr/>
          <a:lstStyle/>
          <a:p>
            <a:r>
              <a:rPr lang="da-DK" dirty="0"/>
              <a:t>Når vand koger</a:t>
            </a:r>
            <a:br>
              <a:rPr lang="da-DK" dirty="0"/>
            </a:br>
            <a:endParaRPr lang="da-DK" dirty="0"/>
          </a:p>
        </p:txBody>
      </p:sp>
      <p:sp>
        <p:nvSpPr>
          <p:cNvPr id="4" name="Tekstfelt 3">
            <a:extLst>
              <a:ext uri="{FF2B5EF4-FFF2-40B4-BE49-F238E27FC236}">
                <a16:creationId xmlns:a16="http://schemas.microsoft.com/office/drawing/2014/main" id="{40EB43A0-3818-4164-B5FC-6F2D806927CA}"/>
              </a:ext>
            </a:extLst>
          </p:cNvPr>
          <p:cNvSpPr txBox="1"/>
          <p:nvPr/>
        </p:nvSpPr>
        <p:spPr>
          <a:xfrm>
            <a:off x="1133574" y="5210368"/>
            <a:ext cx="6094428" cy="646331"/>
          </a:xfrm>
          <a:prstGeom prst="rect">
            <a:avLst/>
          </a:prstGeom>
          <a:noFill/>
        </p:spPr>
        <p:txBody>
          <a:bodyPr wrap="square">
            <a:spAutoFit/>
          </a:bodyPr>
          <a:lstStyle/>
          <a:p>
            <a:pPr algn="l"/>
            <a:r>
              <a:rPr lang="en-US" b="1" i="0" dirty="0">
                <a:solidFill>
                  <a:srgbClr val="0F0F0F"/>
                </a:solidFill>
                <a:effectLst/>
                <a:latin typeface="Roboto" panose="02000000000000000000" pitchFamily="2" charset="0"/>
                <a:hlinkClick r:id="rId2"/>
              </a:rPr>
              <a:t>https://www.youtube.com/watch?v=DRPgsYDQzDE</a:t>
            </a:r>
            <a:r>
              <a:rPr lang="en-US" b="1" i="0" dirty="0">
                <a:solidFill>
                  <a:srgbClr val="0F0F0F"/>
                </a:solidFill>
                <a:effectLst/>
                <a:latin typeface="Roboto" panose="02000000000000000000" pitchFamily="2" charset="0"/>
              </a:rPr>
              <a:t> in Chemistry: Boiling water at room temperature</a:t>
            </a:r>
          </a:p>
        </p:txBody>
      </p:sp>
      <p:pic>
        <p:nvPicPr>
          <p:cNvPr id="6" name="Billede 5">
            <a:extLst>
              <a:ext uri="{FF2B5EF4-FFF2-40B4-BE49-F238E27FC236}">
                <a16:creationId xmlns:a16="http://schemas.microsoft.com/office/drawing/2014/main" id="{3AAF7F5F-7EA7-4B07-A9E9-3DAA192F4B2C}"/>
              </a:ext>
            </a:extLst>
          </p:cNvPr>
          <p:cNvPicPr>
            <a:picLocks noChangeAspect="1"/>
          </p:cNvPicPr>
          <p:nvPr/>
        </p:nvPicPr>
        <p:blipFill>
          <a:blip r:embed="rId3"/>
          <a:stretch>
            <a:fillRect/>
          </a:stretch>
        </p:blipFill>
        <p:spPr>
          <a:xfrm>
            <a:off x="999241" y="1485785"/>
            <a:ext cx="5390153" cy="3201565"/>
          </a:xfrm>
          <a:prstGeom prst="rect">
            <a:avLst/>
          </a:prstGeom>
        </p:spPr>
      </p:pic>
    </p:spTree>
    <p:extLst>
      <p:ext uri="{BB962C8B-B14F-4D97-AF65-F5344CB8AC3E}">
        <p14:creationId xmlns:p14="http://schemas.microsoft.com/office/powerpoint/2010/main" val="873331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901521" y="468156"/>
            <a:ext cx="11830318" cy="5713703"/>
          </a:xfrm>
        </p:spPr>
        <p:txBody>
          <a:bodyPr>
            <a:normAutofit/>
          </a:bodyPr>
          <a:lstStyle/>
          <a:p>
            <a:r>
              <a:rPr lang="da-DK" sz="3200" b="1" dirty="0"/>
              <a:t>En </a:t>
            </a:r>
            <a:r>
              <a:rPr lang="da-DK" sz="3200" b="1" dirty="0" err="1"/>
              <a:t>intermolekylær</a:t>
            </a:r>
            <a:r>
              <a:rPr lang="da-DK" sz="3200" b="1" dirty="0"/>
              <a:t> bindings styrke afspejles i et stofs kogepunkt: </a:t>
            </a:r>
            <a:br>
              <a:rPr lang="da-DK" sz="3200" dirty="0"/>
            </a:br>
            <a:r>
              <a:rPr lang="da-DK" sz="3200" b="1" dirty="0"/>
              <a:t> </a:t>
            </a:r>
            <a:br>
              <a:rPr lang="da-DK" sz="3200" dirty="0"/>
            </a:br>
            <a:r>
              <a:rPr lang="da-DK" sz="3200" dirty="0"/>
              <a:t>·  </a:t>
            </a:r>
            <a:r>
              <a:rPr lang="da-DK" sz="3200" b="1" dirty="0"/>
              <a:t>Stærk binding =&gt; Højt kogepunkt </a:t>
            </a:r>
            <a:br>
              <a:rPr lang="da-DK" sz="3200" dirty="0"/>
            </a:br>
            <a:r>
              <a:rPr lang="da-DK" sz="3200" b="1" dirty="0"/>
              <a:t>  </a:t>
            </a:r>
            <a:br>
              <a:rPr lang="da-DK" sz="3200" dirty="0"/>
            </a:br>
            <a:r>
              <a:rPr lang="da-DK" sz="3200" dirty="0"/>
              <a:t>·  </a:t>
            </a:r>
            <a:r>
              <a:rPr lang="da-DK" sz="3200" b="1" dirty="0"/>
              <a:t>Svag binding =&gt; Lavt kogepunkt </a:t>
            </a:r>
            <a:br>
              <a:rPr lang="da-DK" dirty="0"/>
            </a:br>
            <a:endParaRPr lang="da-DK" dirty="0"/>
          </a:p>
        </p:txBody>
      </p:sp>
      <p:pic>
        <p:nvPicPr>
          <p:cNvPr id="5" name="Picture 4" descr="1-1.jpg (637×2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849" y="4421970"/>
            <a:ext cx="4373635" cy="1599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illedresultat for intermolekylære kræfter">
            <a:extLst>
              <a:ext uri="{FF2B5EF4-FFF2-40B4-BE49-F238E27FC236}">
                <a16:creationId xmlns:a16="http://schemas.microsoft.com/office/drawing/2014/main" id="{22CDF6C3-B37A-4B18-A6DB-68CCE2695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7460" y="4653267"/>
            <a:ext cx="2076450" cy="1819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0687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199" y="819854"/>
            <a:ext cx="11039115" cy="5422780"/>
          </a:xfrm>
        </p:spPr>
        <p:txBody>
          <a:bodyPr>
            <a:normAutofit fontScale="90000"/>
          </a:bodyPr>
          <a:lstStyle/>
          <a:p>
            <a:r>
              <a:rPr lang="da-DK" b="1" dirty="0"/>
              <a:t>3 typer af intermolekylære kræfter:</a:t>
            </a:r>
            <a:br>
              <a:rPr lang="da-DK" dirty="0"/>
            </a:br>
            <a:br>
              <a:rPr lang="da-DK" dirty="0"/>
            </a:br>
            <a:r>
              <a:rPr lang="da-DK" sz="3600" dirty="0"/>
              <a:t>- </a:t>
            </a:r>
            <a:r>
              <a:rPr lang="da-DK" sz="3600" b="1" dirty="0"/>
              <a:t>Dipol-dipolbindinge</a:t>
            </a:r>
            <a:r>
              <a:rPr lang="da-DK" sz="3600" dirty="0"/>
              <a:t>r</a:t>
            </a:r>
            <a:br>
              <a:rPr lang="da-DK" sz="3600" dirty="0"/>
            </a:br>
            <a:r>
              <a:rPr lang="da-DK" sz="3600" dirty="0"/>
              <a:t>forekommer mellem polære molekyler</a:t>
            </a:r>
            <a:br>
              <a:rPr lang="da-DK" sz="3600" dirty="0"/>
            </a:br>
            <a:br>
              <a:rPr lang="da-DK" sz="3600" dirty="0"/>
            </a:br>
            <a:r>
              <a:rPr lang="da-DK" sz="3600" dirty="0"/>
              <a:t>- </a:t>
            </a:r>
            <a:r>
              <a:rPr lang="da-DK" sz="3600" b="1" dirty="0"/>
              <a:t>Hydrogenbindinger</a:t>
            </a:r>
            <a:r>
              <a:rPr lang="da-DK" sz="3600" dirty="0"/>
              <a:t> (en særlig stærk form for dipol-dipolkræfter)</a:t>
            </a:r>
            <a:br>
              <a:rPr lang="da-DK" sz="3600" dirty="0"/>
            </a:br>
            <a:r>
              <a:rPr lang="da-DK" sz="3600" dirty="0"/>
              <a:t>forekommer mellem særlig polære molekyler</a:t>
            </a:r>
            <a:br>
              <a:rPr lang="da-DK" sz="3600" dirty="0"/>
            </a:br>
            <a:br>
              <a:rPr lang="da-DK" sz="3600" dirty="0"/>
            </a:br>
            <a:r>
              <a:rPr lang="da-DK" sz="3600" b="1" dirty="0"/>
              <a:t>- </a:t>
            </a:r>
            <a:r>
              <a:rPr lang="da-DK" sz="3600" b="1" dirty="0" err="1"/>
              <a:t>Dispersionkræfter</a:t>
            </a:r>
            <a:r>
              <a:rPr lang="da-DK" sz="3600" b="1" dirty="0"/>
              <a:t> </a:t>
            </a:r>
            <a:r>
              <a:rPr lang="da-DK" sz="3600" dirty="0"/>
              <a:t>(Londonkræfter, van der </a:t>
            </a:r>
            <a:r>
              <a:rPr lang="da-DK" sz="3600" dirty="0" err="1"/>
              <a:t>Waals</a:t>
            </a:r>
            <a:r>
              <a:rPr lang="da-DK" sz="3600" dirty="0"/>
              <a:t>-kræfter)</a:t>
            </a:r>
            <a:br>
              <a:rPr lang="da-DK" sz="3600" dirty="0"/>
            </a:br>
            <a:r>
              <a:rPr lang="da-DK" sz="3600" dirty="0"/>
              <a:t>forekommer mellem alle molekyler</a:t>
            </a:r>
          </a:p>
        </p:txBody>
      </p:sp>
    </p:spTree>
    <p:extLst>
      <p:ext uri="{BB962C8B-B14F-4D97-AF65-F5344CB8AC3E}">
        <p14:creationId xmlns:p14="http://schemas.microsoft.com/office/powerpoint/2010/main" val="411786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5"/>
            <a:ext cx="8495817" cy="5636430"/>
          </a:xfrm>
        </p:spPr>
        <p:txBody>
          <a:bodyPr>
            <a:normAutofit fontScale="90000"/>
          </a:bodyPr>
          <a:lstStyle/>
          <a:p>
            <a:r>
              <a:rPr lang="da-DK" b="1" dirty="0"/>
              <a:t>Dipol-dipolbindinger</a:t>
            </a:r>
            <a:br>
              <a:rPr lang="da-DK" dirty="0"/>
            </a:br>
            <a:r>
              <a:rPr lang="da-DK" sz="3200" dirty="0"/>
              <a:t>Virker mellem polære molekyler</a:t>
            </a:r>
            <a:br>
              <a:rPr lang="da-DK" sz="3200" dirty="0"/>
            </a:br>
            <a:br>
              <a:rPr lang="da-DK" dirty="0"/>
            </a:br>
            <a:r>
              <a:rPr lang="da-DK" sz="3200" dirty="0"/>
              <a:t>Permanent ladningsforskydning</a:t>
            </a:r>
            <a:br>
              <a:rPr lang="da-DK" sz="3200" dirty="0"/>
            </a:br>
            <a:br>
              <a:rPr lang="da-DK" sz="3200" dirty="0"/>
            </a:br>
            <a:r>
              <a:rPr lang="da-DK" sz="3200" dirty="0"/>
              <a:t>Modsatte ladninger tiltrækker </a:t>
            </a:r>
            <a:br>
              <a:rPr lang="da-DK" sz="3200" dirty="0"/>
            </a:br>
            <a:r>
              <a:rPr lang="da-DK" sz="3200" dirty="0"/>
              <a:t>hinanden og derfor ordnes molekylerne - mest i </a:t>
            </a:r>
            <a:br>
              <a:rPr lang="da-DK" sz="3200" dirty="0"/>
            </a:br>
            <a:r>
              <a:rPr lang="da-DK" sz="3200" dirty="0"/>
              <a:t>fast fase, mindre i flydende fase.</a:t>
            </a:r>
            <a:br>
              <a:rPr lang="da-DK" dirty="0"/>
            </a:br>
            <a:br>
              <a:rPr lang="da-DK" dirty="0"/>
            </a:br>
            <a:br>
              <a:rPr lang="da-DK" dirty="0"/>
            </a:br>
            <a:endParaRPr lang="da-DK" dirty="0"/>
          </a:p>
        </p:txBody>
      </p:sp>
      <p:pic>
        <p:nvPicPr>
          <p:cNvPr id="4" name="Billede 3"/>
          <p:cNvPicPr/>
          <p:nvPr/>
        </p:nvPicPr>
        <p:blipFill rotWithShape="1">
          <a:blip r:embed="rId2">
            <a:extLst>
              <a:ext uri="{28A0092B-C50C-407E-A947-70E740481C1C}">
                <a14:useLocalDpi xmlns:a14="http://schemas.microsoft.com/office/drawing/2010/main" val="0"/>
              </a:ext>
            </a:extLst>
          </a:blip>
          <a:srcRect l="53071" t="43429" r="17358" b="45193"/>
          <a:stretch/>
        </p:blipFill>
        <p:spPr bwMode="auto">
          <a:xfrm>
            <a:off x="4938832" y="4843849"/>
            <a:ext cx="6928834" cy="1732471"/>
          </a:xfrm>
          <a:prstGeom prst="rect">
            <a:avLst/>
          </a:prstGeom>
          <a:ln>
            <a:noFill/>
          </a:ln>
          <a:extLst>
            <a:ext uri="{53640926-AAD7-44D8-BBD7-CCE9431645EC}">
              <a14:shadowObscured xmlns:a14="http://schemas.microsoft.com/office/drawing/2010/main"/>
            </a:ext>
          </a:extLst>
        </p:spPr>
      </p:pic>
      <p:pic>
        <p:nvPicPr>
          <p:cNvPr id="2054" name="Picture 6" descr="http://zube.brinkster.net/SCH3U21/MatterBonding/Bonding/Reading/HCldipoledipol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8987" y="254224"/>
            <a:ext cx="3219389" cy="2929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65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99012" y="352063"/>
            <a:ext cx="5967549" cy="5304155"/>
          </a:xfrm>
        </p:spPr>
        <p:txBody>
          <a:bodyPr>
            <a:normAutofit fontScale="90000"/>
          </a:bodyPr>
          <a:lstStyle/>
          <a:p>
            <a:r>
              <a:rPr lang="da-DK" b="1" dirty="0"/>
              <a:t> </a:t>
            </a:r>
            <a:br>
              <a:rPr lang="da-DK" dirty="0"/>
            </a:br>
            <a:r>
              <a:rPr lang="da-DK" b="1" dirty="0"/>
              <a:t>Hydrogenbindinger</a:t>
            </a:r>
            <a:br>
              <a:rPr lang="da-DK" dirty="0"/>
            </a:br>
            <a:r>
              <a:rPr lang="da-DK" dirty="0"/>
              <a:t> </a:t>
            </a:r>
            <a:br>
              <a:rPr lang="da-DK" dirty="0"/>
            </a:br>
            <a:r>
              <a:rPr lang="da-DK" sz="3600" dirty="0"/>
              <a:t>H</a:t>
            </a:r>
            <a:r>
              <a:rPr lang="da-DK" sz="3600" baseline="-25000" dirty="0"/>
              <a:t>2</a:t>
            </a:r>
            <a:r>
              <a:rPr lang="da-DK" sz="3600" dirty="0"/>
              <a:t>O, HF og NH</a:t>
            </a:r>
            <a:r>
              <a:rPr lang="da-DK" sz="3600" baseline="-25000" dirty="0"/>
              <a:t>3</a:t>
            </a:r>
            <a:r>
              <a:rPr lang="da-DK" sz="3600" dirty="0"/>
              <a:t> har høje Kp sammenlignet med resten af deres "familier”.</a:t>
            </a:r>
            <a:br>
              <a:rPr lang="da-DK" sz="3600" dirty="0"/>
            </a:br>
            <a:br>
              <a:rPr lang="da-DK" sz="3600" dirty="0"/>
            </a:br>
            <a:r>
              <a:rPr lang="da-DK" sz="3600" dirty="0"/>
              <a:t>Det skyldes at de danner en særlig stærk form for dipol-dipolbindinger som kaldes hydrogenbinding</a:t>
            </a:r>
            <a:br>
              <a:rPr lang="da-DK" sz="3600" b="1" dirty="0"/>
            </a:br>
            <a:br>
              <a:rPr lang="da-DK" sz="3600" b="1" dirty="0"/>
            </a:br>
            <a:endParaRPr lang="da-DK" sz="3600" dirty="0"/>
          </a:p>
        </p:txBody>
      </p:sp>
      <p:pic>
        <p:nvPicPr>
          <p:cNvPr id="3" name="Billede 2"/>
          <p:cNvPicPr/>
          <p:nvPr/>
        </p:nvPicPr>
        <p:blipFill>
          <a:blip r:embed="rId2">
            <a:extLst>
              <a:ext uri="{28A0092B-C50C-407E-A947-70E740481C1C}">
                <a14:useLocalDpi xmlns:a14="http://schemas.microsoft.com/office/drawing/2010/main" val="0"/>
              </a:ext>
            </a:extLst>
          </a:blip>
          <a:srcRect/>
          <a:stretch>
            <a:fillRect/>
          </a:stretch>
        </p:blipFill>
        <p:spPr bwMode="auto">
          <a:xfrm>
            <a:off x="6667408" y="2638697"/>
            <a:ext cx="5363483" cy="3853542"/>
          </a:xfrm>
          <a:prstGeom prst="rect">
            <a:avLst/>
          </a:prstGeom>
          <a:noFill/>
          <a:ln>
            <a:noFill/>
          </a:ln>
        </p:spPr>
      </p:pic>
    </p:spTree>
    <p:extLst>
      <p:ext uri="{BB962C8B-B14F-4D97-AF65-F5344CB8AC3E}">
        <p14:creationId xmlns:p14="http://schemas.microsoft.com/office/powerpoint/2010/main" val="1647189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5"/>
            <a:ext cx="10515600" cy="5868250"/>
          </a:xfrm>
        </p:spPr>
        <p:txBody>
          <a:bodyPr>
            <a:noAutofit/>
          </a:bodyPr>
          <a:lstStyle/>
          <a:p>
            <a:r>
              <a:rPr lang="da-DK" sz="3200" dirty="0"/>
              <a:t>En </a:t>
            </a:r>
            <a:r>
              <a:rPr lang="da-DK" sz="3200" b="1" dirty="0"/>
              <a:t>hydrogenbinding</a:t>
            </a:r>
            <a:r>
              <a:rPr lang="da-DK" sz="3200" dirty="0"/>
              <a:t> er en tiltrækkende kraft imellem molekyler</a:t>
            </a:r>
            <a:br>
              <a:rPr lang="da-DK" sz="3200" dirty="0"/>
            </a:br>
            <a:br>
              <a:rPr lang="da-DK" sz="3200" dirty="0"/>
            </a:br>
            <a:r>
              <a:rPr lang="da-DK" sz="3200" dirty="0"/>
              <a:t>Hydrogenbinding dannes imellem et svagt elektropositivt hydrogenatom H og et af de elektronegative atomer som ilt O, kvælstof N eller fluor F– altså en dipol-dipol binding</a:t>
            </a:r>
            <a:br>
              <a:rPr lang="da-DK" sz="3200" dirty="0"/>
            </a:br>
            <a:br>
              <a:rPr lang="da-DK" sz="3200" dirty="0"/>
            </a:br>
            <a:r>
              <a:rPr lang="da-DK" sz="3200" dirty="0"/>
              <a:t>H ----O</a:t>
            </a:r>
            <a:br>
              <a:rPr lang="da-DK" sz="3200" dirty="0"/>
            </a:br>
            <a:r>
              <a:rPr lang="da-DK" sz="3200" dirty="0"/>
              <a:t>H-----N</a:t>
            </a:r>
            <a:br>
              <a:rPr lang="da-DK" sz="3200" dirty="0"/>
            </a:br>
            <a:r>
              <a:rPr lang="da-DK" sz="3200" dirty="0"/>
              <a:t>H-----F </a:t>
            </a:r>
            <a:br>
              <a:rPr lang="da-DK" sz="3200" dirty="0"/>
            </a:br>
            <a:br>
              <a:rPr lang="da-DK" sz="3200" dirty="0"/>
            </a:br>
            <a:r>
              <a:rPr lang="da-DK" sz="3200" dirty="0"/>
              <a:t>Hydrogenbindinger er stærkere end andre intermolekylære bindinger</a:t>
            </a:r>
          </a:p>
        </p:txBody>
      </p:sp>
    </p:spTree>
    <p:extLst>
      <p:ext uri="{BB962C8B-B14F-4D97-AF65-F5344CB8AC3E}">
        <p14:creationId xmlns:p14="http://schemas.microsoft.com/office/powerpoint/2010/main" val="2964325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199" y="365125"/>
            <a:ext cx="3498669" cy="2417264"/>
          </a:xfrm>
        </p:spPr>
        <p:txBody>
          <a:bodyPr>
            <a:noAutofit/>
          </a:bodyPr>
          <a:lstStyle/>
          <a:p>
            <a:r>
              <a:rPr lang="da-DK" sz="3200" dirty="0"/>
              <a:t>Hydrogenbindinger</a:t>
            </a:r>
            <a:br>
              <a:rPr lang="da-DK" sz="3200" dirty="0"/>
            </a:br>
            <a:r>
              <a:rPr lang="da-DK" sz="3200" dirty="0"/>
              <a:t>H---O</a:t>
            </a:r>
            <a:br>
              <a:rPr lang="da-DK" sz="3200" dirty="0"/>
            </a:br>
            <a:r>
              <a:rPr lang="da-DK" sz="3200" dirty="0"/>
              <a:t>H---N</a:t>
            </a:r>
            <a:br>
              <a:rPr lang="da-DK" sz="3200" dirty="0"/>
            </a:br>
            <a:r>
              <a:rPr lang="da-DK" sz="3200" dirty="0"/>
              <a:t>H---F</a:t>
            </a:r>
          </a:p>
        </p:txBody>
      </p:sp>
      <p:pic>
        <p:nvPicPr>
          <p:cNvPr id="5122" name="Picture 2" descr="http://1xn44aytb25tcj2q1g7c731a.wpengine.netdna-cdn.com/wp-content/uploads/2013/08/Hydrogen-Bonds-Colored-JC_300x27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783" y="3202093"/>
            <a:ext cx="2857500" cy="26574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qph.ec.quoracdn.net/main-qimg-5e8b140491723544d35221f7d018e7c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0535" y="718458"/>
            <a:ext cx="5448300" cy="191452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d2gne97vdumgn3.cloudfront.net/api/file/8k1ON8JTBGqOpzf74X0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3258" y="3540034"/>
            <a:ext cx="6170867" cy="2676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220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62246"/>
          </a:xfrm>
        </p:spPr>
        <p:txBody>
          <a:bodyPr>
            <a:normAutofit/>
          </a:bodyPr>
          <a:lstStyle/>
          <a:p>
            <a:r>
              <a:rPr lang="da-DK" b="1" dirty="0"/>
              <a:t>Opgave 4</a:t>
            </a:r>
            <a:br>
              <a:rPr lang="da-DK" dirty="0"/>
            </a:br>
            <a:r>
              <a:rPr lang="da-DK" dirty="0"/>
              <a:t>Hvilket af følgende molekyler danner </a:t>
            </a:r>
            <a:r>
              <a:rPr lang="da-DK" u="sng" dirty="0"/>
              <a:t>ikke</a:t>
            </a:r>
            <a:r>
              <a:rPr lang="da-DK" dirty="0"/>
              <a:t> hydrogenbindinger?</a:t>
            </a:r>
            <a:br>
              <a:rPr lang="da-DK" dirty="0"/>
            </a:br>
            <a:r>
              <a:rPr lang="da-DK" dirty="0"/>
              <a:t> </a:t>
            </a:r>
            <a:br>
              <a:rPr lang="da-DK" dirty="0"/>
            </a:br>
            <a:r>
              <a:rPr lang="da-DK" dirty="0"/>
              <a:t>H</a:t>
            </a:r>
            <a:r>
              <a:rPr lang="da-DK" baseline="-25000" dirty="0"/>
              <a:t>2</a:t>
            </a:r>
            <a:r>
              <a:rPr lang="da-DK" dirty="0"/>
              <a:t>Se</a:t>
            </a:r>
            <a:br>
              <a:rPr lang="da-DK" dirty="0"/>
            </a:br>
            <a:r>
              <a:rPr lang="da-DK" dirty="0"/>
              <a:t>CH</a:t>
            </a:r>
            <a:r>
              <a:rPr lang="da-DK" baseline="-25000" dirty="0"/>
              <a:t>3</a:t>
            </a:r>
            <a:r>
              <a:rPr lang="da-DK" dirty="0"/>
              <a:t>OH</a:t>
            </a:r>
            <a:br>
              <a:rPr lang="da-DK" dirty="0"/>
            </a:br>
            <a:r>
              <a:rPr lang="da-DK" dirty="0"/>
              <a:t>NO</a:t>
            </a:r>
            <a:r>
              <a:rPr lang="da-DK" baseline="-25000" dirty="0"/>
              <a:t>2</a:t>
            </a:r>
            <a:br>
              <a:rPr lang="da-DK" dirty="0"/>
            </a:br>
            <a:r>
              <a:rPr lang="da-DK" dirty="0" err="1"/>
              <a:t>HCl</a:t>
            </a:r>
            <a:br>
              <a:rPr lang="da-DK" dirty="0"/>
            </a:br>
            <a:r>
              <a:rPr lang="da-DK" dirty="0"/>
              <a:t>HF</a:t>
            </a:r>
            <a:br>
              <a:rPr lang="da-DK" dirty="0"/>
            </a:br>
            <a:endParaRPr lang="da-DK" dirty="0"/>
          </a:p>
        </p:txBody>
      </p:sp>
    </p:spTree>
    <p:extLst>
      <p:ext uri="{BB962C8B-B14F-4D97-AF65-F5344CB8AC3E}">
        <p14:creationId xmlns:p14="http://schemas.microsoft.com/office/powerpoint/2010/main" val="37929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4"/>
            <a:ext cx="7529796" cy="6060389"/>
          </a:xfrm>
        </p:spPr>
        <p:txBody>
          <a:bodyPr>
            <a:normAutofit fontScale="90000"/>
          </a:bodyPr>
          <a:lstStyle/>
          <a:p>
            <a:r>
              <a:rPr lang="da-DK" b="1" dirty="0"/>
              <a:t>Dispersionskræfter (Londonkræfter, van der </a:t>
            </a:r>
            <a:r>
              <a:rPr lang="da-DK" b="1" dirty="0" err="1"/>
              <a:t>Waals</a:t>
            </a:r>
            <a:r>
              <a:rPr lang="da-DK" b="1" dirty="0"/>
              <a:t>-kræfter)</a:t>
            </a:r>
            <a:br>
              <a:rPr lang="da-DK" b="1" dirty="0"/>
            </a:br>
            <a:br>
              <a:rPr lang="da-DK" dirty="0"/>
            </a:br>
            <a:r>
              <a:rPr lang="da-DK" sz="2700" dirty="0"/>
              <a:t>Forekommer mellem alle molekyler</a:t>
            </a:r>
            <a:br>
              <a:rPr lang="da-DK" sz="2700" dirty="0"/>
            </a:br>
            <a:br>
              <a:rPr lang="da-DK" sz="2700" dirty="0"/>
            </a:br>
            <a:r>
              <a:rPr lang="da-DK" sz="2700" dirty="0"/>
              <a:t>Forklarer hvordan upolære molekyler kan forekomme som væske og fast stof</a:t>
            </a:r>
            <a:br>
              <a:rPr lang="da-DK" sz="2700" dirty="0"/>
            </a:br>
            <a:br>
              <a:rPr lang="da-DK" sz="2700" dirty="0"/>
            </a:br>
            <a:r>
              <a:rPr lang="da-DK" sz="2700" dirty="0"/>
              <a:t>Kan kort beskrives som en kortvarig polaritet i molekylet, der påvirker nabomolekylet</a:t>
            </a:r>
            <a:br>
              <a:rPr lang="da-DK" sz="2700" dirty="0"/>
            </a:br>
            <a:br>
              <a:rPr lang="da-DK" sz="2700" dirty="0"/>
            </a:br>
            <a:r>
              <a:rPr lang="da-DK" sz="2700" dirty="0"/>
              <a:t>Antallet af elektroner i molekylet har betydning – jo flere elektroner der er, jo længere fra den positivt ladede atomkerne er de yderste elektroner og derfor er det lettere at polarisere et molekyle med mange elektroner.</a:t>
            </a:r>
            <a:endParaRPr lang="da-DK" sz="2700" b="1" dirty="0"/>
          </a:p>
        </p:txBody>
      </p:sp>
      <p:pic>
        <p:nvPicPr>
          <p:cNvPr id="6148" name="Picture 4" descr="1-1.jpg (637×2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5986" y="1333895"/>
            <a:ext cx="4373635" cy="1599776"/>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https://www.chem.purdue.edu/gchelp/liquids/symunsy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0930" y="4397477"/>
            <a:ext cx="3203909" cy="1904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293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5"/>
            <a:ext cx="10515600" cy="3653083"/>
          </a:xfrm>
        </p:spPr>
        <p:txBody>
          <a:bodyPr>
            <a:normAutofit/>
          </a:bodyPr>
          <a:lstStyle/>
          <a:p>
            <a:r>
              <a:rPr lang="da-DK" dirty="0"/>
              <a:t>Jo større molekylet er- jo flere elektroner kan påvirke nabomolekyler - jo stærkere intermolekylær binding og dermed højere kogepunkt</a:t>
            </a:r>
            <a:br>
              <a:rPr lang="da-DK" dirty="0"/>
            </a:br>
            <a:endParaRPr lang="da-DK" dirty="0"/>
          </a:p>
        </p:txBody>
      </p:sp>
      <p:pic>
        <p:nvPicPr>
          <p:cNvPr id="3" name="Billede 2"/>
          <p:cNvPicPr/>
          <p:nvPr/>
        </p:nvPicPr>
        <p:blipFill rotWithShape="1">
          <a:blip r:embed="rId2"/>
          <a:srcRect l="12451" t="23528" r="21716" b="43533"/>
          <a:stretch/>
        </p:blipFill>
        <p:spPr bwMode="auto">
          <a:xfrm>
            <a:off x="1593668" y="3409405"/>
            <a:ext cx="8987245" cy="312202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04515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6"/>
            <a:ext cx="11112047" cy="3370852"/>
          </a:xfrm>
        </p:spPr>
        <p:txBody>
          <a:bodyPr>
            <a:normAutofit fontScale="90000"/>
          </a:bodyPr>
          <a:lstStyle/>
          <a:p>
            <a:r>
              <a:rPr lang="da-DK" dirty="0"/>
              <a:t>Jo flere C-atomer der er i en organisk forbindelse - jo flere elektroner er der til at påvirke nabomolekyler og jo stærkere er de intermolekylære kræfter</a:t>
            </a:r>
            <a:br>
              <a:rPr lang="da-DK" dirty="0"/>
            </a:br>
            <a:br>
              <a:rPr lang="da-DK" dirty="0"/>
            </a:br>
            <a:endParaRPr lang="da-DK" dirty="0"/>
          </a:p>
        </p:txBody>
      </p:sp>
      <p:pic>
        <p:nvPicPr>
          <p:cNvPr id="3076" name="Picture 4" descr="https://sites.google.com/a/thekaustschool.org/dp-chemistry/_/rsrc/1468865187675/ib-chemistry/10.1%20Alkane%20boiling%20poi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0639" y="2951888"/>
            <a:ext cx="6347328" cy="3409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031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461171" cy="2574018"/>
          </a:xfrm>
        </p:spPr>
        <p:txBody>
          <a:bodyPr>
            <a:normAutofit/>
          </a:bodyPr>
          <a:lstStyle/>
          <a:p>
            <a:r>
              <a:rPr lang="da-DK" dirty="0"/>
              <a:t>Styrken af de intermolekylære bindinger afhænger af molekylets forgrening.</a:t>
            </a:r>
            <a:br>
              <a:rPr lang="da-DK" dirty="0"/>
            </a:br>
            <a:r>
              <a:rPr lang="da-DK" dirty="0"/>
              <a:t>Jo mere forgrenet molekylet er- jo lavere kogepunkt</a:t>
            </a:r>
          </a:p>
        </p:txBody>
      </p:sp>
      <p:pic>
        <p:nvPicPr>
          <p:cNvPr id="3" name="Billede 2"/>
          <p:cNvPicPr/>
          <p:nvPr/>
        </p:nvPicPr>
        <p:blipFill rotWithShape="1">
          <a:blip r:embed="rId2"/>
          <a:srcRect l="11631" t="20713" r="8615" b="28760"/>
          <a:stretch/>
        </p:blipFill>
        <p:spPr>
          <a:xfrm>
            <a:off x="488112" y="3396345"/>
            <a:ext cx="6683397" cy="2834638"/>
          </a:xfrm>
          <a:prstGeom prst="rect">
            <a:avLst/>
          </a:prstGeom>
        </p:spPr>
      </p:pic>
      <p:pic>
        <p:nvPicPr>
          <p:cNvPr id="4098" name="Picture 2" descr="https://opentextbc.ca/chemistry/wp-content/uploads/sites/150/2016/05/CNX_Chem_10_01_PentIs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6011" y="2860768"/>
            <a:ext cx="4703808" cy="3258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282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 2">
            <a:extLst>
              <a:ext uri="{FF2B5EF4-FFF2-40B4-BE49-F238E27FC236}">
                <a16:creationId xmlns:a16="http://schemas.microsoft.com/office/drawing/2014/main" id="{56260B9F-7896-45A3-88F9-421D9730C38E}"/>
              </a:ext>
            </a:extLst>
          </p:cNvPr>
          <p:cNvGraphicFramePr>
            <a:graphicFrameLocks noGrp="1"/>
          </p:cNvGraphicFramePr>
          <p:nvPr>
            <p:extLst>
              <p:ext uri="{D42A27DB-BD31-4B8C-83A1-F6EECF244321}">
                <p14:modId xmlns:p14="http://schemas.microsoft.com/office/powerpoint/2010/main" val="261503885"/>
              </p:ext>
            </p:extLst>
          </p:nvPr>
        </p:nvGraphicFramePr>
        <p:xfrm>
          <a:off x="3146621" y="5168523"/>
          <a:ext cx="7475247" cy="498602"/>
        </p:xfrm>
        <a:graphic>
          <a:graphicData uri="http://schemas.openxmlformats.org/drawingml/2006/table">
            <a:tbl>
              <a:tblPr firstRow="1" firstCol="1" bandRow="1">
                <a:tableStyleId>{5C22544A-7EE6-4342-B048-85BDC9FD1C3A}</a:tableStyleId>
              </a:tblPr>
              <a:tblGrid>
                <a:gridCol w="3522063">
                  <a:extLst>
                    <a:ext uri="{9D8B030D-6E8A-4147-A177-3AD203B41FA5}">
                      <a16:colId xmlns:a16="http://schemas.microsoft.com/office/drawing/2014/main" val="3534460105"/>
                    </a:ext>
                  </a:extLst>
                </a:gridCol>
                <a:gridCol w="961728">
                  <a:extLst>
                    <a:ext uri="{9D8B030D-6E8A-4147-A177-3AD203B41FA5}">
                      <a16:colId xmlns:a16="http://schemas.microsoft.com/office/drawing/2014/main" val="738633340"/>
                    </a:ext>
                  </a:extLst>
                </a:gridCol>
                <a:gridCol w="961728">
                  <a:extLst>
                    <a:ext uri="{9D8B030D-6E8A-4147-A177-3AD203B41FA5}">
                      <a16:colId xmlns:a16="http://schemas.microsoft.com/office/drawing/2014/main" val="489899698"/>
                    </a:ext>
                  </a:extLst>
                </a:gridCol>
                <a:gridCol w="960974">
                  <a:extLst>
                    <a:ext uri="{9D8B030D-6E8A-4147-A177-3AD203B41FA5}">
                      <a16:colId xmlns:a16="http://schemas.microsoft.com/office/drawing/2014/main" val="3490001748"/>
                    </a:ext>
                  </a:extLst>
                </a:gridCol>
                <a:gridCol w="1068754">
                  <a:extLst>
                    <a:ext uri="{9D8B030D-6E8A-4147-A177-3AD203B41FA5}">
                      <a16:colId xmlns:a16="http://schemas.microsoft.com/office/drawing/2014/main" val="2279826309"/>
                    </a:ext>
                  </a:extLst>
                </a:gridCol>
              </a:tblGrid>
              <a:tr h="247907">
                <a:tc>
                  <a:txBody>
                    <a:bodyPr/>
                    <a:lstStyle/>
                    <a:p>
                      <a:pPr>
                        <a:lnSpc>
                          <a:spcPct val="107000"/>
                        </a:lnSpc>
                        <a:spcAft>
                          <a:spcPts val="0"/>
                        </a:spcAft>
                      </a:pPr>
                      <a:r>
                        <a:rPr lang="da-DK" sz="1600">
                          <a:effectLst/>
                        </a:rPr>
                        <a:t>Stof</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AgF</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AgCl</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AgBr</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AgI</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7985346"/>
                  </a:ext>
                </a:extLst>
              </a:tr>
              <a:tr h="247907">
                <a:tc>
                  <a:txBody>
                    <a:bodyPr/>
                    <a:lstStyle/>
                    <a:p>
                      <a:pPr>
                        <a:lnSpc>
                          <a:spcPct val="107000"/>
                        </a:lnSpc>
                        <a:spcAft>
                          <a:spcPts val="0"/>
                        </a:spcAft>
                      </a:pPr>
                      <a:r>
                        <a:rPr lang="da-DK" sz="1600">
                          <a:effectLst/>
                        </a:rPr>
                        <a:t>Opløselighed (g/100 mL H</a:t>
                      </a:r>
                      <a:r>
                        <a:rPr lang="da-DK" sz="1600" baseline="-25000">
                          <a:effectLst/>
                        </a:rPr>
                        <a:t>2</a:t>
                      </a:r>
                      <a:r>
                        <a:rPr lang="da-DK" sz="1600">
                          <a:effectLst/>
                        </a:rPr>
                        <a:t>O, 20</a:t>
                      </a:r>
                      <a:r>
                        <a:rPr lang="da-DK" sz="1600" baseline="30000">
                          <a:effectLst/>
                        </a:rPr>
                        <a:t>o</a:t>
                      </a:r>
                      <a:r>
                        <a:rPr lang="da-DK" sz="1600">
                          <a:effectLst/>
                        </a:rPr>
                        <a:t>C):</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172</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1,9.10</a:t>
                      </a:r>
                      <a:r>
                        <a:rPr lang="da-DK" sz="1600" baseline="30000">
                          <a:effectLst/>
                        </a:rPr>
                        <a:t>-4</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a:effectLst/>
                        </a:rPr>
                        <a:t>8,4.10</a:t>
                      </a:r>
                      <a:r>
                        <a:rPr lang="da-DK" sz="1600" baseline="30000">
                          <a:effectLst/>
                        </a:rPr>
                        <a:t>-6</a:t>
                      </a:r>
                      <a:endParaRPr lang="da-DK"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600" dirty="0">
                          <a:effectLst/>
                        </a:rPr>
                        <a:t>Uopløselig</a:t>
                      </a:r>
                      <a:endParaRPr lang="da-DK"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305137"/>
                  </a:ext>
                </a:extLst>
              </a:tr>
            </a:tbl>
          </a:graphicData>
        </a:graphic>
      </p:graphicFrame>
      <p:sp>
        <p:nvSpPr>
          <p:cNvPr id="4" name="Rectangle 1">
            <a:extLst>
              <a:ext uri="{FF2B5EF4-FFF2-40B4-BE49-F238E27FC236}">
                <a16:creationId xmlns:a16="http://schemas.microsoft.com/office/drawing/2014/main" id="{B8E75D89-9F12-4B9C-9806-9B1AFC825414}"/>
              </a:ext>
            </a:extLst>
          </p:cNvPr>
          <p:cNvSpPr>
            <a:spLocks noGrp="1" noChangeArrowheads="1"/>
          </p:cNvSpPr>
          <p:nvPr>
            <p:ph type="title"/>
          </p:nvPr>
        </p:nvSpPr>
        <p:spPr bwMode="auto">
          <a:xfrm>
            <a:off x="389656" y="357602"/>
            <a:ext cx="1055884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Opgave 10 </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Beregn elektronegativitetsforskellen (</a:t>
            </a: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1"/>
              </a:rPr>
              <a:t>Δ</a:t>
            </a: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EN) mellem atomerne i følgende stoffer:</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AgF</a:t>
            </a: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AgCl</a:t>
            </a: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AgBr</a:t>
            </a: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AgI</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Angiv rækkefølgen for stigende ionkarakter af bindingen mellem Ag og halogenatomet.</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b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Hvordan vil du karakterisere bindingerne (ionbinding, polær kovalent, </a:t>
            </a:r>
            <a:r>
              <a:rPr kumimoji="0" lang="da-DK" altLang="da-DK"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upolær</a:t>
            </a: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kovalent) </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Opløseligheden af de fire stoffer er:</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Sammenlign opløselighederne af de fire stoffer med svaret på det første spørgsmål  a+ b og</a:t>
            </a:r>
            <a:endParaRPr kumimoji="0" lang="da-DK" altLang="da-DK"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angiv om der er en sammenhæng – begrund svaret.</a:t>
            </a:r>
            <a:endParaRPr kumimoji="0" lang="da-DK" altLang="da-DK"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472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lede 6">
            <a:extLst>
              <a:ext uri="{FF2B5EF4-FFF2-40B4-BE49-F238E27FC236}">
                <a16:creationId xmlns:a16="http://schemas.microsoft.com/office/drawing/2014/main" id="{1C7BB257-1D50-433C-BFFF-364BB3FC3851}"/>
              </a:ext>
            </a:extLst>
          </p:cNvPr>
          <p:cNvPicPr>
            <a:picLocks noChangeAspect="1"/>
          </p:cNvPicPr>
          <p:nvPr/>
        </p:nvPicPr>
        <p:blipFill rotWithShape="1">
          <a:blip r:embed="rId2"/>
          <a:srcRect l="23558" t="21550" r="24022" b="24541"/>
          <a:stretch/>
        </p:blipFill>
        <p:spPr>
          <a:xfrm>
            <a:off x="1037968" y="313609"/>
            <a:ext cx="9210132" cy="6314555"/>
          </a:xfrm>
          <a:prstGeom prst="rect">
            <a:avLst/>
          </a:prstGeom>
        </p:spPr>
      </p:pic>
    </p:spTree>
    <p:extLst>
      <p:ext uri="{BB962C8B-B14F-4D97-AF65-F5344CB8AC3E}">
        <p14:creationId xmlns:p14="http://schemas.microsoft.com/office/powerpoint/2010/main" val="2731314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 2">
            <a:extLst>
              <a:ext uri="{FF2B5EF4-FFF2-40B4-BE49-F238E27FC236}">
                <a16:creationId xmlns:a16="http://schemas.microsoft.com/office/drawing/2014/main" id="{FE723512-8A5C-4E8A-8A0F-A0F975F6C2B0}"/>
              </a:ext>
            </a:extLst>
          </p:cNvPr>
          <p:cNvGraphicFramePr>
            <a:graphicFrameLocks noGrp="1"/>
          </p:cNvGraphicFramePr>
          <p:nvPr>
            <p:extLst>
              <p:ext uri="{D42A27DB-BD31-4B8C-83A1-F6EECF244321}">
                <p14:modId xmlns:p14="http://schemas.microsoft.com/office/powerpoint/2010/main" val="3475548794"/>
              </p:ext>
            </p:extLst>
          </p:nvPr>
        </p:nvGraphicFramePr>
        <p:xfrm>
          <a:off x="5525941" y="2418439"/>
          <a:ext cx="5588894" cy="1349503"/>
        </p:xfrm>
        <a:graphic>
          <a:graphicData uri="http://schemas.openxmlformats.org/drawingml/2006/table">
            <a:tbl>
              <a:tblPr firstRow="1" firstCol="1" bandRow="1">
                <a:tableStyleId>{5C22544A-7EE6-4342-B048-85BDC9FD1C3A}</a:tableStyleId>
              </a:tblPr>
              <a:tblGrid>
                <a:gridCol w="884955">
                  <a:extLst>
                    <a:ext uri="{9D8B030D-6E8A-4147-A177-3AD203B41FA5}">
                      <a16:colId xmlns:a16="http://schemas.microsoft.com/office/drawing/2014/main" val="1508804162"/>
                    </a:ext>
                  </a:extLst>
                </a:gridCol>
                <a:gridCol w="671393">
                  <a:extLst>
                    <a:ext uri="{9D8B030D-6E8A-4147-A177-3AD203B41FA5}">
                      <a16:colId xmlns:a16="http://schemas.microsoft.com/office/drawing/2014/main" val="908689992"/>
                    </a:ext>
                  </a:extLst>
                </a:gridCol>
                <a:gridCol w="672091">
                  <a:extLst>
                    <a:ext uri="{9D8B030D-6E8A-4147-A177-3AD203B41FA5}">
                      <a16:colId xmlns:a16="http://schemas.microsoft.com/office/drawing/2014/main" val="3740803663"/>
                    </a:ext>
                  </a:extLst>
                </a:gridCol>
                <a:gridCol w="672091">
                  <a:extLst>
                    <a:ext uri="{9D8B030D-6E8A-4147-A177-3AD203B41FA5}">
                      <a16:colId xmlns:a16="http://schemas.microsoft.com/office/drawing/2014/main" val="2003610524"/>
                    </a:ext>
                  </a:extLst>
                </a:gridCol>
                <a:gridCol w="672091">
                  <a:extLst>
                    <a:ext uri="{9D8B030D-6E8A-4147-A177-3AD203B41FA5}">
                      <a16:colId xmlns:a16="http://schemas.microsoft.com/office/drawing/2014/main" val="454938075"/>
                    </a:ext>
                  </a:extLst>
                </a:gridCol>
                <a:gridCol w="672091">
                  <a:extLst>
                    <a:ext uri="{9D8B030D-6E8A-4147-A177-3AD203B41FA5}">
                      <a16:colId xmlns:a16="http://schemas.microsoft.com/office/drawing/2014/main" val="212316901"/>
                    </a:ext>
                  </a:extLst>
                </a:gridCol>
                <a:gridCol w="672091">
                  <a:extLst>
                    <a:ext uri="{9D8B030D-6E8A-4147-A177-3AD203B41FA5}">
                      <a16:colId xmlns:a16="http://schemas.microsoft.com/office/drawing/2014/main" val="3280015979"/>
                    </a:ext>
                  </a:extLst>
                </a:gridCol>
                <a:gridCol w="672091">
                  <a:extLst>
                    <a:ext uri="{9D8B030D-6E8A-4147-A177-3AD203B41FA5}">
                      <a16:colId xmlns:a16="http://schemas.microsoft.com/office/drawing/2014/main" val="4124259370"/>
                    </a:ext>
                  </a:extLst>
                </a:gridCol>
              </a:tblGrid>
              <a:tr h="0">
                <a:tc>
                  <a:txBody>
                    <a:bodyPr/>
                    <a:lstStyle/>
                    <a:p>
                      <a:pPr>
                        <a:lnSpc>
                          <a:spcPct val="107000"/>
                        </a:lnSpc>
                        <a:spcAft>
                          <a:spcPts val="0"/>
                        </a:spcAft>
                      </a:pPr>
                      <a:r>
                        <a:rPr lang="da-DK" sz="1400">
                          <a:effectLst/>
                        </a:rPr>
                        <a:t> </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NaCl</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MgCl</a:t>
                      </a:r>
                      <a:r>
                        <a:rPr lang="en-US" sz="1400" baseline="-25000">
                          <a:effectLst/>
                        </a:rPr>
                        <a:t>2</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AlCl</a:t>
                      </a:r>
                      <a:r>
                        <a:rPr lang="en-US" sz="1400" baseline="-25000">
                          <a:effectLst/>
                        </a:rPr>
                        <a:t>3</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SiCl</a:t>
                      </a:r>
                      <a:r>
                        <a:rPr lang="en-US" sz="1400" baseline="-25000">
                          <a:effectLst/>
                        </a:rPr>
                        <a:t>4</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PCl</a:t>
                      </a:r>
                      <a:r>
                        <a:rPr lang="en-US" sz="1400" baseline="-25000">
                          <a:effectLst/>
                        </a:rPr>
                        <a:t>3</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SCl</a:t>
                      </a:r>
                      <a:r>
                        <a:rPr lang="en-US" sz="1400" baseline="-25000">
                          <a:effectLst/>
                        </a:rPr>
                        <a:t>2</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rPr>
                        <a:t>Cl</a:t>
                      </a:r>
                      <a:r>
                        <a:rPr lang="en-US" sz="1400" baseline="-25000">
                          <a:effectLst/>
                        </a:rPr>
                        <a:t>2</a:t>
                      </a:r>
                      <a:endParaRPr lang="da-DK" sz="1400">
                        <a:effectLst/>
                      </a:endParaRPr>
                    </a:p>
                    <a:p>
                      <a:pPr>
                        <a:lnSpc>
                          <a:spcPct val="107000"/>
                        </a:lnSpc>
                        <a:spcAft>
                          <a:spcPts val="0"/>
                        </a:spcAft>
                      </a:pPr>
                      <a:r>
                        <a:rPr lang="en-US" sz="1400">
                          <a:effectLst/>
                        </a:rPr>
                        <a:t> </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011880"/>
                  </a:ext>
                </a:extLst>
              </a:tr>
              <a:tr h="0">
                <a:tc>
                  <a:txBody>
                    <a:bodyPr/>
                    <a:lstStyle/>
                    <a:p>
                      <a:pPr>
                        <a:lnSpc>
                          <a:spcPct val="107000"/>
                        </a:lnSpc>
                        <a:spcAft>
                          <a:spcPts val="0"/>
                        </a:spcAft>
                      </a:pPr>
                      <a:r>
                        <a:rPr lang="en-US" sz="1400">
                          <a:effectLst/>
                        </a:rPr>
                        <a:t>Kogepunkt</a:t>
                      </a:r>
                      <a:endParaRPr lang="da-DK" sz="1400">
                        <a:effectLst/>
                      </a:endParaRPr>
                    </a:p>
                    <a:p>
                      <a:pPr>
                        <a:lnSpc>
                          <a:spcPct val="107000"/>
                        </a:lnSpc>
                        <a:spcAft>
                          <a:spcPts val="0"/>
                        </a:spcAft>
                      </a:pPr>
                      <a:r>
                        <a:rPr lang="da-DK" sz="1400">
                          <a:effectLst/>
                        </a:rPr>
                        <a:t>(</a:t>
                      </a:r>
                      <a:r>
                        <a:rPr lang="da-DK" sz="1400" baseline="30000">
                          <a:effectLst/>
                        </a:rPr>
                        <a:t>o</a:t>
                      </a:r>
                      <a:r>
                        <a:rPr lang="da-DK" sz="1400">
                          <a:effectLst/>
                        </a:rPr>
                        <a:t>C)</a:t>
                      </a:r>
                    </a:p>
                    <a:p>
                      <a:pPr>
                        <a:lnSpc>
                          <a:spcPct val="107000"/>
                        </a:lnSpc>
                        <a:spcAft>
                          <a:spcPts val="0"/>
                        </a:spcAft>
                      </a:pPr>
                      <a:r>
                        <a:rPr lang="en-US" sz="1400">
                          <a:effectLst/>
                        </a:rPr>
                        <a:t> </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a:effectLst/>
                        </a:rPr>
                        <a:t>1413</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a:effectLst/>
                        </a:rPr>
                        <a:t>1437</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a:effectLst/>
                        </a:rPr>
                        <a:t>180</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a:effectLst/>
                        </a:rPr>
                        <a:t>58</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a:effectLst/>
                        </a:rPr>
                        <a:t>76</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a:effectLst/>
                        </a:rPr>
                        <a:t>59</a:t>
                      </a:r>
                      <a:endParaRPr lang="da-DK"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1400" dirty="0">
                          <a:effectLst/>
                        </a:rPr>
                        <a:t>-34</a:t>
                      </a:r>
                      <a:endParaRPr lang="da-DK"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0271742"/>
                  </a:ext>
                </a:extLst>
              </a:tr>
            </a:tbl>
          </a:graphicData>
        </a:graphic>
      </p:graphicFrame>
      <p:sp>
        <p:nvSpPr>
          <p:cNvPr id="4" name="Rectangle 1">
            <a:extLst>
              <a:ext uri="{FF2B5EF4-FFF2-40B4-BE49-F238E27FC236}">
                <a16:creationId xmlns:a16="http://schemas.microsoft.com/office/drawing/2014/main" id="{66DF3806-DBEF-445D-9E43-2CAFBCBE2B21}"/>
              </a:ext>
            </a:extLst>
          </p:cNvPr>
          <p:cNvSpPr>
            <a:spLocks noGrp="1" noChangeArrowheads="1"/>
          </p:cNvSpPr>
          <p:nvPr>
            <p:ph type="title"/>
          </p:nvPr>
        </p:nvSpPr>
        <p:spPr bwMode="auto">
          <a:xfrm>
            <a:off x="648134" y="-1217227"/>
            <a:ext cx="10838707"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a-DK" altLang="da-DK" sz="3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br>
              <a:rPr kumimoji="0" lang="da-DK" altLang="da-DK" sz="3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br>
              <a:rPr kumimoji="0" lang="da-DK" altLang="da-DK" sz="3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br>
              <a:rPr kumimoji="0" lang="da-DK" altLang="da-DK" sz="3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r>
              <a:rPr kumimoji="0" lang="da-DK" altLang="da-DK" sz="3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Opgave 11</a:t>
            </a:r>
            <a:endParaRPr kumimoji="0" lang="da-DK" altLang="da-DK"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3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Chlorforbindelserne</a:t>
            </a: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af </a:t>
            </a:r>
            <a:b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grundstofferne i tredje </a:t>
            </a:r>
            <a:b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periode har følgende </a:t>
            </a:r>
            <a:b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målte kogepunkter (</a:t>
            </a:r>
            <a:r>
              <a:rPr kumimoji="0" lang="da-DK" altLang="da-DK" sz="3600" b="0" i="0" u="none" strike="noStrike" cap="none" normalizeH="0" baseline="30000" dirty="0" err="1">
                <a:ln>
                  <a:noFill/>
                </a:ln>
                <a:solidFill>
                  <a:schemeClr val="tx1"/>
                </a:solidFill>
                <a:effectLst/>
                <a:latin typeface="Calibri" panose="020F0502020204030204" pitchFamily="34" charset="0"/>
                <a:ea typeface="Calibri" panose="020F0502020204030204" pitchFamily="34" charset="0"/>
                <a:cs typeface="ArialMT"/>
              </a:rPr>
              <a:t>o</a:t>
            </a:r>
            <a:r>
              <a:rPr kumimoji="0" lang="da-DK" altLang="da-DK" sz="3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C</a:t>
            </a: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a:t>
            </a:r>
            <a:b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br>
            <a:endParaRPr kumimoji="0" lang="da-DK" altLang="da-DK"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Kommenter ændringen i kogepunktet hen gennem gruppen og begrund denne observation (find ud af om der er tale om ionforbindelse, polært eller </a:t>
            </a:r>
            <a:r>
              <a:rPr kumimoji="0" lang="da-DK" altLang="da-DK" sz="36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ArialMT"/>
              </a:rPr>
              <a:t>upolært</a:t>
            </a:r>
            <a:r>
              <a:rPr kumimoji="0" lang="da-DK" altLang="da-DK" sz="3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MT"/>
              </a:rPr>
              <a:t> molekyle).</a:t>
            </a:r>
            <a:endParaRPr kumimoji="0" lang="da-DK" altLang="da-DK"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6105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312761"/>
          </a:xfrm>
        </p:spPr>
        <p:txBody>
          <a:bodyPr/>
          <a:lstStyle/>
          <a:p>
            <a:endParaRPr lang="da-DK" dirty="0"/>
          </a:p>
        </p:txBody>
      </p:sp>
      <p:sp>
        <p:nvSpPr>
          <p:cNvPr id="3" name="Rectangle 2"/>
          <p:cNvSpPr/>
          <p:nvPr/>
        </p:nvSpPr>
        <p:spPr>
          <a:xfrm>
            <a:off x="195943" y="1071154"/>
            <a:ext cx="5930537" cy="4936993"/>
          </a:xfrm>
          <a:prstGeom prst="rect">
            <a:avLst/>
          </a:prstGeom>
        </p:spPr>
        <p:txBody>
          <a:bodyPr wrap="square">
            <a:spAutoFit/>
          </a:bodyPr>
          <a:lstStyle/>
          <a:p>
            <a:pPr>
              <a:lnSpc>
                <a:spcPct val="107000"/>
              </a:lnSpc>
              <a:spcAft>
                <a:spcPts val="800"/>
              </a:spcAft>
            </a:pPr>
            <a:r>
              <a:rPr lang="da-DK" sz="4800" dirty="0">
                <a:latin typeface="Calibri" panose="020F0502020204030204" pitchFamily="34" charset="0"/>
                <a:ea typeface="Calibri" panose="020F0502020204030204" pitchFamily="34" charset="0"/>
                <a:cs typeface="Times New Roman" panose="02020603050405020304" pitchFamily="18" charset="0"/>
              </a:rPr>
              <a:t>Se evt. videoen om intermolekylære kræfter</a:t>
            </a:r>
          </a:p>
          <a:p>
            <a:pPr>
              <a:lnSpc>
                <a:spcPct val="107000"/>
              </a:lnSpc>
              <a:spcAft>
                <a:spcPts val="800"/>
              </a:spcAft>
            </a:pPr>
            <a:r>
              <a:rPr lang="da-DK" sz="4800" u="sng" dirty="0">
                <a:solidFill>
                  <a:srgbClr val="0000FF"/>
                </a:solidFill>
                <a:latin typeface="Calibri" panose="020F0502020204030204" pitchFamily="34" charset="0"/>
                <a:ea typeface="Calibri" panose="020F0502020204030204" pitchFamily="34" charset="0"/>
                <a:cs typeface="Times New Roman" panose="02020603050405020304" pitchFamily="18" charset="0"/>
                <a:hlinkClick r:id="rId2"/>
              </a:rPr>
              <a:t>https://www.youtube.com/watch?v=08kGgrqaZXA</a:t>
            </a:r>
            <a:endParaRPr lang="da-DK" sz="48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rotWithShape="1">
          <a:blip r:embed="rId3"/>
          <a:srcRect l="3449" t="4018" r="58802" b="12232"/>
          <a:stretch/>
        </p:blipFill>
        <p:spPr>
          <a:xfrm>
            <a:off x="6635932" y="365125"/>
            <a:ext cx="4911634" cy="6126480"/>
          </a:xfrm>
          <a:prstGeom prst="rect">
            <a:avLst/>
          </a:prstGeom>
        </p:spPr>
      </p:pic>
    </p:spTree>
    <p:extLst>
      <p:ext uri="{BB962C8B-B14F-4D97-AF65-F5344CB8AC3E}">
        <p14:creationId xmlns:p14="http://schemas.microsoft.com/office/powerpoint/2010/main" val="1272332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1BA818-ADDD-41D0-8DDB-5E71EA64EA05}"/>
              </a:ext>
            </a:extLst>
          </p:cNvPr>
          <p:cNvSpPr>
            <a:spLocks noGrp="1"/>
          </p:cNvSpPr>
          <p:nvPr>
            <p:ph type="title"/>
          </p:nvPr>
        </p:nvSpPr>
        <p:spPr>
          <a:xfrm>
            <a:off x="838200" y="365125"/>
            <a:ext cx="5257800" cy="5190473"/>
          </a:xfrm>
        </p:spPr>
        <p:txBody>
          <a:bodyPr>
            <a:normAutofit/>
          </a:bodyPr>
          <a:lstStyle/>
          <a:p>
            <a:r>
              <a:rPr lang="da-DK" dirty="0"/>
              <a:t>Læs dokumentet om intermolekylære bindinger - i Portfolio</a:t>
            </a:r>
            <a:br>
              <a:rPr lang="da-DK" dirty="0"/>
            </a:br>
            <a:r>
              <a:rPr lang="da-DK" dirty="0"/>
              <a:t>og løs alle </a:t>
            </a:r>
            <a:br>
              <a:rPr lang="da-DK" dirty="0"/>
            </a:br>
            <a:r>
              <a:rPr lang="da-DK" dirty="0"/>
              <a:t>opgaver i </a:t>
            </a:r>
            <a:br>
              <a:rPr lang="da-DK" dirty="0"/>
            </a:br>
            <a:r>
              <a:rPr lang="da-DK" dirty="0"/>
              <a:t>dokumentet</a:t>
            </a:r>
            <a:br>
              <a:rPr lang="da-DK" dirty="0"/>
            </a:br>
            <a:r>
              <a:rPr lang="da-DK" dirty="0"/>
              <a:t>Opgaver IMK</a:t>
            </a:r>
          </a:p>
        </p:txBody>
      </p:sp>
      <p:pic>
        <p:nvPicPr>
          <p:cNvPr id="3" name="Billede 2">
            <a:extLst>
              <a:ext uri="{FF2B5EF4-FFF2-40B4-BE49-F238E27FC236}">
                <a16:creationId xmlns:a16="http://schemas.microsoft.com/office/drawing/2014/main" id="{E191E83F-EE09-4F41-923E-F29527862A63}"/>
              </a:ext>
            </a:extLst>
          </p:cNvPr>
          <p:cNvPicPr>
            <a:picLocks noChangeAspect="1"/>
          </p:cNvPicPr>
          <p:nvPr/>
        </p:nvPicPr>
        <p:blipFill rotWithShape="1">
          <a:blip r:embed="rId2"/>
          <a:srcRect l="6404" t="24216" r="7349" b="9190"/>
          <a:stretch/>
        </p:blipFill>
        <p:spPr>
          <a:xfrm>
            <a:off x="4759823" y="2767914"/>
            <a:ext cx="7320143" cy="3768140"/>
          </a:xfrm>
          <a:prstGeom prst="rect">
            <a:avLst/>
          </a:prstGeom>
        </p:spPr>
      </p:pic>
    </p:spTree>
    <p:extLst>
      <p:ext uri="{BB962C8B-B14F-4D97-AF65-F5344CB8AC3E}">
        <p14:creationId xmlns:p14="http://schemas.microsoft.com/office/powerpoint/2010/main" val="4291734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8640"/>
            <a:ext cx="3968931" cy="6118534"/>
          </a:xfrm>
        </p:spPr>
        <p:txBody>
          <a:bodyPr>
            <a:normAutofit/>
          </a:bodyPr>
          <a:lstStyle/>
          <a:p>
            <a:r>
              <a:rPr lang="da-DK" dirty="0"/>
              <a:t>Oversigt </a:t>
            </a:r>
            <a:br>
              <a:rPr lang="da-DK" dirty="0"/>
            </a:br>
            <a:br>
              <a:rPr lang="da-DK" dirty="0"/>
            </a:br>
            <a:r>
              <a:rPr lang="da-DK" sz="3200" dirty="0"/>
              <a:t>Ionforbindelser har høje koge- og smeltepunkter i forhold til kovalente forbindelser</a:t>
            </a:r>
          </a:p>
        </p:txBody>
      </p:sp>
      <p:graphicFrame>
        <p:nvGraphicFramePr>
          <p:cNvPr id="5" name="Tabel 1"/>
          <p:cNvGraphicFramePr>
            <a:graphicFrameLocks noGrp="1"/>
          </p:cNvGraphicFramePr>
          <p:nvPr>
            <p:extLst>
              <p:ext uri="{D42A27DB-BD31-4B8C-83A1-F6EECF244321}">
                <p14:modId xmlns:p14="http://schemas.microsoft.com/office/powerpoint/2010/main" val="3001807392"/>
              </p:ext>
            </p:extLst>
          </p:nvPr>
        </p:nvGraphicFramePr>
        <p:xfrm>
          <a:off x="4611188" y="365125"/>
          <a:ext cx="7106195" cy="6375527"/>
        </p:xfrm>
        <a:graphic>
          <a:graphicData uri="http://schemas.openxmlformats.org/drawingml/2006/table">
            <a:tbl>
              <a:tblPr firstRow="1" firstCol="1" bandRow="1">
                <a:tableStyleId>{5C22544A-7EE6-4342-B048-85BDC9FD1C3A}</a:tableStyleId>
              </a:tblPr>
              <a:tblGrid>
                <a:gridCol w="1452181">
                  <a:extLst>
                    <a:ext uri="{9D8B030D-6E8A-4147-A177-3AD203B41FA5}">
                      <a16:colId xmlns:a16="http://schemas.microsoft.com/office/drawing/2014/main" val="20000"/>
                    </a:ext>
                  </a:extLst>
                </a:gridCol>
                <a:gridCol w="2256374">
                  <a:extLst>
                    <a:ext uri="{9D8B030D-6E8A-4147-A177-3AD203B41FA5}">
                      <a16:colId xmlns:a16="http://schemas.microsoft.com/office/drawing/2014/main" val="20001"/>
                    </a:ext>
                  </a:extLst>
                </a:gridCol>
                <a:gridCol w="3397640">
                  <a:extLst>
                    <a:ext uri="{9D8B030D-6E8A-4147-A177-3AD203B41FA5}">
                      <a16:colId xmlns:a16="http://schemas.microsoft.com/office/drawing/2014/main" val="20002"/>
                    </a:ext>
                  </a:extLst>
                </a:gridCol>
              </a:tblGrid>
              <a:tr h="593634">
                <a:tc gridSpan="3">
                  <a:txBody>
                    <a:bodyPr/>
                    <a:lstStyle/>
                    <a:p>
                      <a:pPr algn="ctr">
                        <a:lnSpc>
                          <a:spcPct val="107000"/>
                        </a:lnSpc>
                        <a:spcAft>
                          <a:spcPts val="0"/>
                        </a:spcAft>
                      </a:pPr>
                      <a:r>
                        <a:rPr lang="da-DK" sz="2000" dirty="0">
                          <a:effectLst/>
                        </a:rPr>
                        <a:t>Bindingstyper</a:t>
                      </a:r>
                    </a:p>
                  </a:txBody>
                  <a:tcPr marL="68580" marR="68580" marT="0" marB="0"/>
                </a:tc>
                <a:tc hMerge="1">
                  <a:txBody>
                    <a:bodyPr/>
                    <a:lstStyle/>
                    <a:p>
                      <a:endParaRPr lang="da-DK"/>
                    </a:p>
                  </a:txBody>
                  <a:tcPr/>
                </a:tc>
                <a:tc hMerge="1">
                  <a:txBody>
                    <a:bodyPr/>
                    <a:lstStyle/>
                    <a:p>
                      <a:endParaRPr lang="da-DK"/>
                    </a:p>
                  </a:txBody>
                  <a:tcPr/>
                </a:tc>
                <a:extLst>
                  <a:ext uri="{0D108BD9-81ED-4DB2-BD59-A6C34878D82A}">
                    <a16:rowId xmlns:a16="http://schemas.microsoft.com/office/drawing/2014/main" val="10000"/>
                  </a:ext>
                </a:extLst>
              </a:tr>
              <a:tr h="593634">
                <a:tc>
                  <a:txBody>
                    <a:bodyPr/>
                    <a:lstStyle/>
                    <a:p>
                      <a:pPr>
                        <a:lnSpc>
                          <a:spcPct val="107000"/>
                        </a:lnSpc>
                        <a:spcAft>
                          <a:spcPts val="0"/>
                        </a:spcAft>
                      </a:pP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da-DK" sz="2800" dirty="0">
                          <a:solidFill>
                            <a:srgbClr val="FF0000"/>
                          </a:solidFill>
                          <a:effectLst/>
                        </a:rPr>
                        <a:t>NaCl</a:t>
                      </a:r>
                    </a:p>
                    <a:p>
                      <a:pPr algn="ctr">
                        <a:lnSpc>
                          <a:spcPct val="107000"/>
                        </a:lnSpc>
                        <a:spcAft>
                          <a:spcPts val="0"/>
                        </a:spcAft>
                      </a:pPr>
                      <a:r>
                        <a:rPr lang="da-DK" sz="2000" dirty="0">
                          <a:solidFill>
                            <a:schemeClr val="tx1"/>
                          </a:solidFill>
                          <a:effectLst/>
                        </a:rPr>
                        <a:t>Ionbinding</a:t>
                      </a:r>
                      <a:endParaRPr lang="da-DK"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da-DK" sz="2800" dirty="0">
                          <a:solidFill>
                            <a:srgbClr val="FF0000"/>
                          </a:solidFill>
                          <a:effectLst/>
                        </a:rPr>
                        <a:t>H</a:t>
                      </a:r>
                      <a:r>
                        <a:rPr lang="da-DK" sz="2800" baseline="-25000" dirty="0">
                          <a:solidFill>
                            <a:srgbClr val="FF0000"/>
                          </a:solidFill>
                          <a:effectLst/>
                        </a:rPr>
                        <a:t>2</a:t>
                      </a:r>
                      <a:r>
                        <a:rPr lang="da-DK" sz="2800" baseline="0" dirty="0">
                          <a:solidFill>
                            <a:srgbClr val="FF0000"/>
                          </a:solidFill>
                          <a:effectLst/>
                        </a:rPr>
                        <a:t>O</a:t>
                      </a:r>
                      <a:endParaRPr lang="da-DK" sz="2800" dirty="0">
                        <a:solidFill>
                          <a:srgbClr val="FF0000"/>
                        </a:solidFill>
                        <a:effectLst/>
                      </a:endParaRPr>
                    </a:p>
                    <a:p>
                      <a:pPr algn="ctr">
                        <a:lnSpc>
                          <a:spcPct val="107000"/>
                        </a:lnSpc>
                        <a:spcAft>
                          <a:spcPts val="0"/>
                        </a:spcAft>
                      </a:pPr>
                      <a:r>
                        <a:rPr lang="da-DK" sz="2000" dirty="0">
                          <a:solidFill>
                            <a:schemeClr val="tx1"/>
                          </a:solidFill>
                          <a:effectLst/>
                        </a:rPr>
                        <a:t>Kovalent binding</a:t>
                      </a:r>
                    </a:p>
                  </a:txBody>
                  <a:tcPr marL="68580" marR="68580" marT="0" marB="0"/>
                </a:tc>
                <a:extLst>
                  <a:ext uri="{0D108BD9-81ED-4DB2-BD59-A6C34878D82A}">
                    <a16:rowId xmlns:a16="http://schemas.microsoft.com/office/drawing/2014/main" val="10001"/>
                  </a:ext>
                </a:extLst>
              </a:tr>
              <a:tr h="593634">
                <a:tc>
                  <a:txBody>
                    <a:bodyPr/>
                    <a:lstStyle/>
                    <a:p>
                      <a:pPr>
                        <a:lnSpc>
                          <a:spcPct val="107000"/>
                        </a:lnSpc>
                        <a:spcAft>
                          <a:spcPts val="0"/>
                        </a:spcAft>
                      </a:pPr>
                      <a:r>
                        <a:rPr lang="da-DK" sz="2000" dirty="0">
                          <a:effectLst/>
                        </a:rPr>
                        <a:t>Bindings-dannelse</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dirty="0">
                          <a:effectLst/>
                        </a:rPr>
                        <a:t>Elektronoverførsel fra metal til ikke-metal – Na</a:t>
                      </a:r>
                      <a:r>
                        <a:rPr lang="da-DK" sz="2000" baseline="30000" dirty="0">
                          <a:effectLst/>
                        </a:rPr>
                        <a:t>+ </a:t>
                      </a:r>
                      <a:r>
                        <a:rPr lang="da-DK" sz="2000" baseline="0" dirty="0">
                          <a:effectLst/>
                        </a:rPr>
                        <a:t>og Cl</a:t>
                      </a:r>
                      <a:r>
                        <a:rPr lang="da-DK" sz="2000" baseline="30000" dirty="0">
                          <a:effectLst/>
                        </a:rPr>
                        <a:t>-</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dirty="0">
                          <a:effectLst/>
                        </a:rPr>
                        <a:t>Elektronpar deles mellem to ikke-metaller H og O</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93634">
                <a:tc>
                  <a:txBody>
                    <a:bodyPr/>
                    <a:lstStyle/>
                    <a:p>
                      <a:pPr>
                        <a:lnSpc>
                          <a:spcPct val="107000"/>
                        </a:lnSpc>
                        <a:spcAft>
                          <a:spcPts val="0"/>
                        </a:spcAft>
                      </a:pPr>
                      <a:r>
                        <a:rPr lang="da-DK" sz="2000" dirty="0">
                          <a:effectLst/>
                        </a:rPr>
                        <a:t>Struktur</a:t>
                      </a:r>
                    </a:p>
                  </a:txBody>
                  <a:tcPr marL="68580" marR="68580" marT="0" marB="0"/>
                </a:tc>
                <a:tc>
                  <a:txBody>
                    <a:bodyPr/>
                    <a:lstStyle/>
                    <a:p>
                      <a:pPr>
                        <a:lnSpc>
                          <a:spcPct val="107000"/>
                        </a:lnSpc>
                        <a:spcAft>
                          <a:spcPts val="0"/>
                        </a:spcAft>
                      </a:pPr>
                      <a:r>
                        <a:rPr lang="da-DK" sz="2000">
                          <a:effectLst/>
                        </a:rPr>
                        <a:t>Krystalgitter</a:t>
                      </a:r>
                      <a:endParaRPr lang="da-DK"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dirty="0">
                          <a:effectLst/>
                        </a:rPr>
                        <a:t>Molekyler</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93634">
                <a:tc>
                  <a:txBody>
                    <a:bodyPr/>
                    <a:lstStyle/>
                    <a:p>
                      <a:pPr>
                        <a:lnSpc>
                          <a:spcPct val="107000"/>
                        </a:lnSpc>
                        <a:spcAft>
                          <a:spcPts val="0"/>
                        </a:spcAft>
                      </a:pPr>
                      <a:r>
                        <a:rPr lang="da-DK" sz="2000" dirty="0">
                          <a:effectLst/>
                        </a:rPr>
                        <a:t>Tilstands-form</a:t>
                      </a:r>
                    </a:p>
                    <a:p>
                      <a:pPr>
                        <a:lnSpc>
                          <a:spcPct val="107000"/>
                        </a:lnSpc>
                        <a:spcAft>
                          <a:spcPts val="0"/>
                        </a:spcAft>
                      </a:pPr>
                      <a:r>
                        <a:rPr lang="da-DK" sz="2000" dirty="0">
                          <a:effectLst/>
                        </a:rPr>
                        <a:t>v. 20</a:t>
                      </a:r>
                      <a:r>
                        <a:rPr lang="da-DK" sz="2000" baseline="30000" dirty="0">
                          <a:effectLst/>
                        </a:rPr>
                        <a:t>o</a:t>
                      </a:r>
                      <a:r>
                        <a:rPr lang="da-DK" sz="2000" baseline="0" dirty="0">
                          <a:effectLst/>
                        </a:rPr>
                        <a:t>C</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a:effectLst/>
                        </a:rPr>
                        <a:t>Fast</a:t>
                      </a:r>
                      <a:endParaRPr lang="da-DK"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dirty="0">
                          <a:effectLst/>
                          <a:latin typeface="+mn-lt"/>
                          <a:ea typeface="+mn-ea"/>
                          <a:cs typeface="+mn-cs"/>
                        </a:rPr>
                        <a:t>Væske</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93634">
                <a:tc>
                  <a:txBody>
                    <a:bodyPr/>
                    <a:lstStyle/>
                    <a:p>
                      <a:pPr>
                        <a:lnSpc>
                          <a:spcPct val="107000"/>
                        </a:lnSpc>
                        <a:spcAft>
                          <a:spcPts val="0"/>
                        </a:spcAft>
                      </a:pPr>
                      <a:r>
                        <a:rPr lang="da-DK" sz="2000">
                          <a:effectLst/>
                        </a:rPr>
                        <a:t>Kogepunkt</a:t>
                      </a:r>
                      <a:endParaRPr lang="da-DK" sz="2000" dirty="0">
                        <a:effectLst/>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da-DK" sz="2000" baseline="0" dirty="0">
                          <a:effectLst/>
                        </a:rPr>
                        <a:t>Højt 1413 </a:t>
                      </a:r>
                      <a:r>
                        <a:rPr lang="da-DK" sz="2000" baseline="30000" dirty="0">
                          <a:effectLst/>
                        </a:rPr>
                        <a:t>o</a:t>
                      </a:r>
                      <a:r>
                        <a:rPr lang="da-DK" sz="2000" baseline="0" dirty="0">
                          <a:effectLst/>
                        </a:rPr>
                        <a:t>C</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da-DK" sz="20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da-DK" sz="2000" dirty="0">
                          <a:effectLst/>
                        </a:rPr>
                        <a:t>Relativt</a:t>
                      </a:r>
                      <a:r>
                        <a:rPr lang="da-DK" sz="2000" baseline="0" dirty="0">
                          <a:effectLst/>
                        </a:rPr>
                        <a:t> l</a:t>
                      </a:r>
                      <a:r>
                        <a:rPr lang="da-DK" sz="2000" dirty="0">
                          <a:effectLst/>
                        </a:rPr>
                        <a:t>avt 100</a:t>
                      </a:r>
                      <a:r>
                        <a:rPr lang="da-DK" sz="2000" baseline="30000" dirty="0">
                          <a:effectLst/>
                        </a:rPr>
                        <a:t>o</a:t>
                      </a:r>
                      <a:r>
                        <a:rPr lang="da-DK" sz="2000" baseline="0" dirty="0">
                          <a:effectLst/>
                        </a:rPr>
                        <a:t>C</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890452">
                <a:tc>
                  <a:txBody>
                    <a:bodyPr/>
                    <a:lstStyle/>
                    <a:p>
                      <a:pPr>
                        <a:lnSpc>
                          <a:spcPct val="107000"/>
                        </a:lnSpc>
                        <a:spcAft>
                          <a:spcPts val="0"/>
                        </a:spcAft>
                      </a:pPr>
                      <a:r>
                        <a:rPr lang="da-DK" sz="2000" dirty="0">
                          <a:effectLst/>
                        </a:rPr>
                        <a:t>Opløseligt i vand</a:t>
                      </a:r>
                    </a:p>
                  </a:txBody>
                  <a:tcPr marL="68580" marR="68580" marT="0" marB="0"/>
                </a:tc>
                <a:tc>
                  <a:txBody>
                    <a:bodyPr/>
                    <a:lstStyle/>
                    <a:p>
                      <a:pPr>
                        <a:lnSpc>
                          <a:spcPct val="107000"/>
                        </a:lnSpc>
                        <a:spcAft>
                          <a:spcPts val="0"/>
                        </a:spcAft>
                      </a:pPr>
                      <a:r>
                        <a:rPr lang="da-DK" sz="2000" dirty="0">
                          <a:effectLst/>
                        </a:rPr>
                        <a:t>Ja men ikke opløseligt i </a:t>
                      </a:r>
                      <a:r>
                        <a:rPr lang="da-DK" sz="2000" dirty="0" err="1">
                          <a:effectLst/>
                        </a:rPr>
                        <a:t>upolære</a:t>
                      </a:r>
                      <a:r>
                        <a:rPr lang="da-DK" sz="2000">
                          <a:effectLst/>
                        </a:rPr>
                        <a:t> opløsningsmidler</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dirty="0">
                          <a:effectLst/>
                          <a:latin typeface="Calibri" panose="020F0502020204030204" pitchFamily="34" charset="0"/>
                          <a:ea typeface="Calibri" panose="020F0502020204030204" pitchFamily="34" charset="0"/>
                          <a:cs typeface="Times New Roman" panose="02020603050405020304" pitchFamily="18" charset="0"/>
                        </a:rPr>
                        <a:t>Polære</a:t>
                      </a:r>
                      <a:r>
                        <a:rPr lang="da-DK" sz="2000" baseline="0" dirty="0">
                          <a:effectLst/>
                          <a:latin typeface="Calibri" panose="020F0502020204030204" pitchFamily="34" charset="0"/>
                          <a:ea typeface="Calibri" panose="020F0502020204030204" pitchFamily="34" charset="0"/>
                          <a:cs typeface="Times New Roman" panose="02020603050405020304" pitchFamily="18" charset="0"/>
                        </a:rPr>
                        <a:t> stoffer er opløseligt i vand, upolære stoffer er ikke</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890452">
                <a:tc>
                  <a:txBody>
                    <a:bodyPr/>
                    <a:lstStyle/>
                    <a:p>
                      <a:pPr>
                        <a:lnSpc>
                          <a:spcPct val="107000"/>
                        </a:lnSpc>
                        <a:spcAft>
                          <a:spcPts val="0"/>
                        </a:spcAft>
                      </a:pPr>
                      <a:r>
                        <a:rPr lang="da-DK" sz="2000" dirty="0">
                          <a:effectLst/>
                        </a:rPr>
                        <a:t>Elektrisk ledende</a:t>
                      </a:r>
                    </a:p>
                  </a:txBody>
                  <a:tcPr marL="68580" marR="68580" marT="0" marB="0"/>
                </a:tc>
                <a:tc>
                  <a:txBody>
                    <a:bodyPr/>
                    <a:lstStyle/>
                    <a:p>
                      <a:pPr>
                        <a:lnSpc>
                          <a:spcPct val="107000"/>
                        </a:lnSpc>
                        <a:spcAft>
                          <a:spcPts val="0"/>
                        </a:spcAft>
                      </a:pPr>
                      <a:r>
                        <a:rPr lang="da-DK" sz="2000">
                          <a:effectLst/>
                        </a:rPr>
                        <a:t>Som væske eller i opløst form</a:t>
                      </a:r>
                      <a:endParaRPr lang="da-DK"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da-DK" sz="2000" dirty="0">
                          <a:effectLst/>
                        </a:rPr>
                        <a:t>Nej</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6427743"/>
      </p:ext>
    </p:extLst>
  </p:cSld>
  <p:clrMapOvr>
    <a:masterClrMapping/>
  </p:clrMapOvr>
</p:sld>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725</Words>
  <Application>Microsoft Office PowerPoint</Application>
  <PresentationFormat>Widescreen</PresentationFormat>
  <Paragraphs>86</Paragraphs>
  <Slides>19</Slides>
  <Notes>0</Notes>
  <HiddenSlides>1</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Calibri Light</vt:lpstr>
      <vt:lpstr>Roboto</vt:lpstr>
      <vt:lpstr>Office-tema</vt:lpstr>
      <vt:lpstr>Intermolekylære bindinger</vt:lpstr>
      <vt:lpstr>Når vand koger </vt:lpstr>
      <vt:lpstr>En intermolekylær bindings styrke afspejles i et stofs kogepunkt:    ·  Stærk binding =&gt; Højt kogepunkt     ·  Svag binding =&gt; Lavt kogepunkt  </vt:lpstr>
      <vt:lpstr>3 typer af intermolekylære kræfter:  - Dipol-dipolbindinger forekommer mellem polære molekyler  - Hydrogenbindinger (en særlig stærk form for dipol-dipolkræfter) forekommer mellem særlig polære molekyler  - Dispersionkræfter (Londonkræfter, van der Waals-kræfter) forekommer mellem alle molekyler</vt:lpstr>
      <vt:lpstr>Dipol-dipolbindinger Virker mellem polære molekyler  Permanent ladningsforskydning  Modsatte ladninger tiltrækker  hinanden og derfor ordnes molekylerne - mest i  fast fase, mindre i flydende fase.   </vt:lpstr>
      <vt:lpstr>  Hydrogenbindinger   H2O, HF og NH3 har høje Kp sammenlignet med resten af deres "familier”.  Det skyldes at de danner en særlig stærk form for dipol-dipolbindinger som kaldes hydrogenbinding  </vt:lpstr>
      <vt:lpstr>En hydrogenbinding er en tiltrækkende kraft imellem molekyler  Hydrogenbinding dannes imellem et svagt elektropositivt hydrogenatom H og et af de elektronegative atomer som ilt O, kvælstof N eller fluor F– altså en dipol-dipol binding  H ----O H-----N H-----F   Hydrogenbindinger er stærkere end andre intermolekylære bindinger</vt:lpstr>
      <vt:lpstr>Hydrogenbindinger H---O H---N H---F</vt:lpstr>
      <vt:lpstr>Opgave 4 Hvilket af følgende molekyler danner ikke hydrogenbindinger?   H2Se CH3OH NO2 HCl HF </vt:lpstr>
      <vt:lpstr>Dispersionskræfter (Londonkræfter, van der Waals-kræfter)  Forekommer mellem alle molekyler  Forklarer hvordan upolære molekyler kan forekomme som væske og fast stof  Kan kort beskrives som en kortvarig polaritet i molekylet, der påvirker nabomolekylet  Antallet af elektroner i molekylet har betydning – jo flere elektroner der er, jo længere fra den positivt ladede atomkerne er de yderste elektroner og derfor er det lettere at polarisere et molekyle med mange elektroner.</vt:lpstr>
      <vt:lpstr>Jo større molekylet er- jo flere elektroner kan påvirke nabomolekyler - jo stærkere intermolekylær binding og dermed højere kogepunkt </vt:lpstr>
      <vt:lpstr>Jo flere C-atomer der er i en organisk forbindelse - jo flere elektroner er der til at påvirke nabomolekyler og jo stærkere er de intermolekylære kræfter  </vt:lpstr>
      <vt:lpstr>Styrken af de intermolekylære bindinger afhænger af molekylets forgrening. Jo mere forgrenet molekylet er- jo lavere kogepunkt</vt:lpstr>
      <vt:lpstr>Opgave 10  Beregn elektronegativitetsforskellen (ΔEN) mellem atomerne i følgende stoffer: AgF      AgCl  AgBr   AgI   Angiv rækkefølgen for stigende ionkarakter af bindingen mellem Ag og halogenatomet.  Hvordan vil du karakterisere bindingerne (ionbinding, polær kovalent, upolær kovalent)   Opløseligheden af de fire stoffer er: Sammenlign opløselighederne af de fire stoffer med svaret på det første spørgsmål  a+ b og angiv om der er en sammenhæng – begrund svaret.</vt:lpstr>
      <vt:lpstr>PowerPoint-præsentation</vt:lpstr>
      <vt:lpstr>    Opgave 11 Chlorforbindelserne af  grundstofferne i tredje  periode har følgende  målte kogepunkter (oC):  Kommenter ændringen i kogepunktet hen gennem gruppen og begrund denne observation (find ud af om der er tale om ionforbindelse, polært eller upolært molekyle).</vt:lpstr>
      <vt:lpstr>PowerPoint-præsentation</vt:lpstr>
      <vt:lpstr>Læs dokumentet om intermolekylære bindinger - i Portfolio og løs alle  opgaver i  dokumentet Opgaver IMK</vt:lpstr>
      <vt:lpstr>Oversigt   Ionforbindelser har høje koge- og smeltepunkter i forhold til kovalente forbindelser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Intermolekylære bindinger</dc:title>
  <dc:creator>Charlotte Lena Boesen</dc:creator>
  <cp:lastModifiedBy>Charlotte Lena Boesen</cp:lastModifiedBy>
  <cp:revision>31</cp:revision>
  <dcterms:created xsi:type="dcterms:W3CDTF">2016-03-29T15:01:52Z</dcterms:created>
  <dcterms:modified xsi:type="dcterms:W3CDTF">2025-03-09T11:15:08Z</dcterms:modified>
</cp:coreProperties>
</file>