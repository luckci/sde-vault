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1B3C72-5B67-4259-8E80-67691F98F942}" type="datetimeFigureOut">
              <a:rPr lang="da-DK" smtClean="0"/>
              <a:t>06-04-2026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19E4C-C00F-490E-9596-2789218FD960}" type="slidenum">
              <a:rPr lang="da-DK" smtClean="0"/>
              <a:t>‹nr.›</a:t>
            </a:fld>
            <a:endParaRPr lang="da-DK"/>
          </a:p>
        </p:txBody>
      </p:sp>
    </p:spTree>
    <p:extLst>
      <p:ext uri="{BB962C8B-B14F-4D97-AF65-F5344CB8AC3E}">
        <p14:creationId xmlns:p14="http://schemas.microsoft.com/office/powerpoint/2010/main" val="1239125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71319E4C-C00F-490E-9596-2789218FD960}" type="slidenum">
              <a:rPr lang="da-DK" smtClean="0"/>
              <a:t>9</a:t>
            </a:fld>
            <a:endParaRPr lang="da-DK"/>
          </a:p>
        </p:txBody>
      </p:sp>
    </p:spTree>
    <p:extLst>
      <p:ext uri="{BB962C8B-B14F-4D97-AF65-F5344CB8AC3E}">
        <p14:creationId xmlns:p14="http://schemas.microsoft.com/office/powerpoint/2010/main" val="497728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71319E4C-C00F-490E-9596-2789218FD960}" type="slidenum">
              <a:rPr lang="da-DK" smtClean="0"/>
              <a:t>13</a:t>
            </a:fld>
            <a:endParaRPr lang="da-DK"/>
          </a:p>
        </p:txBody>
      </p:sp>
    </p:spTree>
    <p:extLst>
      <p:ext uri="{BB962C8B-B14F-4D97-AF65-F5344CB8AC3E}">
        <p14:creationId xmlns:p14="http://schemas.microsoft.com/office/powerpoint/2010/main" val="3293479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4B7D67-66C0-BBFA-1733-933075D6A1B7}"/>
              </a:ext>
            </a:extLst>
          </p:cNvPr>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p>
        </p:txBody>
      </p:sp>
      <p:sp>
        <p:nvSpPr>
          <p:cNvPr id="3" name="Undertitel 2">
            <a:extLst>
              <a:ext uri="{FF2B5EF4-FFF2-40B4-BE49-F238E27FC236}">
                <a16:creationId xmlns:a16="http://schemas.microsoft.com/office/drawing/2014/main" id="{A72DEFA5-8A80-6C6F-6A11-B9BB5A4E7E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a:extLst>
              <a:ext uri="{FF2B5EF4-FFF2-40B4-BE49-F238E27FC236}">
                <a16:creationId xmlns:a16="http://schemas.microsoft.com/office/drawing/2014/main" id="{3A45D507-C0BB-4C6C-6CFF-D827F60E21D5}"/>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5" name="Pladsholder til sidefod 4">
            <a:extLst>
              <a:ext uri="{FF2B5EF4-FFF2-40B4-BE49-F238E27FC236}">
                <a16:creationId xmlns:a16="http://schemas.microsoft.com/office/drawing/2014/main" id="{EB611CB0-19EF-9E35-BF5E-54C5C9041C9F}"/>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64BFFAFF-583F-C59A-8867-F65EBE9E5DD3}"/>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2320974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3A01C8-20E7-5349-07C1-51ED571EC821}"/>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D10E048B-1D28-224F-1F43-1B9CC484BBEC}"/>
              </a:ext>
            </a:extLst>
          </p:cNvPr>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D755CB67-72B0-1642-7E92-A04A7A3D2BB5}"/>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5" name="Pladsholder til sidefod 4">
            <a:extLst>
              <a:ext uri="{FF2B5EF4-FFF2-40B4-BE49-F238E27FC236}">
                <a16:creationId xmlns:a16="http://schemas.microsoft.com/office/drawing/2014/main" id="{A2008475-22EE-53C6-B79A-731849F00583}"/>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6EEFB83B-0951-7908-6497-346E042E7B7C}"/>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153242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9E89D6-F5E4-6B99-D4FD-768287B43087}"/>
              </a:ext>
            </a:extLst>
          </p:cNvPr>
          <p:cNvSpPr>
            <a:spLocks noGrp="1"/>
          </p:cNvSpPr>
          <p:nvPr>
            <p:ph type="title"/>
          </p:nvPr>
        </p:nvSpPr>
        <p:spPr>
          <a:xfrm>
            <a:off x="831850" y="1709738"/>
            <a:ext cx="10515600" cy="2852737"/>
          </a:xfrm>
        </p:spPr>
        <p:txBody>
          <a:bodyPr anchor="b"/>
          <a:lstStyle>
            <a:lvl1pPr>
              <a:defRPr sz="6000"/>
            </a:lvl1pPr>
          </a:lstStyle>
          <a:p>
            <a:r>
              <a:rPr lang="da-DK"/>
              <a:t>Klik for at redigere titeltypografien i masteren</a:t>
            </a:r>
          </a:p>
        </p:txBody>
      </p:sp>
      <p:sp>
        <p:nvSpPr>
          <p:cNvPr id="3" name="Pladsholder til tekst 2">
            <a:extLst>
              <a:ext uri="{FF2B5EF4-FFF2-40B4-BE49-F238E27FC236}">
                <a16:creationId xmlns:a16="http://schemas.microsoft.com/office/drawing/2014/main" id="{137FC79D-9EC4-8D24-0DBC-40181CDB89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a-DK"/>
              <a:t>Klik for at redigere teksttypografierne i masteren</a:t>
            </a:r>
          </a:p>
        </p:txBody>
      </p:sp>
      <p:sp>
        <p:nvSpPr>
          <p:cNvPr id="4" name="Pladsholder til dato 3">
            <a:extLst>
              <a:ext uri="{FF2B5EF4-FFF2-40B4-BE49-F238E27FC236}">
                <a16:creationId xmlns:a16="http://schemas.microsoft.com/office/drawing/2014/main" id="{801342BC-F3B3-F782-2B83-AF3CBF26370D}"/>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5" name="Pladsholder til sidefod 4">
            <a:extLst>
              <a:ext uri="{FF2B5EF4-FFF2-40B4-BE49-F238E27FC236}">
                <a16:creationId xmlns:a16="http://schemas.microsoft.com/office/drawing/2014/main" id="{5C4010B6-6FC8-58AF-BC64-9CC067E3CAC2}"/>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2078D925-25D8-B728-7BDD-641F552B8C6B}"/>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1746969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2B5F45-20BE-6C20-6AB6-35E3C1AC9A7D}"/>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429147B7-B51F-7AD2-887F-85B83AECB329}"/>
              </a:ext>
            </a:extLst>
          </p:cNvPr>
          <p:cNvSpPr>
            <a:spLocks noGrp="1"/>
          </p:cNvSpPr>
          <p:nvPr>
            <p:ph sz="half" idx="1"/>
          </p:nvPr>
        </p:nvSpPr>
        <p:spPr>
          <a:xfrm>
            <a:off x="838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a:extLst>
              <a:ext uri="{FF2B5EF4-FFF2-40B4-BE49-F238E27FC236}">
                <a16:creationId xmlns:a16="http://schemas.microsoft.com/office/drawing/2014/main" id="{1F54D817-E6C6-353B-CF93-6DA571ECB943}"/>
              </a:ext>
            </a:extLst>
          </p:cNvPr>
          <p:cNvSpPr>
            <a:spLocks noGrp="1"/>
          </p:cNvSpPr>
          <p:nvPr>
            <p:ph sz="half" idx="2"/>
          </p:nvPr>
        </p:nvSpPr>
        <p:spPr>
          <a:xfrm>
            <a:off x="6172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a:extLst>
              <a:ext uri="{FF2B5EF4-FFF2-40B4-BE49-F238E27FC236}">
                <a16:creationId xmlns:a16="http://schemas.microsoft.com/office/drawing/2014/main" id="{4677E0A1-68EC-23CF-FD56-2FF2C0938EC0}"/>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6" name="Pladsholder til sidefod 5">
            <a:extLst>
              <a:ext uri="{FF2B5EF4-FFF2-40B4-BE49-F238E27FC236}">
                <a16:creationId xmlns:a16="http://schemas.microsoft.com/office/drawing/2014/main" id="{C4BB133C-83BD-3C9B-09FF-217F00FBA4B7}"/>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461E194E-5444-8EF8-CD74-3E0845E811B6}"/>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30785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7D126C-F51D-3DAF-9935-1388DD9C112A}"/>
              </a:ext>
            </a:extLst>
          </p:cNvPr>
          <p:cNvSpPr>
            <a:spLocks noGrp="1"/>
          </p:cNvSpPr>
          <p:nvPr>
            <p:ph type="title"/>
          </p:nvPr>
        </p:nvSpPr>
        <p:spPr>
          <a:xfrm>
            <a:off x="839788" y="365125"/>
            <a:ext cx="10515600" cy="1325563"/>
          </a:xfrm>
        </p:spPr>
        <p:txBody>
          <a:bodyPr/>
          <a:lstStyle/>
          <a:p>
            <a:r>
              <a:rPr lang="da-DK"/>
              <a:t>Klik for at redigere titeltypografien i masteren</a:t>
            </a:r>
          </a:p>
        </p:txBody>
      </p:sp>
      <p:sp>
        <p:nvSpPr>
          <p:cNvPr id="3" name="Pladsholder til tekst 2">
            <a:extLst>
              <a:ext uri="{FF2B5EF4-FFF2-40B4-BE49-F238E27FC236}">
                <a16:creationId xmlns:a16="http://schemas.microsoft.com/office/drawing/2014/main" id="{D20428B2-E33F-5CD6-4BBE-E4D2961F6C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Pladsholder til indhold 3">
            <a:extLst>
              <a:ext uri="{FF2B5EF4-FFF2-40B4-BE49-F238E27FC236}">
                <a16:creationId xmlns:a16="http://schemas.microsoft.com/office/drawing/2014/main" id="{5306C7DB-DEB8-5353-C10C-7BA27D44A0F0}"/>
              </a:ext>
            </a:extLst>
          </p:cNvPr>
          <p:cNvSpPr>
            <a:spLocks noGrp="1"/>
          </p:cNvSpPr>
          <p:nvPr>
            <p:ph sz="half" idx="2"/>
          </p:nvPr>
        </p:nvSpPr>
        <p:spPr>
          <a:xfrm>
            <a:off x="839788" y="2505075"/>
            <a:ext cx="5157787"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a:extLst>
              <a:ext uri="{FF2B5EF4-FFF2-40B4-BE49-F238E27FC236}">
                <a16:creationId xmlns:a16="http://schemas.microsoft.com/office/drawing/2014/main" id="{427214D8-B6D7-288C-13DD-3C3978F447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Pladsholder til indhold 5">
            <a:extLst>
              <a:ext uri="{FF2B5EF4-FFF2-40B4-BE49-F238E27FC236}">
                <a16:creationId xmlns:a16="http://schemas.microsoft.com/office/drawing/2014/main" id="{20AE2C16-2D5D-6A58-C313-5BCD4E3B7053}"/>
              </a:ext>
            </a:extLst>
          </p:cNvPr>
          <p:cNvSpPr>
            <a:spLocks noGrp="1"/>
          </p:cNvSpPr>
          <p:nvPr>
            <p:ph sz="quarter" idx="4"/>
          </p:nvPr>
        </p:nvSpPr>
        <p:spPr>
          <a:xfrm>
            <a:off x="6172200" y="2505075"/>
            <a:ext cx="5183188"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a:extLst>
              <a:ext uri="{FF2B5EF4-FFF2-40B4-BE49-F238E27FC236}">
                <a16:creationId xmlns:a16="http://schemas.microsoft.com/office/drawing/2014/main" id="{98AF15C6-9104-25B4-F8CD-15E4C504EDA9}"/>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8" name="Pladsholder til sidefod 7">
            <a:extLst>
              <a:ext uri="{FF2B5EF4-FFF2-40B4-BE49-F238E27FC236}">
                <a16:creationId xmlns:a16="http://schemas.microsoft.com/office/drawing/2014/main" id="{89A78D31-DA3A-D19A-4854-B09E755E48FD}"/>
              </a:ext>
            </a:extLst>
          </p:cNvPr>
          <p:cNvSpPr>
            <a:spLocks noGrp="1"/>
          </p:cNvSpPr>
          <p:nvPr>
            <p:ph type="ftr" sz="quarter" idx="11"/>
          </p:nvPr>
        </p:nvSpPr>
        <p:spPr/>
        <p:txBody>
          <a:bodyPr/>
          <a:lstStyle/>
          <a:p>
            <a:endParaRPr lang="da-DK"/>
          </a:p>
        </p:txBody>
      </p:sp>
      <p:sp>
        <p:nvSpPr>
          <p:cNvPr id="9" name="Pladsholder til slidenummer 8">
            <a:extLst>
              <a:ext uri="{FF2B5EF4-FFF2-40B4-BE49-F238E27FC236}">
                <a16:creationId xmlns:a16="http://schemas.microsoft.com/office/drawing/2014/main" id="{BF071081-B9EB-555E-F236-08606D06C04A}"/>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4024159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E82282-03E8-20FB-465A-7BB4723FF264}"/>
              </a:ext>
            </a:extLst>
          </p:cNvPr>
          <p:cNvSpPr>
            <a:spLocks noGrp="1"/>
          </p:cNvSpPr>
          <p:nvPr>
            <p:ph type="title"/>
          </p:nvPr>
        </p:nvSpPr>
        <p:spPr/>
        <p:txBody>
          <a:bodyPr/>
          <a:lstStyle/>
          <a:p>
            <a:r>
              <a:rPr lang="da-DK"/>
              <a:t>Klik for at redigere titeltypografien i masteren</a:t>
            </a:r>
          </a:p>
        </p:txBody>
      </p:sp>
      <p:sp>
        <p:nvSpPr>
          <p:cNvPr id="3" name="Pladsholder til dato 2">
            <a:extLst>
              <a:ext uri="{FF2B5EF4-FFF2-40B4-BE49-F238E27FC236}">
                <a16:creationId xmlns:a16="http://schemas.microsoft.com/office/drawing/2014/main" id="{5FF093B1-6E94-A25F-FEC0-F7DE775CEF77}"/>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4" name="Pladsholder til sidefod 3">
            <a:extLst>
              <a:ext uri="{FF2B5EF4-FFF2-40B4-BE49-F238E27FC236}">
                <a16:creationId xmlns:a16="http://schemas.microsoft.com/office/drawing/2014/main" id="{1C5191FD-2B31-46D3-6690-E11A01885A1A}"/>
              </a:ext>
            </a:extLst>
          </p:cNvPr>
          <p:cNvSpPr>
            <a:spLocks noGrp="1"/>
          </p:cNvSpPr>
          <p:nvPr>
            <p:ph type="ftr" sz="quarter" idx="11"/>
          </p:nvPr>
        </p:nvSpPr>
        <p:spPr/>
        <p:txBody>
          <a:bodyPr/>
          <a:lstStyle/>
          <a:p>
            <a:endParaRPr lang="da-DK"/>
          </a:p>
        </p:txBody>
      </p:sp>
      <p:sp>
        <p:nvSpPr>
          <p:cNvPr id="5" name="Pladsholder til slidenummer 4">
            <a:extLst>
              <a:ext uri="{FF2B5EF4-FFF2-40B4-BE49-F238E27FC236}">
                <a16:creationId xmlns:a16="http://schemas.microsoft.com/office/drawing/2014/main" id="{5D6EC53F-CD3A-8644-1A1B-0DFC3965221D}"/>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3492845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0CAD7DBF-7597-5E00-588E-D20DAA2ABB30}"/>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3" name="Pladsholder til sidefod 2">
            <a:extLst>
              <a:ext uri="{FF2B5EF4-FFF2-40B4-BE49-F238E27FC236}">
                <a16:creationId xmlns:a16="http://schemas.microsoft.com/office/drawing/2014/main" id="{CAB22532-17FE-74DB-342E-7701D6772128}"/>
              </a:ext>
            </a:extLst>
          </p:cNvPr>
          <p:cNvSpPr>
            <a:spLocks noGrp="1"/>
          </p:cNvSpPr>
          <p:nvPr>
            <p:ph type="ftr" sz="quarter" idx="11"/>
          </p:nvPr>
        </p:nvSpPr>
        <p:spPr/>
        <p:txBody>
          <a:bodyPr/>
          <a:lstStyle/>
          <a:p>
            <a:endParaRPr lang="da-DK"/>
          </a:p>
        </p:txBody>
      </p:sp>
      <p:sp>
        <p:nvSpPr>
          <p:cNvPr id="4" name="Pladsholder til slidenummer 3">
            <a:extLst>
              <a:ext uri="{FF2B5EF4-FFF2-40B4-BE49-F238E27FC236}">
                <a16:creationId xmlns:a16="http://schemas.microsoft.com/office/drawing/2014/main" id="{8E4C5748-3AE3-BB31-9B39-748391099336}"/>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3990428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775173-6422-A3AE-B920-02172FA0A685}"/>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indhold 2">
            <a:extLst>
              <a:ext uri="{FF2B5EF4-FFF2-40B4-BE49-F238E27FC236}">
                <a16:creationId xmlns:a16="http://schemas.microsoft.com/office/drawing/2014/main" id="{D4EC240D-0167-214A-7332-A6CF37E8BF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a:extLst>
              <a:ext uri="{FF2B5EF4-FFF2-40B4-BE49-F238E27FC236}">
                <a16:creationId xmlns:a16="http://schemas.microsoft.com/office/drawing/2014/main" id="{9FEA8E94-BC4A-15F9-18CC-FB98EA0EDE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37ACC4AC-A2AF-4B2D-6466-76CD020BD980}"/>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6" name="Pladsholder til sidefod 5">
            <a:extLst>
              <a:ext uri="{FF2B5EF4-FFF2-40B4-BE49-F238E27FC236}">
                <a16:creationId xmlns:a16="http://schemas.microsoft.com/office/drawing/2014/main" id="{279622AD-0172-547E-5B11-4C4D4C1C9A27}"/>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A83EBBB7-59DE-B054-E7E5-B76F08F5B72C}"/>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1134047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948B99-AD3B-8F96-6FBE-F06F846E6C8C}"/>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billede 2">
            <a:extLst>
              <a:ext uri="{FF2B5EF4-FFF2-40B4-BE49-F238E27FC236}">
                <a16:creationId xmlns:a16="http://schemas.microsoft.com/office/drawing/2014/main" id="{966C7F13-993C-FBE5-9E17-0D5CE75026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a:extLst>
              <a:ext uri="{FF2B5EF4-FFF2-40B4-BE49-F238E27FC236}">
                <a16:creationId xmlns:a16="http://schemas.microsoft.com/office/drawing/2014/main" id="{B63A23FD-E9B4-92D2-1E12-3699E7791E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EA8E213A-439B-4F12-586E-C09CD711EC0D}"/>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6" name="Pladsholder til sidefod 5">
            <a:extLst>
              <a:ext uri="{FF2B5EF4-FFF2-40B4-BE49-F238E27FC236}">
                <a16:creationId xmlns:a16="http://schemas.microsoft.com/office/drawing/2014/main" id="{1DA6F640-CAF0-E557-6A3A-B56E189486D2}"/>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A9D8CE9F-28AF-314A-1D29-E8F3702A853C}"/>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1573568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DFA590-825E-FB53-9462-B70B2932F8FB}"/>
              </a:ext>
            </a:extLst>
          </p:cNvPr>
          <p:cNvSpPr>
            <a:spLocks noGrp="1"/>
          </p:cNvSpPr>
          <p:nvPr>
            <p:ph type="title"/>
          </p:nvPr>
        </p:nvSpPr>
        <p:spPr/>
        <p:txBody>
          <a:bodyPr/>
          <a:lstStyle/>
          <a:p>
            <a:r>
              <a:rPr lang="da-DK"/>
              <a:t>Klik for at redigere titeltypografien i masteren</a:t>
            </a:r>
          </a:p>
        </p:txBody>
      </p:sp>
      <p:sp>
        <p:nvSpPr>
          <p:cNvPr id="3" name="Pladsholder til lodret titel 2">
            <a:extLst>
              <a:ext uri="{FF2B5EF4-FFF2-40B4-BE49-F238E27FC236}">
                <a16:creationId xmlns:a16="http://schemas.microsoft.com/office/drawing/2014/main" id="{5E552B12-C4D7-0D75-7AB8-B9493BCE2487}"/>
              </a:ext>
            </a:extLst>
          </p:cNvPr>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0C6495FA-5F1A-A265-206B-8A8DF642D33E}"/>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5" name="Pladsholder til sidefod 4">
            <a:extLst>
              <a:ext uri="{FF2B5EF4-FFF2-40B4-BE49-F238E27FC236}">
                <a16:creationId xmlns:a16="http://schemas.microsoft.com/office/drawing/2014/main" id="{CFDEC395-B486-AEF6-0C9D-A9693770D2C9}"/>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5B7FEE61-3D3E-1938-2897-7C4F123C2B38}"/>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2675362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a:extLst>
              <a:ext uri="{FF2B5EF4-FFF2-40B4-BE49-F238E27FC236}">
                <a16:creationId xmlns:a16="http://schemas.microsoft.com/office/drawing/2014/main" id="{28FC555D-7C2C-D89D-354F-40BA6B3A41CE}"/>
              </a:ext>
            </a:extLst>
          </p:cNvPr>
          <p:cNvSpPr>
            <a:spLocks noGrp="1"/>
          </p:cNvSpPr>
          <p:nvPr>
            <p:ph type="title" orient="vert"/>
          </p:nvPr>
        </p:nvSpPr>
        <p:spPr>
          <a:xfrm>
            <a:off x="8724900" y="365125"/>
            <a:ext cx="2628900" cy="5811838"/>
          </a:xfrm>
        </p:spPr>
        <p:txBody>
          <a:bodyPr vert="eaVert"/>
          <a:lstStyle/>
          <a:p>
            <a:r>
              <a:rPr lang="da-DK"/>
              <a:t>Klik for at redigere titeltypografien i masteren</a:t>
            </a:r>
          </a:p>
        </p:txBody>
      </p:sp>
      <p:sp>
        <p:nvSpPr>
          <p:cNvPr id="3" name="Pladsholder til lodret titel 2">
            <a:extLst>
              <a:ext uri="{FF2B5EF4-FFF2-40B4-BE49-F238E27FC236}">
                <a16:creationId xmlns:a16="http://schemas.microsoft.com/office/drawing/2014/main" id="{FECEE0B7-7E86-EC5B-E3D6-A8E359258C6E}"/>
              </a:ext>
            </a:extLst>
          </p:cNvPr>
          <p:cNvSpPr>
            <a:spLocks noGrp="1"/>
          </p:cNvSpPr>
          <p:nvPr>
            <p:ph type="body" orient="vert" idx="1"/>
          </p:nvPr>
        </p:nvSpPr>
        <p:spPr>
          <a:xfrm>
            <a:off x="838200" y="365125"/>
            <a:ext cx="7734300" cy="5811838"/>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76FEA318-036B-C938-450E-1FBD16034D29}"/>
              </a:ext>
            </a:extLst>
          </p:cNvPr>
          <p:cNvSpPr>
            <a:spLocks noGrp="1"/>
          </p:cNvSpPr>
          <p:nvPr>
            <p:ph type="dt" sz="half" idx="10"/>
          </p:nvPr>
        </p:nvSpPr>
        <p:spPr/>
        <p:txBody>
          <a:bodyPr/>
          <a:lstStyle/>
          <a:p>
            <a:fld id="{F358161A-111C-4EF7-9D1B-7C0F2713E77F}" type="datetimeFigureOut">
              <a:rPr lang="da-DK" smtClean="0"/>
              <a:t>06-04-2026</a:t>
            </a:fld>
            <a:endParaRPr lang="da-DK"/>
          </a:p>
        </p:txBody>
      </p:sp>
      <p:sp>
        <p:nvSpPr>
          <p:cNvPr id="5" name="Pladsholder til sidefod 4">
            <a:extLst>
              <a:ext uri="{FF2B5EF4-FFF2-40B4-BE49-F238E27FC236}">
                <a16:creationId xmlns:a16="http://schemas.microsoft.com/office/drawing/2014/main" id="{E44710FF-A57A-65FD-456C-9116837D77CF}"/>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103DCEDC-AA10-9B60-FE22-5625C1CCD4B1}"/>
              </a:ext>
            </a:extLst>
          </p:cNvPr>
          <p:cNvSpPr>
            <a:spLocks noGrp="1"/>
          </p:cNvSpPr>
          <p:nvPr>
            <p:ph type="sldNum" sz="quarter" idx="12"/>
          </p:nvPr>
        </p:nvSpPr>
        <p:spPr/>
        <p:txBody>
          <a:bodyPr/>
          <a:lstStyle/>
          <a:p>
            <a:fld id="{81569BAD-B269-4D14-8ECA-80179E8C9340}" type="slidenum">
              <a:rPr lang="da-DK" smtClean="0"/>
              <a:t>‹nr.›</a:t>
            </a:fld>
            <a:endParaRPr lang="da-DK"/>
          </a:p>
        </p:txBody>
      </p:sp>
    </p:spTree>
    <p:extLst>
      <p:ext uri="{BB962C8B-B14F-4D97-AF65-F5344CB8AC3E}">
        <p14:creationId xmlns:p14="http://schemas.microsoft.com/office/powerpoint/2010/main" val="2041377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BFAB94BD-0203-3E85-259E-05561FB92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titeltypografien i masteren</a:t>
            </a:r>
          </a:p>
        </p:txBody>
      </p:sp>
      <p:sp>
        <p:nvSpPr>
          <p:cNvPr id="3" name="Pladsholder til tekst 2">
            <a:extLst>
              <a:ext uri="{FF2B5EF4-FFF2-40B4-BE49-F238E27FC236}">
                <a16:creationId xmlns:a16="http://schemas.microsoft.com/office/drawing/2014/main" id="{FF9CF1C9-D254-0D62-CA07-B029D26E3B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D7A63129-6655-C733-1C7B-3983736638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58161A-111C-4EF7-9D1B-7C0F2713E77F}" type="datetimeFigureOut">
              <a:rPr lang="da-DK" smtClean="0"/>
              <a:t>06-04-2026</a:t>
            </a:fld>
            <a:endParaRPr lang="da-DK"/>
          </a:p>
        </p:txBody>
      </p:sp>
      <p:sp>
        <p:nvSpPr>
          <p:cNvPr id="5" name="Pladsholder til sidefod 4">
            <a:extLst>
              <a:ext uri="{FF2B5EF4-FFF2-40B4-BE49-F238E27FC236}">
                <a16:creationId xmlns:a16="http://schemas.microsoft.com/office/drawing/2014/main" id="{7D7F2775-0B29-2F30-25D9-E42C5C7E12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Pladsholder til slidenummer 5">
            <a:extLst>
              <a:ext uri="{FF2B5EF4-FFF2-40B4-BE49-F238E27FC236}">
                <a16:creationId xmlns:a16="http://schemas.microsoft.com/office/drawing/2014/main" id="{6FD1CA0C-3372-BBDB-F7C3-26093E0C2E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569BAD-B269-4D14-8ECA-80179E8C9340}" type="slidenum">
              <a:rPr lang="da-DK" smtClean="0"/>
              <a:t>‹nr.›</a:t>
            </a:fld>
            <a:endParaRPr lang="da-DK"/>
          </a:p>
        </p:txBody>
      </p:sp>
    </p:spTree>
    <p:extLst>
      <p:ext uri="{BB962C8B-B14F-4D97-AF65-F5344CB8AC3E}">
        <p14:creationId xmlns:p14="http://schemas.microsoft.com/office/powerpoint/2010/main" val="28571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FE936B-6142-CF2D-0D84-681B52C850B4}"/>
              </a:ext>
            </a:extLst>
          </p:cNvPr>
          <p:cNvSpPr>
            <a:spLocks noGrp="1"/>
          </p:cNvSpPr>
          <p:nvPr>
            <p:ph type="ctrTitle"/>
          </p:nvPr>
        </p:nvSpPr>
        <p:spPr/>
        <p:txBody>
          <a:bodyPr/>
          <a:lstStyle/>
          <a:p>
            <a:r>
              <a:rPr lang="da-DK" dirty="0"/>
              <a:t>Øvelse Fordampning og intermolekylære kræfter</a:t>
            </a:r>
          </a:p>
        </p:txBody>
      </p:sp>
      <p:sp>
        <p:nvSpPr>
          <p:cNvPr id="3" name="Undertitel 2">
            <a:extLst>
              <a:ext uri="{FF2B5EF4-FFF2-40B4-BE49-F238E27FC236}">
                <a16:creationId xmlns:a16="http://schemas.microsoft.com/office/drawing/2014/main" id="{FEB91FAA-7D42-0A9B-5AB7-747628B9B7D1}"/>
              </a:ext>
            </a:extLst>
          </p:cNvPr>
          <p:cNvSpPr>
            <a:spLocks noGrp="1"/>
          </p:cNvSpPr>
          <p:nvPr>
            <p:ph type="subTitle" idx="1"/>
          </p:nvPr>
        </p:nvSpPr>
        <p:spPr/>
        <p:txBody>
          <a:bodyPr/>
          <a:lstStyle/>
          <a:p>
            <a:r>
              <a:rPr lang="da-DK" dirty="0"/>
              <a:t>Kemi 2026</a:t>
            </a:r>
          </a:p>
        </p:txBody>
      </p:sp>
    </p:spTree>
    <p:extLst>
      <p:ext uri="{BB962C8B-B14F-4D97-AF65-F5344CB8AC3E}">
        <p14:creationId xmlns:p14="http://schemas.microsoft.com/office/powerpoint/2010/main" val="3027815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1EF5B3-1B76-1F70-187B-3095458FC9B2}"/>
              </a:ext>
            </a:extLst>
          </p:cNvPr>
          <p:cNvSpPr>
            <a:spLocks noGrp="1"/>
          </p:cNvSpPr>
          <p:nvPr>
            <p:ph type="title"/>
          </p:nvPr>
        </p:nvSpPr>
        <p:spPr/>
        <p:txBody>
          <a:bodyPr/>
          <a:lstStyle/>
          <a:p>
            <a:r>
              <a:rPr lang="da-DK" dirty="0"/>
              <a:t>Formål og teori</a:t>
            </a:r>
          </a:p>
        </p:txBody>
      </p:sp>
      <p:sp>
        <p:nvSpPr>
          <p:cNvPr id="4" name="Tekstfelt 3">
            <a:extLst>
              <a:ext uri="{FF2B5EF4-FFF2-40B4-BE49-F238E27FC236}">
                <a16:creationId xmlns:a16="http://schemas.microsoft.com/office/drawing/2014/main" id="{CDFFF492-9CBD-8A4B-C274-FA208596921C}"/>
              </a:ext>
            </a:extLst>
          </p:cNvPr>
          <p:cNvSpPr txBox="1"/>
          <p:nvPr/>
        </p:nvSpPr>
        <p:spPr>
          <a:xfrm>
            <a:off x="838199" y="1509471"/>
            <a:ext cx="10660811" cy="646331"/>
          </a:xfrm>
          <a:prstGeom prst="rect">
            <a:avLst/>
          </a:prstGeom>
          <a:noFill/>
        </p:spPr>
        <p:txBody>
          <a:bodyPr wrap="square">
            <a:spAutoFit/>
          </a:bodyPr>
          <a:lstStyle/>
          <a:p>
            <a:r>
              <a:rPr lang="da-DK" sz="1800" dirty="0">
                <a:effectLst/>
                <a:ea typeface="Times New Roman" panose="02020603050405020304" pitchFamily="18" charset="0"/>
              </a:rPr>
              <a:t>Formålet er at undersøge sammenhængen mellem intermolekylære kræfter og fordampningshastighed for en række forskellige stoffer.</a:t>
            </a:r>
            <a:endParaRPr lang="da-DK" sz="1200" dirty="0">
              <a:effectLst/>
              <a:ea typeface="Times New Roman" panose="02020603050405020304" pitchFamily="18" charset="0"/>
            </a:endParaRPr>
          </a:p>
        </p:txBody>
      </p:sp>
      <p:sp>
        <p:nvSpPr>
          <p:cNvPr id="6" name="Tekstfelt 5">
            <a:extLst>
              <a:ext uri="{FF2B5EF4-FFF2-40B4-BE49-F238E27FC236}">
                <a16:creationId xmlns:a16="http://schemas.microsoft.com/office/drawing/2014/main" id="{AADBE2A1-28DC-C9EF-AA7D-B4200BC30391}"/>
              </a:ext>
            </a:extLst>
          </p:cNvPr>
          <p:cNvSpPr txBox="1"/>
          <p:nvPr/>
        </p:nvSpPr>
        <p:spPr>
          <a:xfrm>
            <a:off x="838201" y="2757987"/>
            <a:ext cx="4311137" cy="3416320"/>
          </a:xfrm>
          <a:prstGeom prst="rect">
            <a:avLst/>
          </a:prstGeom>
          <a:noFill/>
        </p:spPr>
        <p:txBody>
          <a:bodyPr wrap="square">
            <a:spAutoFit/>
          </a:bodyPr>
          <a:lstStyle/>
          <a:p>
            <a:r>
              <a:rPr lang="da-DK" dirty="0"/>
              <a:t>Når et stof fordamper (endoterm proces), optager det energi fra omgivelserne i form af varme. Denne energi bruges til at overvinde de intermolekylære kræfter, og derfor afkøles omgivelserne.</a:t>
            </a:r>
          </a:p>
          <a:p>
            <a:endParaRPr lang="da-DK" dirty="0"/>
          </a:p>
          <a:p>
            <a:r>
              <a:rPr lang="da-DK" dirty="0"/>
              <a:t>Stoffer med lavt kogepunkt har svagere intermolekylære kræfter og fordamper derfor lettere ved stuetemperatur. Det medfører en større varmeoptagelse og dermed en mere udtalt afkøling af omgivelserne.</a:t>
            </a:r>
          </a:p>
        </p:txBody>
      </p:sp>
      <p:pic>
        <p:nvPicPr>
          <p:cNvPr id="7" name="Billede 6" descr="Fordampning, vand">
            <a:extLst>
              <a:ext uri="{FF2B5EF4-FFF2-40B4-BE49-F238E27FC236}">
                <a16:creationId xmlns:a16="http://schemas.microsoft.com/office/drawing/2014/main" id="{7D1B3E96-898B-93DD-BECD-D683C6AE98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2689" y="2155802"/>
            <a:ext cx="7042662" cy="2931340"/>
          </a:xfrm>
          <a:prstGeom prst="rect">
            <a:avLst/>
          </a:prstGeom>
          <a:noFill/>
          <a:ln>
            <a:noFill/>
          </a:ln>
        </p:spPr>
      </p:pic>
      <p:sp>
        <p:nvSpPr>
          <p:cNvPr id="9" name="Tekstfelt 8">
            <a:extLst>
              <a:ext uri="{FF2B5EF4-FFF2-40B4-BE49-F238E27FC236}">
                <a16:creationId xmlns:a16="http://schemas.microsoft.com/office/drawing/2014/main" id="{78F72C14-0691-348B-1BAA-A48F5949C5FF}"/>
              </a:ext>
            </a:extLst>
          </p:cNvPr>
          <p:cNvSpPr txBox="1"/>
          <p:nvPr/>
        </p:nvSpPr>
        <p:spPr>
          <a:xfrm>
            <a:off x="5455173" y="5477621"/>
            <a:ext cx="6137694" cy="923330"/>
          </a:xfrm>
          <a:prstGeom prst="rect">
            <a:avLst/>
          </a:prstGeom>
          <a:noFill/>
        </p:spPr>
        <p:txBody>
          <a:bodyPr wrap="square">
            <a:spAutoFit/>
          </a:bodyPr>
          <a:lstStyle/>
          <a:p>
            <a:r>
              <a:rPr lang="da-DK" sz="1800" b="1" dirty="0">
                <a:effectLst/>
                <a:latin typeface="Calibri" panose="020F0502020204030204" pitchFamily="34" charset="0"/>
                <a:ea typeface="Times New Roman" panose="02020603050405020304" pitchFamily="18" charset="0"/>
              </a:rPr>
              <a:t>Jo svagere intermolekylære kræfter, der er til stede i en væske, jo hurtigere vil væsken fordampe. Jo hurtigere væsken fordamper, jo mere vil temperaturen falde.</a:t>
            </a:r>
            <a:endParaRPr lang="da-DK"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59265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ECBD29-674E-5E51-00A3-B319674626E7}"/>
              </a:ext>
            </a:extLst>
          </p:cNvPr>
          <p:cNvSpPr>
            <a:spLocks noGrp="1"/>
          </p:cNvSpPr>
          <p:nvPr>
            <p:ph type="title"/>
          </p:nvPr>
        </p:nvSpPr>
        <p:spPr/>
        <p:txBody>
          <a:bodyPr/>
          <a:lstStyle/>
          <a:p>
            <a:r>
              <a:rPr lang="da-DK" dirty="0"/>
              <a:t>Intermolekylære kræfter (</a:t>
            </a:r>
            <a:r>
              <a:rPr lang="da-DK" dirty="0" err="1"/>
              <a:t>imk</a:t>
            </a:r>
            <a:r>
              <a:rPr lang="da-DK" dirty="0"/>
              <a:t>)</a:t>
            </a:r>
          </a:p>
        </p:txBody>
      </p:sp>
      <p:sp>
        <p:nvSpPr>
          <p:cNvPr id="6" name="Tekstfelt 5">
            <a:extLst>
              <a:ext uri="{FF2B5EF4-FFF2-40B4-BE49-F238E27FC236}">
                <a16:creationId xmlns:a16="http://schemas.microsoft.com/office/drawing/2014/main" id="{50DC15EC-BA3E-54E9-1312-85D8C2727196}"/>
              </a:ext>
            </a:extLst>
          </p:cNvPr>
          <p:cNvSpPr txBox="1"/>
          <p:nvPr/>
        </p:nvSpPr>
        <p:spPr>
          <a:xfrm>
            <a:off x="1028699" y="1756777"/>
            <a:ext cx="10168387" cy="2862322"/>
          </a:xfrm>
          <a:prstGeom prst="rect">
            <a:avLst/>
          </a:prstGeom>
          <a:noFill/>
        </p:spPr>
        <p:txBody>
          <a:bodyPr wrap="square">
            <a:spAutoFit/>
          </a:bodyPr>
          <a:lstStyle/>
          <a:p>
            <a:pPr marL="342900" lvl="0" indent="-342900">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rPr>
              <a:t>IMK er de kræfter, som virker </a:t>
            </a:r>
            <a:r>
              <a:rPr lang="da-DK" sz="2000" u="sng" dirty="0">
                <a:effectLst/>
                <a:latin typeface="Calibri" panose="020F0502020204030204" pitchFamily="34" charset="0"/>
                <a:ea typeface="Times New Roman" panose="02020603050405020304" pitchFamily="18" charset="0"/>
              </a:rPr>
              <a:t>mellem</a:t>
            </a:r>
            <a:r>
              <a:rPr lang="da-DK" sz="2000" dirty="0">
                <a:effectLst/>
                <a:latin typeface="Calibri" panose="020F0502020204030204" pitchFamily="34" charset="0"/>
                <a:ea typeface="Times New Roman" panose="02020603050405020304" pitchFamily="18" charset="0"/>
              </a:rPr>
              <a:t> molekyler </a:t>
            </a:r>
          </a:p>
          <a:p>
            <a:pPr lvl="0"/>
            <a:endParaRPr lang="da-DK" sz="20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rPr>
              <a:t>IMK virker, når stofferne er på fast form eller på flydende form</a:t>
            </a:r>
          </a:p>
          <a:p>
            <a:pPr lvl="0"/>
            <a:endParaRPr lang="da-DK" sz="20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rPr>
              <a:t>Den temperatur, hvor et stof går fra flydende form til gasform betegnes stoffets kogepunkt</a:t>
            </a:r>
          </a:p>
          <a:p>
            <a:pPr lvl="0"/>
            <a:endParaRPr lang="da-DK" sz="20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rPr>
              <a:t>Jo stærkere IMK i et stof er, desto højere er dets kogepunkt. Det betyder, at hvis IMK er meget stærke, har molekylerne svært ved at løsrive sig fra de øvrige molekyler og gå på gasform </a:t>
            </a:r>
            <a:endParaRPr lang="da-DK" sz="2000" dirty="0">
              <a:effectLst/>
              <a:latin typeface="Times New Roman" panose="02020603050405020304" pitchFamily="18" charset="0"/>
              <a:ea typeface="Times New Roman" panose="02020603050405020304" pitchFamily="18" charset="0"/>
            </a:endParaRPr>
          </a:p>
        </p:txBody>
      </p:sp>
      <p:sp>
        <p:nvSpPr>
          <p:cNvPr id="8" name="Tekstfelt 7">
            <a:extLst>
              <a:ext uri="{FF2B5EF4-FFF2-40B4-BE49-F238E27FC236}">
                <a16:creationId xmlns:a16="http://schemas.microsoft.com/office/drawing/2014/main" id="{018CF0A1-9C2E-97A9-E39E-706B577446E7}"/>
              </a:ext>
            </a:extLst>
          </p:cNvPr>
          <p:cNvSpPr txBox="1"/>
          <p:nvPr/>
        </p:nvSpPr>
        <p:spPr>
          <a:xfrm>
            <a:off x="1158095" y="4952364"/>
            <a:ext cx="9754319" cy="1815882"/>
          </a:xfrm>
          <a:prstGeom prst="rect">
            <a:avLst/>
          </a:prstGeom>
          <a:noFill/>
        </p:spPr>
        <p:txBody>
          <a:bodyPr wrap="square">
            <a:spAutoFit/>
          </a:bodyPr>
          <a:lstStyle/>
          <a:p>
            <a:r>
              <a:rPr lang="da-DK" sz="2000" dirty="0">
                <a:effectLst/>
                <a:latin typeface="Calibri" panose="020F0502020204030204" pitchFamily="34" charset="0"/>
                <a:ea typeface="Times New Roman" panose="02020603050405020304" pitchFamily="18" charset="0"/>
              </a:rPr>
              <a:t>Der findes tre former for intermolekylære kræfter/bindinger:</a:t>
            </a:r>
          </a:p>
          <a:p>
            <a:pPr marL="342900" indent="-342900">
              <a:buAutoNum type="arabicPeriod"/>
            </a:pPr>
            <a:r>
              <a:rPr lang="da-DK" sz="2000" dirty="0">
                <a:latin typeface="Calibri" panose="020F0502020204030204" pitchFamily="34" charset="0"/>
                <a:ea typeface="Times New Roman" panose="02020603050405020304" pitchFamily="18" charset="0"/>
              </a:rPr>
              <a:t>London (dispersion) kræfter</a:t>
            </a:r>
          </a:p>
          <a:p>
            <a:pPr marL="342900" indent="-342900">
              <a:buAutoNum type="arabicPeriod"/>
            </a:pPr>
            <a:r>
              <a:rPr lang="da-DK" sz="2000" dirty="0">
                <a:latin typeface="Calibri" panose="020F0502020204030204" pitchFamily="34" charset="0"/>
                <a:ea typeface="Times New Roman" panose="02020603050405020304" pitchFamily="18" charset="0"/>
              </a:rPr>
              <a:t>Dipoldipolbindinger </a:t>
            </a:r>
          </a:p>
          <a:p>
            <a:pPr marL="342900" indent="-342900">
              <a:buAutoNum type="arabicPeriod"/>
            </a:pPr>
            <a:r>
              <a:rPr lang="da-DK" sz="2000" dirty="0">
                <a:latin typeface="Calibri" panose="020F0502020204030204" pitchFamily="34" charset="0"/>
                <a:ea typeface="Times New Roman" panose="02020603050405020304" pitchFamily="18" charset="0"/>
              </a:rPr>
              <a:t>Hydrogenbindinger</a:t>
            </a:r>
          </a:p>
          <a:p>
            <a:pPr marL="342900" indent="-342900">
              <a:buAutoNum type="arabicPeriod"/>
            </a:pPr>
            <a:endParaRPr lang="da-DK" dirty="0">
              <a:solidFill>
                <a:srgbClr val="0070C0"/>
              </a:solidFill>
              <a:latin typeface="Calibri" panose="020F0502020204030204" pitchFamily="34" charset="0"/>
              <a:ea typeface="Times New Roman" panose="02020603050405020304" pitchFamily="18" charset="0"/>
            </a:endParaRPr>
          </a:p>
          <a:p>
            <a:pPr marL="342900" indent="-342900">
              <a:buAutoNum type="arabicPeriod"/>
            </a:pPr>
            <a:endParaRPr lang="da-DK"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38690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B2F6CB-C894-D2F5-06EC-B602EB3FD571}"/>
              </a:ext>
            </a:extLst>
          </p:cNvPr>
          <p:cNvSpPr>
            <a:spLocks noGrp="1"/>
          </p:cNvSpPr>
          <p:nvPr>
            <p:ph type="title"/>
          </p:nvPr>
        </p:nvSpPr>
        <p:spPr/>
        <p:txBody>
          <a:bodyPr/>
          <a:lstStyle/>
          <a:p>
            <a:r>
              <a:rPr lang="da-DK" dirty="0"/>
              <a:t>Londonkræfter</a:t>
            </a:r>
          </a:p>
        </p:txBody>
      </p:sp>
      <p:sp>
        <p:nvSpPr>
          <p:cNvPr id="4" name="Tekstfelt 3">
            <a:extLst>
              <a:ext uri="{FF2B5EF4-FFF2-40B4-BE49-F238E27FC236}">
                <a16:creationId xmlns:a16="http://schemas.microsoft.com/office/drawing/2014/main" id="{5EC73F72-9C80-FBC9-CE67-B3932A92EC30}"/>
              </a:ext>
            </a:extLst>
          </p:cNvPr>
          <p:cNvSpPr txBox="1"/>
          <p:nvPr/>
        </p:nvSpPr>
        <p:spPr>
          <a:xfrm>
            <a:off x="994193" y="1690688"/>
            <a:ext cx="10289157" cy="3414396"/>
          </a:xfrm>
          <a:prstGeom prst="rect">
            <a:avLst/>
          </a:prstGeom>
          <a:noFill/>
        </p:spPr>
        <p:txBody>
          <a:bodyPr wrap="square">
            <a:spAutoFit/>
          </a:bodyPr>
          <a:lstStyle/>
          <a:p>
            <a:pPr marL="342900" lvl="0" indent="-342900">
              <a:lnSpc>
                <a:spcPct val="115000"/>
              </a:lnSpc>
              <a:spcAft>
                <a:spcPts val="1000"/>
              </a:spcAft>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cs typeface="Times New Roman" panose="02020603050405020304" pitchFamily="18" charset="0"/>
              </a:rPr>
              <a:t>Er de eneste IMK, der virker mellem </a:t>
            </a:r>
            <a:r>
              <a:rPr lang="da-DK" sz="2000" dirty="0" err="1">
                <a:effectLst/>
                <a:latin typeface="Calibri" panose="020F0502020204030204" pitchFamily="34" charset="0"/>
                <a:ea typeface="Times New Roman" panose="02020603050405020304" pitchFamily="18" charset="0"/>
                <a:cs typeface="Times New Roman" panose="02020603050405020304" pitchFamily="18" charset="0"/>
              </a:rPr>
              <a:t>upolære</a:t>
            </a:r>
            <a:r>
              <a:rPr lang="da-DK" sz="2000" dirty="0">
                <a:effectLst/>
                <a:latin typeface="Calibri" panose="020F0502020204030204" pitchFamily="34" charset="0"/>
                <a:ea typeface="Times New Roman" panose="02020603050405020304" pitchFamily="18" charset="0"/>
                <a:cs typeface="Times New Roman" panose="02020603050405020304" pitchFamily="18" charset="0"/>
              </a:rPr>
              <a:t> molekyler </a:t>
            </a:r>
            <a:endParaRPr lang="da-DK" sz="2000" dirty="0">
              <a:effectLst/>
              <a:latin typeface="Times New Roman" panose="02020603050405020304" pitchFamily="18" charset="0"/>
              <a:ea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cs typeface="Times New Roman" panose="02020603050405020304" pitchFamily="18" charset="0"/>
              </a:rPr>
              <a:t>Londonbindinger er den svageste form for IMK</a:t>
            </a:r>
            <a:endParaRPr lang="da-DK" sz="2000" dirty="0">
              <a:effectLst/>
              <a:latin typeface="Times New Roman" panose="02020603050405020304" pitchFamily="18" charset="0"/>
              <a:ea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cs typeface="Times New Roman" panose="02020603050405020304" pitchFamily="18" charset="0"/>
              </a:rPr>
              <a:t>Jo større et molekyle er, jo stærkere er Londonbindingerne</a:t>
            </a:r>
            <a:endParaRPr lang="da-DK" sz="2000" dirty="0">
              <a:effectLst/>
              <a:latin typeface="Times New Roman" panose="02020603050405020304" pitchFamily="18" charset="0"/>
              <a:ea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cs typeface="Times New Roman" panose="02020603050405020304" pitchFamily="18" charset="0"/>
              </a:rPr>
              <a:t>Jo mere langstrakt et molekyle er, jo stærkere er </a:t>
            </a:r>
            <a:r>
              <a:rPr lang="da-DK" sz="2000" dirty="0" err="1">
                <a:effectLst/>
                <a:latin typeface="Calibri" panose="020F0502020204030204" pitchFamily="34" charset="0"/>
                <a:ea typeface="Times New Roman" panose="02020603050405020304" pitchFamily="18" charset="0"/>
                <a:cs typeface="Times New Roman" panose="02020603050405020304" pitchFamily="18" charset="0"/>
              </a:rPr>
              <a:t>Londinbindingerne</a:t>
            </a:r>
            <a:r>
              <a:rPr lang="da-DK" sz="2000" dirty="0">
                <a:effectLst/>
                <a:latin typeface="Calibri" panose="020F0502020204030204" pitchFamily="34" charset="0"/>
                <a:ea typeface="Times New Roman" panose="02020603050405020304" pitchFamily="18" charset="0"/>
                <a:cs typeface="Times New Roman" panose="02020603050405020304" pitchFamily="18" charset="0"/>
              </a:rPr>
              <a:t>, da de har en større overflade at arbejde på</a:t>
            </a:r>
            <a:endParaRPr lang="da-DK" sz="2000" dirty="0">
              <a:effectLst/>
              <a:latin typeface="Times New Roman" panose="02020603050405020304" pitchFamily="18" charset="0"/>
              <a:ea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da-DK" sz="2000" dirty="0">
                <a:effectLst/>
                <a:latin typeface="Calibri" panose="020F0502020204030204" pitchFamily="34" charset="0"/>
                <a:ea typeface="Times New Roman" panose="02020603050405020304" pitchFamily="18" charset="0"/>
                <a:cs typeface="Times New Roman" panose="02020603050405020304" pitchFamily="18" charset="0"/>
              </a:rPr>
              <a:t>Jo flere elektroner et molekyle indeholder, jo større er sandsynligheden for, at der kan dannes en spontan dipol. Det betyder samtidig, at jo flere elektroner et molekyle indeholder, jo stærkere er Londonbindingerne</a:t>
            </a:r>
            <a:endParaRPr lang="da-DK"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87162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59C7F3-9138-1F5B-9336-42F61BA8EDFF}"/>
              </a:ext>
            </a:extLst>
          </p:cNvPr>
          <p:cNvSpPr>
            <a:spLocks noGrp="1"/>
          </p:cNvSpPr>
          <p:nvPr>
            <p:ph type="title"/>
          </p:nvPr>
        </p:nvSpPr>
        <p:spPr/>
        <p:txBody>
          <a:bodyPr/>
          <a:lstStyle/>
          <a:p>
            <a:r>
              <a:rPr lang="da-DK" dirty="0"/>
              <a:t>Dipoldipolkræfter</a:t>
            </a:r>
          </a:p>
        </p:txBody>
      </p:sp>
      <p:sp>
        <p:nvSpPr>
          <p:cNvPr id="13" name="Tekstfelt 12">
            <a:extLst>
              <a:ext uri="{FF2B5EF4-FFF2-40B4-BE49-F238E27FC236}">
                <a16:creationId xmlns:a16="http://schemas.microsoft.com/office/drawing/2014/main" id="{70D81F13-FEFC-F661-65C3-AA579E7F692D}"/>
              </a:ext>
            </a:extLst>
          </p:cNvPr>
          <p:cNvSpPr txBox="1"/>
          <p:nvPr/>
        </p:nvSpPr>
        <p:spPr>
          <a:xfrm>
            <a:off x="1045952" y="1674674"/>
            <a:ext cx="10177014" cy="2246769"/>
          </a:xfrm>
          <a:prstGeom prst="rect">
            <a:avLst/>
          </a:prstGeom>
          <a:noFill/>
        </p:spPr>
        <p:txBody>
          <a:bodyPr wrap="square">
            <a:spAutoFit/>
          </a:bodyPr>
          <a:lstStyle/>
          <a:p>
            <a:pPr marL="342900" lvl="0" indent="-342900">
              <a:buFont typeface="Symbol" panose="05050102010706020507" pitchFamily="18" charset="2"/>
              <a:buChar char=""/>
            </a:pPr>
            <a:r>
              <a:rPr lang="da-DK" sz="2000" dirty="0">
                <a:effectLst/>
                <a:latin typeface="Calibri" panose="020F0502020204030204" pitchFamily="34" charset="0"/>
                <a:ea typeface="Calibri" panose="020F0502020204030204" pitchFamily="34" charset="0"/>
                <a:cs typeface="Calibri" panose="020F0502020204030204" pitchFamily="34" charset="0"/>
              </a:rPr>
              <a:t>Virker mellem polære molekyler</a:t>
            </a:r>
          </a:p>
          <a:p>
            <a:pPr lvl="0"/>
            <a:endParaRPr lang="da-DK" sz="20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Symbol" panose="05050102010706020507" pitchFamily="18" charset="2"/>
              <a:buChar char=""/>
            </a:pPr>
            <a:r>
              <a:rPr lang="da-DK" sz="2000" dirty="0">
                <a:effectLst/>
                <a:latin typeface="Calibri" panose="020F0502020204030204" pitchFamily="34" charset="0"/>
                <a:ea typeface="Calibri" panose="020F0502020204030204" pitchFamily="34" charset="0"/>
                <a:cs typeface="Calibri" panose="020F0502020204030204" pitchFamily="34" charset="0"/>
              </a:rPr>
              <a:t>I modsætning til </a:t>
            </a:r>
            <a:r>
              <a:rPr lang="da-DK" sz="2000" dirty="0" err="1">
                <a:effectLst/>
                <a:latin typeface="Calibri" panose="020F0502020204030204" pitchFamily="34" charset="0"/>
                <a:ea typeface="Calibri" panose="020F0502020204030204" pitchFamily="34" charset="0"/>
                <a:cs typeface="Calibri" panose="020F0502020204030204" pitchFamily="34" charset="0"/>
              </a:rPr>
              <a:t>Londonbindingern</a:t>
            </a:r>
            <a:r>
              <a:rPr lang="da-DK" sz="2000" dirty="0">
                <a:effectLst/>
                <a:latin typeface="Calibri" panose="020F0502020204030204" pitchFamily="34" charset="0"/>
                <a:ea typeface="Calibri" panose="020F0502020204030204" pitchFamily="34" charset="0"/>
                <a:cs typeface="Calibri" panose="020F0502020204030204" pitchFamily="34" charset="0"/>
              </a:rPr>
              <a:t>, som er spontane dipoler, så skyldes dipol-dipol kræfterne permanente elektriske dipoler</a:t>
            </a:r>
          </a:p>
          <a:p>
            <a:pPr lvl="0"/>
            <a:endParaRPr lang="da-DK" sz="20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Symbol" panose="05050102010706020507" pitchFamily="18" charset="2"/>
              <a:buChar char=""/>
            </a:pPr>
            <a:r>
              <a:rPr lang="da-DK" sz="2000" dirty="0">
                <a:effectLst/>
                <a:latin typeface="Calibri" panose="020F0502020204030204" pitchFamily="34" charset="0"/>
                <a:ea typeface="Calibri" panose="020F0502020204030204" pitchFamily="34" charset="0"/>
                <a:cs typeface="Calibri" panose="020F0502020204030204" pitchFamily="34" charset="0"/>
              </a:rPr>
              <a:t>Dipol-dipolkræfter er stærkest, når der er stor forskel i elektronegativitet mellem atomerne i den polære binding</a:t>
            </a:r>
          </a:p>
        </p:txBody>
      </p:sp>
      <p:pic>
        <p:nvPicPr>
          <p:cNvPr id="15" name="Billede 14">
            <a:extLst>
              <a:ext uri="{FF2B5EF4-FFF2-40B4-BE49-F238E27FC236}">
                <a16:creationId xmlns:a16="http://schemas.microsoft.com/office/drawing/2014/main" id="{8A2F56BC-FD42-07BD-3460-2F874E881228}"/>
              </a:ext>
            </a:extLst>
          </p:cNvPr>
          <p:cNvPicPr>
            <a:picLocks noChangeAspect="1"/>
          </p:cNvPicPr>
          <p:nvPr/>
        </p:nvPicPr>
        <p:blipFill>
          <a:blip r:embed="rId2"/>
          <a:stretch>
            <a:fillRect/>
          </a:stretch>
        </p:blipFill>
        <p:spPr>
          <a:xfrm>
            <a:off x="3425355" y="4311701"/>
            <a:ext cx="4582164" cy="1838582"/>
          </a:xfrm>
          <a:prstGeom prst="rect">
            <a:avLst/>
          </a:prstGeom>
        </p:spPr>
      </p:pic>
    </p:spTree>
    <p:extLst>
      <p:ext uri="{BB962C8B-B14F-4D97-AF65-F5344CB8AC3E}">
        <p14:creationId xmlns:p14="http://schemas.microsoft.com/office/powerpoint/2010/main" val="250519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7713B2-EFD9-3DDE-CD8F-2E4FEFE47A2A}"/>
              </a:ext>
            </a:extLst>
          </p:cNvPr>
          <p:cNvSpPr>
            <a:spLocks noGrp="1"/>
          </p:cNvSpPr>
          <p:nvPr>
            <p:ph type="title"/>
          </p:nvPr>
        </p:nvSpPr>
        <p:spPr/>
        <p:txBody>
          <a:bodyPr/>
          <a:lstStyle/>
          <a:p>
            <a:r>
              <a:rPr lang="da-DK" dirty="0"/>
              <a:t>Hydrogenbindinger</a:t>
            </a:r>
          </a:p>
        </p:txBody>
      </p:sp>
      <p:sp>
        <p:nvSpPr>
          <p:cNvPr id="4" name="Tekstfelt 3">
            <a:extLst>
              <a:ext uri="{FF2B5EF4-FFF2-40B4-BE49-F238E27FC236}">
                <a16:creationId xmlns:a16="http://schemas.microsoft.com/office/drawing/2014/main" id="{7EFB2FA6-B255-6133-A114-D0CB858A7DC8}"/>
              </a:ext>
            </a:extLst>
          </p:cNvPr>
          <p:cNvSpPr txBox="1"/>
          <p:nvPr/>
        </p:nvSpPr>
        <p:spPr>
          <a:xfrm>
            <a:off x="1037326" y="1690688"/>
            <a:ext cx="9944100" cy="1631216"/>
          </a:xfrm>
          <a:prstGeom prst="rect">
            <a:avLst/>
          </a:prstGeom>
          <a:noFill/>
        </p:spPr>
        <p:txBody>
          <a:bodyPr wrap="square">
            <a:spAutoFit/>
          </a:bodyPr>
          <a:lstStyle/>
          <a:p>
            <a:pPr marL="342900" lvl="0" indent="-342900">
              <a:buFont typeface="Symbol" panose="05050102010706020507" pitchFamily="18" charset="2"/>
              <a:buChar char=""/>
            </a:pPr>
            <a:r>
              <a:rPr lang="da-DK" sz="2000" dirty="0">
                <a:effectLst/>
                <a:latin typeface="Calibri" panose="020F0502020204030204" pitchFamily="34" charset="0"/>
                <a:ea typeface="Calibri" panose="020F0502020204030204" pitchFamily="34" charset="0"/>
                <a:cs typeface="Calibri" panose="020F0502020204030204" pitchFamily="34" charset="0"/>
              </a:rPr>
              <a:t>Den stærkeste form for IMK. </a:t>
            </a:r>
            <a:r>
              <a:rPr lang="da-DK" sz="2000" b="1" dirty="0">
                <a:effectLst/>
                <a:latin typeface="Calibri" panose="020F0502020204030204" pitchFamily="34" charset="0"/>
                <a:ea typeface="Calibri" panose="020F0502020204030204" pitchFamily="34" charset="0"/>
                <a:cs typeface="Calibri" panose="020F0502020204030204" pitchFamily="34" charset="0"/>
              </a:rPr>
              <a:t>Kovalente bindinger</a:t>
            </a:r>
            <a:r>
              <a:rPr lang="da-DK" sz="2000" dirty="0">
                <a:effectLst/>
                <a:latin typeface="Calibri" panose="020F0502020204030204" pitchFamily="34" charset="0"/>
                <a:ea typeface="Calibri" panose="020F0502020204030204" pitchFamily="34" charset="0"/>
                <a:cs typeface="Calibri" panose="020F0502020204030204" pitchFamily="34" charset="0"/>
              </a:rPr>
              <a:t> er dog stadig ca. ti gange stærkere end hydrogenbindinger</a:t>
            </a:r>
          </a:p>
          <a:p>
            <a:pPr lvl="0"/>
            <a:endParaRPr lang="da-DK" sz="20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Symbol" panose="05050102010706020507" pitchFamily="18" charset="2"/>
              <a:buChar char=""/>
            </a:pPr>
            <a:r>
              <a:rPr lang="da-DK" sz="2000" dirty="0">
                <a:effectLst/>
                <a:latin typeface="Calibri" panose="020F0502020204030204" pitchFamily="34" charset="0"/>
                <a:ea typeface="Calibri" panose="020F0502020204030204" pitchFamily="34" charset="0"/>
                <a:cs typeface="Calibri" panose="020F0502020204030204" pitchFamily="34" charset="0"/>
              </a:rPr>
              <a:t>Virker mellem polære molekyler som indeholder enten N, O eller F som er bundet til et H-atom som i fx HF, H</a:t>
            </a:r>
            <a:r>
              <a:rPr lang="da-DK" sz="2000" baseline="-25000" dirty="0">
                <a:effectLst/>
                <a:latin typeface="Calibri" panose="020F0502020204030204" pitchFamily="34" charset="0"/>
                <a:ea typeface="Calibri" panose="020F0502020204030204" pitchFamily="34" charset="0"/>
                <a:cs typeface="Calibri" panose="020F0502020204030204" pitchFamily="34" charset="0"/>
              </a:rPr>
              <a:t>2</a:t>
            </a:r>
            <a:r>
              <a:rPr lang="da-DK" sz="2000" dirty="0">
                <a:effectLst/>
                <a:latin typeface="Calibri" panose="020F0502020204030204" pitchFamily="34" charset="0"/>
                <a:ea typeface="Calibri" panose="020F0502020204030204" pitchFamily="34" charset="0"/>
                <a:cs typeface="Calibri" panose="020F0502020204030204" pitchFamily="34" charset="0"/>
              </a:rPr>
              <a:t>O og NH</a:t>
            </a:r>
            <a:r>
              <a:rPr lang="da-DK" sz="2000" baseline="-25000" dirty="0">
                <a:effectLst/>
                <a:latin typeface="Calibri" panose="020F0502020204030204" pitchFamily="34" charset="0"/>
                <a:ea typeface="Calibri" panose="020F0502020204030204" pitchFamily="34" charset="0"/>
                <a:cs typeface="Calibri" panose="020F0502020204030204" pitchFamily="34" charset="0"/>
              </a:rPr>
              <a:t>3</a:t>
            </a:r>
            <a:r>
              <a:rPr lang="da-DK" sz="2000" dirty="0">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436018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931B88-BE60-726C-522B-221A17BFA99C}"/>
              </a:ext>
            </a:extLst>
          </p:cNvPr>
          <p:cNvSpPr>
            <a:spLocks noGrp="1"/>
          </p:cNvSpPr>
          <p:nvPr>
            <p:ph type="title"/>
          </p:nvPr>
        </p:nvSpPr>
        <p:spPr/>
        <p:txBody>
          <a:bodyPr>
            <a:normAutofit fontScale="90000"/>
          </a:bodyPr>
          <a:lstStyle/>
          <a:p>
            <a:r>
              <a:rPr lang="da-DK" dirty="0"/>
              <a:t>Kig på molekylformlerne for de syv forbindelser og inddel dem i to grupper. Begrund opdelingen.</a:t>
            </a:r>
          </a:p>
        </p:txBody>
      </p:sp>
      <p:graphicFrame>
        <p:nvGraphicFramePr>
          <p:cNvPr id="3" name="Tabel 2">
            <a:extLst>
              <a:ext uri="{FF2B5EF4-FFF2-40B4-BE49-F238E27FC236}">
                <a16:creationId xmlns:a16="http://schemas.microsoft.com/office/drawing/2014/main" id="{B858A744-DEE5-19A9-5AFC-5A1B7E5950F7}"/>
              </a:ext>
            </a:extLst>
          </p:cNvPr>
          <p:cNvGraphicFramePr>
            <a:graphicFrameLocks noGrp="1"/>
          </p:cNvGraphicFramePr>
          <p:nvPr>
            <p:extLst>
              <p:ext uri="{D42A27DB-BD31-4B8C-83A1-F6EECF244321}">
                <p14:modId xmlns:p14="http://schemas.microsoft.com/office/powerpoint/2010/main" val="261101938"/>
              </p:ext>
            </p:extLst>
          </p:nvPr>
        </p:nvGraphicFramePr>
        <p:xfrm>
          <a:off x="1044814" y="2424384"/>
          <a:ext cx="9919361" cy="3933285"/>
        </p:xfrm>
        <a:graphic>
          <a:graphicData uri="http://schemas.openxmlformats.org/drawingml/2006/table">
            <a:tbl>
              <a:tblPr firstRow="1" firstCol="1" bandRow="1">
                <a:tableStyleId>{5C22544A-7EE6-4342-B048-85BDC9FD1C3A}</a:tableStyleId>
              </a:tblPr>
              <a:tblGrid>
                <a:gridCol w="1388390">
                  <a:extLst>
                    <a:ext uri="{9D8B030D-6E8A-4147-A177-3AD203B41FA5}">
                      <a16:colId xmlns:a16="http://schemas.microsoft.com/office/drawing/2014/main" val="3818738520"/>
                    </a:ext>
                  </a:extLst>
                </a:gridCol>
                <a:gridCol w="1280046">
                  <a:extLst>
                    <a:ext uri="{9D8B030D-6E8A-4147-A177-3AD203B41FA5}">
                      <a16:colId xmlns:a16="http://schemas.microsoft.com/office/drawing/2014/main" val="1121307719"/>
                    </a:ext>
                  </a:extLst>
                </a:gridCol>
                <a:gridCol w="3270341">
                  <a:extLst>
                    <a:ext uri="{9D8B030D-6E8A-4147-A177-3AD203B41FA5}">
                      <a16:colId xmlns:a16="http://schemas.microsoft.com/office/drawing/2014/main" val="21496375"/>
                    </a:ext>
                  </a:extLst>
                </a:gridCol>
                <a:gridCol w="995147">
                  <a:extLst>
                    <a:ext uri="{9D8B030D-6E8A-4147-A177-3AD203B41FA5}">
                      <a16:colId xmlns:a16="http://schemas.microsoft.com/office/drawing/2014/main" val="2875957986"/>
                    </a:ext>
                  </a:extLst>
                </a:gridCol>
                <a:gridCol w="853699">
                  <a:extLst>
                    <a:ext uri="{9D8B030D-6E8A-4147-A177-3AD203B41FA5}">
                      <a16:colId xmlns:a16="http://schemas.microsoft.com/office/drawing/2014/main" val="2775862954"/>
                    </a:ext>
                  </a:extLst>
                </a:gridCol>
                <a:gridCol w="852695">
                  <a:extLst>
                    <a:ext uri="{9D8B030D-6E8A-4147-A177-3AD203B41FA5}">
                      <a16:colId xmlns:a16="http://schemas.microsoft.com/office/drawing/2014/main" val="4183785267"/>
                    </a:ext>
                  </a:extLst>
                </a:gridCol>
                <a:gridCol w="1279043">
                  <a:extLst>
                    <a:ext uri="{9D8B030D-6E8A-4147-A177-3AD203B41FA5}">
                      <a16:colId xmlns:a16="http://schemas.microsoft.com/office/drawing/2014/main" val="2779694286"/>
                    </a:ext>
                  </a:extLst>
                </a:gridCol>
              </a:tblGrid>
              <a:tr h="786657">
                <a:tc>
                  <a:txBody>
                    <a:bodyPr/>
                    <a:lstStyle/>
                    <a:p>
                      <a:pPr algn="ctr"/>
                      <a:r>
                        <a:rPr lang="da-DK" sz="1200">
                          <a:effectLst/>
                        </a:rPr>
                        <a:t>Stof</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Molekyl-</a:t>
                      </a:r>
                      <a:endParaRPr lang="da-DK" sz="1000">
                        <a:effectLst/>
                      </a:endParaRPr>
                    </a:p>
                    <a:p>
                      <a:pPr algn="ctr"/>
                      <a:r>
                        <a:rPr lang="da-DK" sz="1200">
                          <a:effectLst/>
                        </a:rPr>
                        <a:t>formel</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Strukturformel</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Molar-masse</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t</a:t>
                      </a:r>
                      <a:r>
                        <a:rPr lang="da-DK" sz="1200" baseline="-25000">
                          <a:effectLst/>
                        </a:rPr>
                        <a:t>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t</a:t>
                      </a:r>
                      <a:r>
                        <a:rPr lang="da-DK" sz="1200" baseline="-25000">
                          <a:effectLst/>
                        </a:rPr>
                        <a:t>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sym typeface="Symbol" panose="05050102010706020507" pitchFamily="18" charset="2"/>
                        </a:rPr>
                        <a:t></a:t>
                      </a:r>
                      <a:r>
                        <a:rPr lang="da-DK" sz="1200">
                          <a:effectLst/>
                        </a:rPr>
                        <a:t>t = t</a:t>
                      </a:r>
                      <a:r>
                        <a:rPr lang="da-DK" sz="1200" baseline="-25000">
                          <a:effectLst/>
                        </a:rPr>
                        <a:t>1</a:t>
                      </a:r>
                      <a:r>
                        <a:rPr lang="da-DK" sz="1200">
                          <a:effectLst/>
                        </a:rPr>
                        <a:t> – t</a:t>
                      </a:r>
                      <a:r>
                        <a:rPr lang="da-DK" sz="1200" baseline="-25000">
                          <a:effectLst/>
                        </a:rPr>
                        <a:t>2</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12288789"/>
                  </a:ext>
                </a:extLst>
              </a:tr>
              <a:tr h="262219">
                <a:tc>
                  <a:txBody>
                    <a:bodyPr/>
                    <a:lstStyle/>
                    <a:p>
                      <a:r>
                        <a:rPr lang="da-DK" sz="1200">
                          <a:solidFill>
                            <a:srgbClr val="FFFF00"/>
                          </a:solidFill>
                          <a:effectLst/>
                        </a:rPr>
                        <a:t>Pentan</a:t>
                      </a:r>
                      <a:endParaRPr lang="da-DK" sz="1000">
                        <a:solidFill>
                          <a:srgbClr val="FFFF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5</a:t>
                      </a:r>
                      <a:r>
                        <a:rPr lang="da-DK" sz="1200">
                          <a:effectLst/>
                        </a:rPr>
                        <a:t>H</a:t>
                      </a:r>
                      <a:r>
                        <a:rPr lang="da-DK" sz="1200" baseline="-25000">
                          <a:effectLst/>
                        </a:rPr>
                        <a:t>12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3</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72,1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-0,2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21,2</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67758485"/>
                  </a:ext>
                </a:extLst>
              </a:tr>
              <a:tr h="524438">
                <a:tc>
                  <a:txBody>
                    <a:bodyPr/>
                    <a:lstStyle/>
                    <a:p>
                      <a:r>
                        <a:rPr lang="da-DK" sz="1200">
                          <a:solidFill>
                            <a:srgbClr val="FFFF00"/>
                          </a:solidFill>
                          <a:effectLst/>
                        </a:rPr>
                        <a:t>Hexan</a:t>
                      </a:r>
                      <a:endParaRPr lang="da-DK" sz="1000">
                        <a:solidFill>
                          <a:srgbClr val="FFFF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6</a:t>
                      </a:r>
                      <a:r>
                        <a:rPr lang="da-DK" sz="1200">
                          <a:effectLst/>
                        </a:rPr>
                        <a:t>H</a:t>
                      </a:r>
                      <a:r>
                        <a:rPr lang="da-DK" sz="1200" baseline="-25000">
                          <a:effectLst/>
                        </a:rPr>
                        <a:t>14</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dirty="0">
                          <a:effectLst/>
                        </a:rPr>
                        <a:t>CH</a:t>
                      </a:r>
                      <a:r>
                        <a:rPr lang="en-US" sz="1200" baseline="-25000" dirty="0">
                          <a:effectLst/>
                        </a:rPr>
                        <a:t>3</a:t>
                      </a:r>
                      <a:r>
                        <a:rPr lang="en-US" sz="1200" dirty="0">
                          <a:effectLst/>
                        </a:rPr>
                        <a:t>-CH</a:t>
                      </a:r>
                      <a:r>
                        <a:rPr lang="en-US" sz="1200" baseline="-25000" dirty="0">
                          <a:effectLst/>
                        </a:rPr>
                        <a:t>2</a:t>
                      </a:r>
                      <a:r>
                        <a:rPr lang="en-US" sz="1200" dirty="0">
                          <a:effectLst/>
                        </a:rPr>
                        <a:t>-CH</a:t>
                      </a:r>
                      <a:r>
                        <a:rPr lang="en-US" sz="1200" baseline="-25000" dirty="0">
                          <a:effectLst/>
                        </a:rPr>
                        <a:t>2</a:t>
                      </a:r>
                      <a:r>
                        <a:rPr lang="en-US" sz="1200" dirty="0">
                          <a:effectLst/>
                        </a:rPr>
                        <a:t>-CH</a:t>
                      </a:r>
                      <a:r>
                        <a:rPr lang="en-US" sz="1200" baseline="-25000" dirty="0">
                          <a:effectLst/>
                        </a:rPr>
                        <a:t>2</a:t>
                      </a:r>
                      <a:r>
                        <a:rPr lang="en-US" sz="1200" dirty="0">
                          <a:effectLst/>
                        </a:rPr>
                        <a:t>-CH</a:t>
                      </a:r>
                      <a:r>
                        <a:rPr lang="en-US" sz="1200" baseline="-25000" dirty="0">
                          <a:effectLst/>
                        </a:rPr>
                        <a:t>2</a:t>
                      </a:r>
                      <a:r>
                        <a:rPr lang="en-US" sz="1200" dirty="0">
                          <a:effectLst/>
                        </a:rPr>
                        <a:t>-CH</a:t>
                      </a:r>
                      <a:r>
                        <a:rPr lang="en-US" sz="1200" baseline="-25000" dirty="0">
                          <a:effectLst/>
                        </a:rPr>
                        <a:t>3</a:t>
                      </a:r>
                      <a:endParaRPr lang="da-DK"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86,2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9,3</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11,7</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11811328"/>
                  </a:ext>
                </a:extLst>
              </a:tr>
              <a:tr h="524438">
                <a:tc>
                  <a:txBody>
                    <a:bodyPr/>
                    <a:lstStyle/>
                    <a:p>
                      <a:r>
                        <a:rPr lang="da-DK" sz="1200" dirty="0">
                          <a:solidFill>
                            <a:srgbClr val="FFFF00"/>
                          </a:solidFill>
                          <a:effectLst/>
                        </a:rPr>
                        <a:t>Heptan</a:t>
                      </a:r>
                      <a:endParaRPr lang="da-DK" sz="1000" dirty="0">
                        <a:solidFill>
                          <a:srgbClr val="FFFF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7</a:t>
                      </a:r>
                      <a:r>
                        <a:rPr lang="da-DK" sz="1200">
                          <a:effectLst/>
                        </a:rPr>
                        <a:t>H</a:t>
                      </a:r>
                      <a:r>
                        <a:rPr lang="da-DK" sz="1200" baseline="-25000">
                          <a:effectLst/>
                        </a:rPr>
                        <a:t>16</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3</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100,2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10</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75054841"/>
                  </a:ext>
                </a:extLst>
              </a:tr>
              <a:tr h="262219">
                <a:tc>
                  <a:txBody>
                    <a:bodyPr/>
                    <a:lstStyle/>
                    <a:p>
                      <a:r>
                        <a:rPr lang="da-DK" sz="1200">
                          <a:solidFill>
                            <a:srgbClr val="FFC000"/>
                          </a:solidFill>
                          <a:effectLst/>
                        </a:rPr>
                        <a:t>Ethanol</a:t>
                      </a:r>
                      <a:endParaRPr lang="da-DK" sz="1000">
                        <a:solidFill>
                          <a:srgbClr val="FFC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2</a:t>
                      </a:r>
                      <a:r>
                        <a:rPr lang="da-DK" sz="1200">
                          <a:effectLst/>
                        </a:rPr>
                        <a:t>H</a:t>
                      </a:r>
                      <a:r>
                        <a:rPr lang="da-DK" sz="1200" baseline="-25000">
                          <a:effectLst/>
                        </a:rPr>
                        <a:t>5</a:t>
                      </a:r>
                      <a:r>
                        <a:rPr lang="da-DK"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46,1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10,9</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10,1</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63717736"/>
                  </a:ext>
                </a:extLst>
              </a:tr>
              <a:tr h="524438">
                <a:tc>
                  <a:txBody>
                    <a:bodyPr/>
                    <a:lstStyle/>
                    <a:p>
                      <a:r>
                        <a:rPr lang="da-DK" sz="1200">
                          <a:solidFill>
                            <a:srgbClr val="FFC000"/>
                          </a:solidFill>
                          <a:effectLst/>
                        </a:rPr>
                        <a:t>Propan-1-ol</a:t>
                      </a:r>
                      <a:endParaRPr lang="da-DK" sz="1000">
                        <a:solidFill>
                          <a:srgbClr val="FFC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dirty="0">
                          <a:effectLst/>
                        </a:rPr>
                        <a:t>C</a:t>
                      </a:r>
                      <a:r>
                        <a:rPr lang="da-DK" sz="1200" baseline="-25000" dirty="0">
                          <a:effectLst/>
                        </a:rPr>
                        <a:t>3</a:t>
                      </a:r>
                      <a:r>
                        <a:rPr lang="da-DK" sz="1200" dirty="0">
                          <a:effectLst/>
                        </a:rPr>
                        <a:t>H</a:t>
                      </a:r>
                      <a:r>
                        <a:rPr lang="da-DK" sz="1200" baseline="-25000" dirty="0">
                          <a:effectLst/>
                        </a:rPr>
                        <a:t>7</a:t>
                      </a:r>
                      <a:r>
                        <a:rPr lang="da-DK" sz="1200" dirty="0">
                          <a:effectLst/>
                        </a:rPr>
                        <a:t>OH</a:t>
                      </a:r>
                      <a:endParaRPr lang="da-DK"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60,1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14,9</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6,1</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09882100"/>
                  </a:ext>
                </a:extLst>
              </a:tr>
              <a:tr h="524438">
                <a:tc>
                  <a:txBody>
                    <a:bodyPr/>
                    <a:lstStyle/>
                    <a:p>
                      <a:r>
                        <a:rPr lang="da-DK" sz="1200">
                          <a:solidFill>
                            <a:srgbClr val="FFC000"/>
                          </a:solidFill>
                          <a:effectLst/>
                        </a:rPr>
                        <a:t>Butan-1-ol</a:t>
                      </a:r>
                      <a:endParaRPr lang="da-DK" sz="1000">
                        <a:solidFill>
                          <a:srgbClr val="FFC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4</a:t>
                      </a:r>
                      <a:r>
                        <a:rPr lang="da-DK" sz="1200">
                          <a:effectLst/>
                        </a:rPr>
                        <a:t>H</a:t>
                      </a:r>
                      <a:r>
                        <a:rPr lang="da-DK" sz="1200" baseline="-25000">
                          <a:effectLst/>
                        </a:rPr>
                        <a:t>9</a:t>
                      </a:r>
                      <a:r>
                        <a:rPr lang="da-DK"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74,1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19,2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1,8</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42541152"/>
                  </a:ext>
                </a:extLst>
              </a:tr>
              <a:tr h="524438">
                <a:tc>
                  <a:txBody>
                    <a:bodyPr/>
                    <a:lstStyle/>
                    <a:p>
                      <a:r>
                        <a:rPr lang="da-DK" sz="1200" dirty="0">
                          <a:solidFill>
                            <a:srgbClr val="FFC000"/>
                          </a:solidFill>
                          <a:effectLst/>
                        </a:rPr>
                        <a:t>Pentan-1-ol</a:t>
                      </a:r>
                      <a:endParaRPr lang="da-DK" sz="1000" dirty="0">
                        <a:solidFill>
                          <a:srgbClr val="FFC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5</a:t>
                      </a:r>
                      <a:r>
                        <a:rPr lang="da-DK" sz="1200">
                          <a:effectLst/>
                        </a:rPr>
                        <a:t>H</a:t>
                      </a:r>
                      <a:r>
                        <a:rPr lang="da-DK" sz="1200" baseline="-25000">
                          <a:effectLst/>
                        </a:rPr>
                        <a:t>11</a:t>
                      </a:r>
                      <a:r>
                        <a:rPr lang="da-DK"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88,2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20,0</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dirty="0">
                          <a:effectLst/>
                        </a:rPr>
                        <a:t>1,0</a:t>
                      </a:r>
                      <a:endParaRPr lang="da-DK"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75754190"/>
                  </a:ext>
                </a:extLst>
              </a:tr>
            </a:tbl>
          </a:graphicData>
        </a:graphic>
      </p:graphicFrame>
    </p:spTree>
    <p:extLst>
      <p:ext uri="{BB962C8B-B14F-4D97-AF65-F5344CB8AC3E}">
        <p14:creationId xmlns:p14="http://schemas.microsoft.com/office/powerpoint/2010/main" val="2643186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FE108D-B130-2A6D-4091-2A87A59DDB59}"/>
              </a:ext>
            </a:extLst>
          </p:cNvPr>
          <p:cNvSpPr>
            <a:spLocks noGrp="1"/>
          </p:cNvSpPr>
          <p:nvPr>
            <p:ph type="title"/>
          </p:nvPr>
        </p:nvSpPr>
        <p:spPr/>
        <p:txBody>
          <a:bodyPr/>
          <a:lstStyle/>
          <a:p>
            <a:r>
              <a:rPr lang="da-DK" dirty="0"/>
              <a:t>Hvilket af følgende udsagn er rigtigt?</a:t>
            </a:r>
          </a:p>
        </p:txBody>
      </p:sp>
      <p:sp>
        <p:nvSpPr>
          <p:cNvPr id="4" name="Tekstfelt 3">
            <a:extLst>
              <a:ext uri="{FF2B5EF4-FFF2-40B4-BE49-F238E27FC236}">
                <a16:creationId xmlns:a16="http://schemas.microsoft.com/office/drawing/2014/main" id="{AF0AD7C1-70DF-9236-260B-8534781CC5FD}"/>
              </a:ext>
            </a:extLst>
          </p:cNvPr>
          <p:cNvSpPr txBox="1"/>
          <p:nvPr/>
        </p:nvSpPr>
        <p:spPr>
          <a:xfrm>
            <a:off x="962406" y="2123408"/>
            <a:ext cx="9580626" cy="3785652"/>
          </a:xfrm>
          <a:prstGeom prst="rect">
            <a:avLst/>
          </a:prstGeom>
          <a:noFill/>
        </p:spPr>
        <p:txBody>
          <a:bodyPr wrap="square">
            <a:spAutoFit/>
          </a:bodyPr>
          <a:lstStyle/>
          <a:p>
            <a:pPr lvl="0"/>
            <a:endParaRPr lang="da-DK" sz="4000" dirty="0">
              <a:effectLst/>
              <a:latin typeface="Times New Roman" panose="02020603050405020304" pitchFamily="18" charset="0"/>
              <a:ea typeface="Times New Roman" panose="02020603050405020304" pitchFamily="18" charset="0"/>
            </a:endParaRPr>
          </a:p>
          <a:p>
            <a:pPr marL="457200"/>
            <a:r>
              <a:rPr lang="da-DK" sz="4000" dirty="0">
                <a:effectLst/>
                <a:latin typeface="Calibri" panose="020F0502020204030204" pitchFamily="34" charset="0"/>
                <a:ea typeface="Times New Roman" panose="02020603050405020304" pitchFamily="18" charset="0"/>
              </a:rPr>
              <a:t>Store temperaturfald betyder, at de intermolekylære kræfter er relativt stærke</a:t>
            </a:r>
          </a:p>
          <a:p>
            <a:pPr marL="457200"/>
            <a:endParaRPr lang="da-DK" sz="4000" dirty="0">
              <a:effectLst/>
              <a:latin typeface="Times New Roman" panose="02020603050405020304" pitchFamily="18" charset="0"/>
              <a:ea typeface="Times New Roman" panose="02020603050405020304" pitchFamily="18" charset="0"/>
            </a:endParaRPr>
          </a:p>
          <a:p>
            <a:pPr marL="457200"/>
            <a:r>
              <a:rPr lang="da-DK" sz="4000" dirty="0">
                <a:solidFill>
                  <a:srgbClr val="0070C0"/>
                </a:solidFill>
                <a:effectLst/>
                <a:latin typeface="Calibri" panose="020F0502020204030204" pitchFamily="34" charset="0"/>
                <a:ea typeface="Times New Roman" panose="02020603050405020304" pitchFamily="18" charset="0"/>
              </a:rPr>
              <a:t>Store temperaturfald betyder, at de intermolekylære kræfter er relativt svage </a:t>
            </a:r>
            <a:endParaRPr lang="da-DK" sz="4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65344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0C0932-2622-01FC-FFD4-C10BA5D1915E}"/>
              </a:ext>
            </a:extLst>
          </p:cNvPr>
          <p:cNvSpPr>
            <a:spLocks noGrp="1"/>
          </p:cNvSpPr>
          <p:nvPr>
            <p:ph type="title"/>
          </p:nvPr>
        </p:nvSpPr>
        <p:spPr/>
        <p:txBody>
          <a:bodyPr/>
          <a:lstStyle/>
          <a:p>
            <a:r>
              <a:rPr lang="da-DK" dirty="0"/>
              <a:t>Hvilke intermolekylære kræfter er der tilstede i de to stofgrupper </a:t>
            </a:r>
            <a:r>
              <a:rPr lang="da-DK" dirty="0" err="1"/>
              <a:t>alkaner</a:t>
            </a:r>
            <a:r>
              <a:rPr lang="da-DK" dirty="0"/>
              <a:t> og alkoholer?</a:t>
            </a:r>
          </a:p>
        </p:txBody>
      </p:sp>
      <p:sp>
        <p:nvSpPr>
          <p:cNvPr id="4" name="Tekstfelt 3">
            <a:extLst>
              <a:ext uri="{FF2B5EF4-FFF2-40B4-BE49-F238E27FC236}">
                <a16:creationId xmlns:a16="http://schemas.microsoft.com/office/drawing/2014/main" id="{F2D738BD-43AC-5CBD-DBA6-F92438B9B4FC}"/>
              </a:ext>
            </a:extLst>
          </p:cNvPr>
          <p:cNvSpPr txBox="1"/>
          <p:nvPr/>
        </p:nvSpPr>
        <p:spPr>
          <a:xfrm>
            <a:off x="719328" y="2181130"/>
            <a:ext cx="10515600" cy="4431983"/>
          </a:xfrm>
          <a:prstGeom prst="rect">
            <a:avLst/>
          </a:prstGeom>
          <a:noFill/>
        </p:spPr>
        <p:txBody>
          <a:bodyPr wrap="square">
            <a:spAutoFit/>
          </a:bodyPr>
          <a:lstStyle/>
          <a:p>
            <a:pPr marL="457200"/>
            <a:r>
              <a:rPr lang="da-DK" sz="1800" dirty="0">
                <a:effectLst/>
                <a:latin typeface="Calibri" panose="020F0502020204030204" pitchFamily="34" charset="0"/>
                <a:ea typeface="Times New Roman" panose="02020603050405020304" pitchFamily="18" charset="0"/>
              </a:rPr>
              <a:t> </a:t>
            </a:r>
            <a:endParaRPr lang="da-DK" sz="1200" dirty="0">
              <a:effectLst/>
              <a:latin typeface="Times New Roman" panose="02020603050405020304" pitchFamily="18" charset="0"/>
              <a:ea typeface="Times New Roman" panose="02020603050405020304" pitchFamily="18" charset="0"/>
            </a:endParaRPr>
          </a:p>
          <a:p>
            <a:pPr marL="457200"/>
            <a:r>
              <a:rPr lang="da-DK" sz="1800" b="1" dirty="0" err="1">
                <a:effectLst/>
                <a:latin typeface="Calibri" panose="020F0502020204030204" pitchFamily="34" charset="0"/>
                <a:ea typeface="Times New Roman" panose="02020603050405020304" pitchFamily="18" charset="0"/>
              </a:rPr>
              <a:t>Alkaner</a:t>
            </a:r>
            <a:endParaRPr lang="da-DK" sz="1800" b="1" dirty="0">
              <a:effectLst/>
              <a:latin typeface="Calibri" panose="020F0502020204030204" pitchFamily="34" charset="0"/>
              <a:ea typeface="Times New Roman" panose="02020603050405020304" pitchFamily="18" charset="0"/>
            </a:endParaRPr>
          </a:p>
          <a:p>
            <a:pPr marL="457200"/>
            <a:br>
              <a:rPr lang="da-DK" sz="1800" dirty="0">
                <a:effectLst/>
                <a:latin typeface="Calibri" panose="020F0502020204030204" pitchFamily="34" charset="0"/>
                <a:ea typeface="Times New Roman" panose="02020603050405020304" pitchFamily="18" charset="0"/>
              </a:rPr>
            </a:br>
            <a:r>
              <a:rPr lang="da-DK" sz="1800" dirty="0" err="1">
                <a:effectLst/>
                <a:latin typeface="Calibri" panose="020F0502020204030204" pitchFamily="34" charset="0"/>
                <a:ea typeface="Times New Roman" panose="02020603050405020304" pitchFamily="18" charset="0"/>
              </a:rPr>
              <a:t>Alkaner</a:t>
            </a:r>
            <a:r>
              <a:rPr lang="da-DK" sz="1800" dirty="0">
                <a:effectLst/>
                <a:latin typeface="Calibri" panose="020F0502020204030204" pitchFamily="34" charset="0"/>
                <a:ea typeface="Times New Roman" panose="02020603050405020304" pitchFamily="18" charset="0"/>
              </a:rPr>
              <a:t> er </a:t>
            </a:r>
            <a:r>
              <a:rPr lang="da-DK" sz="1800" dirty="0" err="1">
                <a:effectLst/>
                <a:latin typeface="Calibri" panose="020F0502020204030204" pitchFamily="34" charset="0"/>
                <a:ea typeface="Times New Roman" panose="02020603050405020304" pitchFamily="18" charset="0"/>
              </a:rPr>
              <a:t>upolære</a:t>
            </a:r>
            <a:r>
              <a:rPr lang="da-DK" sz="1800" dirty="0">
                <a:effectLst/>
                <a:latin typeface="Calibri" panose="020F0502020204030204" pitchFamily="34" charset="0"/>
                <a:ea typeface="Times New Roman" panose="02020603050405020304" pitchFamily="18" charset="0"/>
              </a:rPr>
              <a:t> molekyler, idet de udelukkende består af </a:t>
            </a:r>
            <a:r>
              <a:rPr lang="da-DK" sz="1800" dirty="0" err="1">
                <a:effectLst/>
                <a:latin typeface="Calibri" panose="020F0502020204030204" pitchFamily="34" charset="0"/>
                <a:ea typeface="Times New Roman" panose="02020603050405020304" pitchFamily="18" charset="0"/>
              </a:rPr>
              <a:t>carbon</a:t>
            </a:r>
            <a:r>
              <a:rPr lang="da-DK" sz="1800" dirty="0">
                <a:effectLst/>
                <a:latin typeface="Calibri" panose="020F0502020204030204" pitchFamily="34" charset="0"/>
                <a:ea typeface="Times New Roman" panose="02020603050405020304" pitchFamily="18" charset="0"/>
              </a:rPr>
              <a:t>- og hydrogenatomer med en relativt ensartet elektronegativitet. Dette medfører, at der </a:t>
            </a:r>
            <a:r>
              <a:rPr lang="da-DK" sz="1800" b="1" dirty="0">
                <a:effectLst/>
                <a:latin typeface="Calibri" panose="020F0502020204030204" pitchFamily="34" charset="0"/>
                <a:ea typeface="Times New Roman" panose="02020603050405020304" pitchFamily="18" charset="0"/>
              </a:rPr>
              <a:t>ikke</a:t>
            </a:r>
            <a:r>
              <a:rPr lang="da-DK" sz="1800" dirty="0">
                <a:effectLst/>
                <a:latin typeface="Calibri" panose="020F0502020204030204" pitchFamily="34" charset="0"/>
                <a:ea typeface="Times New Roman" panose="02020603050405020304" pitchFamily="18" charset="0"/>
              </a:rPr>
              <a:t> </a:t>
            </a:r>
            <a:r>
              <a:rPr lang="da-DK" sz="1800" b="1" dirty="0">
                <a:effectLst/>
                <a:latin typeface="Calibri" panose="020F0502020204030204" pitchFamily="34" charset="0"/>
                <a:ea typeface="Times New Roman" panose="02020603050405020304" pitchFamily="18" charset="0"/>
              </a:rPr>
              <a:t>dannes permanente dipoler </a:t>
            </a:r>
            <a:r>
              <a:rPr lang="da-DK" sz="1800" dirty="0">
                <a:effectLst/>
                <a:latin typeface="Calibri" panose="020F0502020204030204" pitchFamily="34" charset="0"/>
                <a:ea typeface="Times New Roman" panose="02020603050405020304" pitchFamily="18" charset="0"/>
              </a:rPr>
              <a:t>i molekylerne. </a:t>
            </a:r>
          </a:p>
          <a:p>
            <a:pPr marL="457200"/>
            <a:endParaRPr lang="da-DK" sz="1800" dirty="0">
              <a:effectLst/>
              <a:latin typeface="Calibri" panose="020F0502020204030204" pitchFamily="34" charset="0"/>
              <a:ea typeface="Times New Roman" panose="02020603050405020304" pitchFamily="18" charset="0"/>
            </a:endParaRPr>
          </a:p>
          <a:p>
            <a:pPr marL="457200"/>
            <a:r>
              <a:rPr lang="da-DK" sz="1800" dirty="0">
                <a:effectLst/>
                <a:latin typeface="Calibri" panose="020F0502020204030204" pitchFamily="34" charset="0"/>
                <a:ea typeface="Times New Roman" panose="02020603050405020304" pitchFamily="18" charset="0"/>
              </a:rPr>
              <a:t>De eneste intermolekylære kræfter, der forekommer mellem alkanmolekyler, er derfor </a:t>
            </a:r>
            <a:r>
              <a:rPr lang="da-DK" sz="1800" b="1" dirty="0">
                <a:effectLst/>
                <a:latin typeface="Calibri" panose="020F0502020204030204" pitchFamily="34" charset="0"/>
                <a:ea typeface="Times New Roman" panose="02020603050405020304" pitchFamily="18" charset="0"/>
              </a:rPr>
              <a:t>London-dispersionskræfter (midlertidige dipol–induceret dipol-interaktioner</a:t>
            </a:r>
            <a:r>
              <a:rPr lang="da-DK" sz="1800" dirty="0">
                <a:effectLst/>
                <a:latin typeface="Calibri" panose="020F0502020204030204" pitchFamily="34" charset="0"/>
                <a:ea typeface="Times New Roman" panose="02020603050405020304" pitchFamily="18" charset="0"/>
              </a:rPr>
              <a:t>). </a:t>
            </a:r>
          </a:p>
          <a:p>
            <a:pPr marL="457200"/>
            <a:endParaRPr lang="da-DK" sz="1800" dirty="0">
              <a:effectLst/>
              <a:latin typeface="Calibri" panose="020F0502020204030204" pitchFamily="34" charset="0"/>
              <a:ea typeface="Times New Roman" panose="02020603050405020304" pitchFamily="18" charset="0"/>
            </a:endParaRPr>
          </a:p>
          <a:p>
            <a:pPr marL="457200"/>
            <a:r>
              <a:rPr lang="da-DK" sz="1800" dirty="0">
                <a:effectLst/>
                <a:latin typeface="Calibri" panose="020F0502020204030204" pitchFamily="34" charset="0"/>
                <a:ea typeface="Times New Roman" panose="02020603050405020304" pitchFamily="18" charset="0"/>
              </a:rPr>
              <a:t>Disse opstår som følge af forbigående forskydninger i elektronskyen, der midlertidigt skaber små dipoler.</a:t>
            </a:r>
          </a:p>
          <a:p>
            <a:pPr marL="457200"/>
            <a:endParaRPr lang="da-DK" dirty="0">
              <a:latin typeface="Calibri" panose="020F0502020204030204" pitchFamily="34" charset="0"/>
              <a:ea typeface="Times New Roman" panose="02020603050405020304" pitchFamily="18" charset="0"/>
            </a:endParaRPr>
          </a:p>
          <a:p>
            <a:pPr marL="457200"/>
            <a:r>
              <a:rPr lang="da-DK" sz="1800" b="1" dirty="0">
                <a:effectLst/>
                <a:latin typeface="Calibri" panose="020F0502020204030204" pitchFamily="34" charset="0"/>
                <a:ea typeface="Times New Roman" panose="02020603050405020304" pitchFamily="18" charset="0"/>
              </a:rPr>
              <a:t>Londonkræfter er generelt de svageste intermolekylære kræfter </a:t>
            </a:r>
            <a:r>
              <a:rPr lang="da-DK" sz="1800" dirty="0">
                <a:effectLst/>
                <a:latin typeface="Calibri" panose="020F0502020204030204" pitchFamily="34" charset="0"/>
                <a:ea typeface="Times New Roman" panose="02020603050405020304" pitchFamily="18" charset="0"/>
              </a:rPr>
              <a:t>og forklarer blandt andet </a:t>
            </a:r>
            <a:r>
              <a:rPr lang="da-DK" sz="1800" dirty="0" err="1">
                <a:effectLst/>
                <a:latin typeface="Calibri" panose="020F0502020204030204" pitchFamily="34" charset="0"/>
                <a:ea typeface="Times New Roman" panose="02020603050405020304" pitchFamily="18" charset="0"/>
              </a:rPr>
              <a:t>alkaners</a:t>
            </a:r>
            <a:r>
              <a:rPr lang="da-DK" sz="1800" dirty="0">
                <a:effectLst/>
                <a:latin typeface="Calibri" panose="020F0502020204030204" pitchFamily="34" charset="0"/>
                <a:ea typeface="Times New Roman" panose="02020603050405020304" pitchFamily="18" charset="0"/>
              </a:rPr>
              <a:t> relativt lave kogepunkter.</a:t>
            </a:r>
            <a:endParaRPr lang="da-DK" sz="1200" dirty="0">
              <a:effectLst/>
              <a:latin typeface="Times New Roman" panose="02020603050405020304" pitchFamily="18" charset="0"/>
              <a:ea typeface="Times New Roman" panose="02020603050405020304" pitchFamily="18" charset="0"/>
            </a:endParaRPr>
          </a:p>
          <a:p>
            <a:pPr marL="457200"/>
            <a:endParaRPr lang="da-DK" sz="1800" b="1" dirty="0">
              <a:solidFill>
                <a:srgbClr val="0070C0"/>
              </a:solidFill>
              <a:effectLst/>
              <a:latin typeface="Calibri" panose="020F0502020204030204" pitchFamily="34" charset="0"/>
              <a:ea typeface="Times New Roman" panose="02020603050405020304" pitchFamily="18" charset="0"/>
            </a:endParaRPr>
          </a:p>
          <a:p>
            <a:pPr marL="457200"/>
            <a:endParaRPr lang="da-DK" sz="1200" dirty="0">
              <a:effectLst/>
              <a:latin typeface="Times New Roman" panose="02020603050405020304" pitchFamily="18" charset="0"/>
              <a:ea typeface="Times New Roman" panose="02020603050405020304" pitchFamily="18" charset="0"/>
            </a:endParaRPr>
          </a:p>
          <a:p>
            <a:pPr marL="457200"/>
            <a:r>
              <a:rPr lang="da-DK" sz="1800" dirty="0">
                <a:solidFill>
                  <a:srgbClr val="0070C0"/>
                </a:solidFill>
                <a:effectLst/>
                <a:latin typeface="Calibri" panose="020F0502020204030204" pitchFamily="34" charset="0"/>
                <a:ea typeface="Times New Roman" panose="02020603050405020304" pitchFamily="18" charset="0"/>
              </a:rPr>
              <a:t> </a:t>
            </a:r>
            <a:endParaRPr lang="da-DK"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02492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0C0932-2622-01FC-FFD4-C10BA5D1915E}"/>
              </a:ext>
            </a:extLst>
          </p:cNvPr>
          <p:cNvSpPr>
            <a:spLocks noGrp="1"/>
          </p:cNvSpPr>
          <p:nvPr>
            <p:ph type="title"/>
          </p:nvPr>
        </p:nvSpPr>
        <p:spPr/>
        <p:txBody>
          <a:bodyPr/>
          <a:lstStyle/>
          <a:p>
            <a:r>
              <a:rPr lang="da-DK" dirty="0"/>
              <a:t>Hvilke intermolekylære kræfter er der tilstede i de to stofgrupper </a:t>
            </a:r>
            <a:r>
              <a:rPr lang="da-DK" dirty="0" err="1"/>
              <a:t>alkaner</a:t>
            </a:r>
            <a:r>
              <a:rPr lang="da-DK" dirty="0"/>
              <a:t> og alkoholer?</a:t>
            </a:r>
          </a:p>
        </p:txBody>
      </p:sp>
      <p:sp>
        <p:nvSpPr>
          <p:cNvPr id="4" name="Tekstfelt 3">
            <a:extLst>
              <a:ext uri="{FF2B5EF4-FFF2-40B4-BE49-F238E27FC236}">
                <a16:creationId xmlns:a16="http://schemas.microsoft.com/office/drawing/2014/main" id="{F2D738BD-43AC-5CBD-DBA6-F92438B9B4FC}"/>
              </a:ext>
            </a:extLst>
          </p:cNvPr>
          <p:cNvSpPr txBox="1"/>
          <p:nvPr/>
        </p:nvSpPr>
        <p:spPr>
          <a:xfrm>
            <a:off x="719328" y="2181130"/>
            <a:ext cx="10515600" cy="4431983"/>
          </a:xfrm>
          <a:prstGeom prst="rect">
            <a:avLst/>
          </a:prstGeom>
          <a:noFill/>
        </p:spPr>
        <p:txBody>
          <a:bodyPr wrap="square">
            <a:spAutoFit/>
          </a:bodyPr>
          <a:lstStyle/>
          <a:p>
            <a:pPr marL="457200"/>
            <a:endParaRPr lang="da-DK" sz="1800" b="1" dirty="0">
              <a:solidFill>
                <a:srgbClr val="0070C0"/>
              </a:solidFill>
              <a:effectLst/>
              <a:latin typeface="Calibri" panose="020F0502020204030204" pitchFamily="34" charset="0"/>
              <a:ea typeface="Times New Roman" panose="02020603050405020304" pitchFamily="18" charset="0"/>
            </a:endParaRPr>
          </a:p>
          <a:p>
            <a:pPr marL="457200"/>
            <a:r>
              <a:rPr lang="da-DK" sz="1800" b="1" dirty="0">
                <a:effectLst/>
                <a:latin typeface="Calibri" panose="020F0502020204030204" pitchFamily="34" charset="0"/>
                <a:ea typeface="Times New Roman" panose="02020603050405020304" pitchFamily="18" charset="0"/>
              </a:rPr>
              <a:t>Alkoholer</a:t>
            </a:r>
          </a:p>
          <a:p>
            <a:pPr marL="457200"/>
            <a:br>
              <a:rPr lang="da-DK" sz="1800" dirty="0">
                <a:effectLst/>
                <a:latin typeface="Calibri" panose="020F0502020204030204" pitchFamily="34" charset="0"/>
                <a:ea typeface="Times New Roman" panose="02020603050405020304" pitchFamily="18" charset="0"/>
              </a:rPr>
            </a:br>
            <a:r>
              <a:rPr lang="da-DK" sz="1800" dirty="0" err="1">
                <a:effectLst/>
                <a:latin typeface="Calibri" panose="020F0502020204030204" pitchFamily="34" charset="0"/>
                <a:ea typeface="Times New Roman" panose="02020603050405020304" pitchFamily="18" charset="0"/>
              </a:rPr>
              <a:t>Alkoholer</a:t>
            </a:r>
            <a:r>
              <a:rPr lang="da-DK" sz="1800" dirty="0">
                <a:effectLst/>
                <a:latin typeface="Calibri" panose="020F0502020204030204" pitchFamily="34" charset="0"/>
                <a:ea typeface="Times New Roman" panose="02020603050405020304" pitchFamily="18" charset="0"/>
              </a:rPr>
              <a:t> </a:t>
            </a:r>
            <a:r>
              <a:rPr lang="da-DK" sz="1800" b="1" dirty="0">
                <a:effectLst/>
                <a:latin typeface="Calibri" panose="020F0502020204030204" pitchFamily="34" charset="0"/>
                <a:ea typeface="Times New Roman" panose="02020603050405020304" pitchFamily="18" charset="0"/>
              </a:rPr>
              <a:t>udviser både </a:t>
            </a:r>
            <a:r>
              <a:rPr lang="da-DK" sz="1800" b="1" dirty="0" err="1">
                <a:effectLst/>
                <a:latin typeface="Calibri" panose="020F0502020204030204" pitchFamily="34" charset="0"/>
                <a:ea typeface="Times New Roman" panose="02020603050405020304" pitchFamily="18" charset="0"/>
              </a:rPr>
              <a:t>upolære</a:t>
            </a:r>
            <a:r>
              <a:rPr lang="da-DK" sz="1800" b="1" dirty="0">
                <a:effectLst/>
                <a:latin typeface="Calibri" panose="020F0502020204030204" pitchFamily="34" charset="0"/>
                <a:ea typeface="Times New Roman" panose="02020603050405020304" pitchFamily="18" charset="0"/>
              </a:rPr>
              <a:t> og polære karakteristika</a:t>
            </a:r>
            <a:r>
              <a:rPr lang="da-DK" sz="1800" dirty="0">
                <a:effectLst/>
                <a:latin typeface="Calibri" panose="020F0502020204030204" pitchFamily="34" charset="0"/>
                <a:ea typeface="Times New Roman" panose="02020603050405020304" pitchFamily="18" charset="0"/>
              </a:rPr>
              <a:t>. Ligesom alle andre molekyler er der til stede </a:t>
            </a:r>
            <a:r>
              <a:rPr lang="da-DK" sz="1800" b="1" dirty="0">
                <a:effectLst/>
                <a:latin typeface="Calibri" panose="020F0502020204030204" pitchFamily="34" charset="0"/>
                <a:ea typeface="Times New Roman" panose="02020603050405020304" pitchFamily="18" charset="0"/>
              </a:rPr>
              <a:t>London-dispersionskræfter</a:t>
            </a:r>
            <a:r>
              <a:rPr lang="da-DK" sz="1800" dirty="0">
                <a:effectLst/>
                <a:latin typeface="Calibri" panose="020F0502020204030204" pitchFamily="34" charset="0"/>
                <a:ea typeface="Times New Roman" panose="02020603050405020304" pitchFamily="18" charset="0"/>
              </a:rPr>
              <a:t> mellem alkoholmolekyler. </a:t>
            </a:r>
          </a:p>
          <a:p>
            <a:pPr marL="457200"/>
            <a:endParaRPr lang="da-DK" sz="1800" dirty="0">
              <a:effectLst/>
              <a:latin typeface="Calibri" panose="020F0502020204030204" pitchFamily="34" charset="0"/>
              <a:ea typeface="Times New Roman" panose="02020603050405020304" pitchFamily="18" charset="0"/>
            </a:endParaRPr>
          </a:p>
          <a:p>
            <a:pPr marL="457200"/>
            <a:r>
              <a:rPr lang="da-DK" sz="1800" dirty="0">
                <a:effectLst/>
                <a:latin typeface="Calibri" panose="020F0502020204030204" pitchFamily="34" charset="0"/>
                <a:ea typeface="Times New Roman" panose="02020603050405020304" pitchFamily="18" charset="0"/>
              </a:rPr>
              <a:t>Derudover indeholder alkoholer en </a:t>
            </a:r>
            <a:r>
              <a:rPr lang="da-DK" sz="1800" dirty="0" err="1">
                <a:effectLst/>
                <a:latin typeface="Calibri" panose="020F0502020204030204" pitchFamily="34" charset="0"/>
                <a:ea typeface="Times New Roman" panose="02020603050405020304" pitchFamily="18" charset="0"/>
              </a:rPr>
              <a:t>hydroxygruppe</a:t>
            </a:r>
            <a:r>
              <a:rPr lang="da-DK" sz="1800" dirty="0">
                <a:effectLst/>
                <a:latin typeface="Calibri" panose="020F0502020204030204" pitchFamily="34" charset="0"/>
                <a:ea typeface="Times New Roman" panose="02020603050405020304" pitchFamily="18" charset="0"/>
              </a:rPr>
              <a:t> (-OH), som er stærkt polær på grund af den betydelige elektronegativitetsforskel mellem oxygen og hydrogen. </a:t>
            </a:r>
          </a:p>
          <a:p>
            <a:pPr marL="457200"/>
            <a:r>
              <a:rPr lang="da-DK" sz="1800" dirty="0">
                <a:effectLst/>
                <a:latin typeface="Calibri" panose="020F0502020204030204" pitchFamily="34" charset="0"/>
                <a:ea typeface="Times New Roman" panose="02020603050405020304" pitchFamily="18" charset="0"/>
              </a:rPr>
              <a:t>Dette resulterer i dannelsen af permanente dipoler og muliggør </a:t>
            </a:r>
            <a:r>
              <a:rPr lang="da-DK" sz="1800" b="1" dirty="0">
                <a:effectLst/>
                <a:latin typeface="Calibri" panose="020F0502020204030204" pitchFamily="34" charset="0"/>
                <a:ea typeface="Times New Roman" panose="02020603050405020304" pitchFamily="18" charset="0"/>
              </a:rPr>
              <a:t>hydrogenbindinger mellem molekylerne</a:t>
            </a:r>
            <a:r>
              <a:rPr lang="da-DK" sz="1800" dirty="0">
                <a:effectLst/>
                <a:latin typeface="Calibri" panose="020F0502020204030204" pitchFamily="34" charset="0"/>
                <a:ea typeface="Times New Roman" panose="02020603050405020304" pitchFamily="18" charset="0"/>
              </a:rPr>
              <a:t>.</a:t>
            </a:r>
          </a:p>
          <a:p>
            <a:pPr marL="457200"/>
            <a:endParaRPr lang="da-DK" dirty="0">
              <a:latin typeface="Calibri" panose="020F0502020204030204" pitchFamily="34" charset="0"/>
              <a:ea typeface="Times New Roman" panose="02020603050405020304" pitchFamily="18" charset="0"/>
            </a:endParaRPr>
          </a:p>
          <a:p>
            <a:pPr marL="457200"/>
            <a:r>
              <a:rPr lang="da-DK" sz="1800" dirty="0">
                <a:effectLst/>
                <a:latin typeface="Calibri" panose="020F0502020204030204" pitchFamily="34" charset="0"/>
                <a:ea typeface="Times New Roman" panose="02020603050405020304" pitchFamily="18" charset="0"/>
              </a:rPr>
              <a:t>Hydrogenbindinger er væsentligt stærkere end Londonkræfter og har stor betydning for alkoholernes fysiske egenskaber, herunder deres højere kogepunkter sammenlignet med tilsvarende </a:t>
            </a:r>
            <a:r>
              <a:rPr lang="da-DK" sz="1800" dirty="0" err="1">
                <a:effectLst/>
                <a:latin typeface="Calibri" panose="020F0502020204030204" pitchFamily="34" charset="0"/>
                <a:ea typeface="Times New Roman" panose="02020603050405020304" pitchFamily="18" charset="0"/>
              </a:rPr>
              <a:t>alkaner</a:t>
            </a:r>
            <a:r>
              <a:rPr lang="da-DK" sz="1800" dirty="0">
                <a:effectLst/>
                <a:latin typeface="Calibri" panose="020F0502020204030204" pitchFamily="34" charset="0"/>
                <a:ea typeface="Times New Roman" panose="02020603050405020304" pitchFamily="18" charset="0"/>
              </a:rPr>
              <a:t>.</a:t>
            </a:r>
          </a:p>
          <a:p>
            <a:pPr marL="457200"/>
            <a:endParaRPr lang="da-DK" sz="1200" dirty="0">
              <a:effectLst/>
              <a:latin typeface="Times New Roman" panose="02020603050405020304" pitchFamily="18" charset="0"/>
              <a:ea typeface="Times New Roman" panose="02020603050405020304" pitchFamily="18" charset="0"/>
            </a:endParaRPr>
          </a:p>
          <a:p>
            <a:pPr marL="457200"/>
            <a:r>
              <a:rPr lang="da-DK" sz="1800" dirty="0">
                <a:effectLst/>
                <a:latin typeface="Calibri" panose="020F0502020204030204" pitchFamily="34" charset="0"/>
                <a:ea typeface="Times New Roman" panose="02020603050405020304" pitchFamily="18" charset="0"/>
              </a:rPr>
              <a:t>Samlet set skyldes forskellen i intermolekylære kræfter mellem de to stofgrupper primært tilstedeværelsen af </a:t>
            </a:r>
            <a:r>
              <a:rPr lang="da-DK" sz="1800" dirty="0" err="1">
                <a:effectLst/>
                <a:latin typeface="Calibri" panose="020F0502020204030204" pitchFamily="34" charset="0"/>
                <a:ea typeface="Times New Roman" panose="02020603050405020304" pitchFamily="18" charset="0"/>
              </a:rPr>
              <a:t>hydroxygruppen</a:t>
            </a:r>
            <a:r>
              <a:rPr lang="da-DK" sz="1800" dirty="0">
                <a:effectLst/>
                <a:latin typeface="Calibri" panose="020F0502020204030204" pitchFamily="34" charset="0"/>
                <a:ea typeface="Times New Roman" panose="02020603050405020304" pitchFamily="18" charset="0"/>
              </a:rPr>
              <a:t> i alkoholer, hvilket medfører stærkere intermolekylære interaktioner.</a:t>
            </a:r>
            <a:endParaRPr lang="da-DK" sz="1200" dirty="0">
              <a:effectLst/>
              <a:latin typeface="Times New Roman" panose="02020603050405020304" pitchFamily="18" charset="0"/>
              <a:ea typeface="Times New Roman" panose="02020603050405020304" pitchFamily="18" charset="0"/>
            </a:endParaRPr>
          </a:p>
          <a:p>
            <a:pPr marL="457200"/>
            <a:r>
              <a:rPr lang="da-DK" sz="1800" dirty="0">
                <a:solidFill>
                  <a:srgbClr val="0070C0"/>
                </a:solidFill>
                <a:effectLst/>
                <a:latin typeface="Calibri" panose="020F0502020204030204" pitchFamily="34" charset="0"/>
                <a:ea typeface="Times New Roman" panose="02020603050405020304" pitchFamily="18" charset="0"/>
              </a:rPr>
              <a:t> </a:t>
            </a:r>
            <a:endParaRPr lang="da-DK"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59258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1A8E8F-5228-CF01-D738-6338199A2E1C}"/>
              </a:ext>
            </a:extLst>
          </p:cNvPr>
          <p:cNvSpPr>
            <a:spLocks noGrp="1"/>
          </p:cNvSpPr>
          <p:nvPr>
            <p:ph type="title"/>
          </p:nvPr>
        </p:nvSpPr>
        <p:spPr/>
        <p:txBody>
          <a:bodyPr>
            <a:normAutofit fontScale="90000"/>
          </a:bodyPr>
          <a:lstStyle/>
          <a:p>
            <a:r>
              <a:rPr lang="da-DK" dirty="0"/>
              <a:t>Tegn en graf for hver af de to stofgrupper med molarmassen på x-aksen og delta t på y-aksen </a:t>
            </a:r>
          </a:p>
        </p:txBody>
      </p:sp>
      <p:sp>
        <p:nvSpPr>
          <p:cNvPr id="4" name="Tekstfelt 3">
            <a:extLst>
              <a:ext uri="{FF2B5EF4-FFF2-40B4-BE49-F238E27FC236}">
                <a16:creationId xmlns:a16="http://schemas.microsoft.com/office/drawing/2014/main" id="{039385B3-C711-49FD-F55E-2EA8927CC750}"/>
              </a:ext>
            </a:extLst>
          </p:cNvPr>
          <p:cNvSpPr txBox="1"/>
          <p:nvPr/>
        </p:nvSpPr>
        <p:spPr>
          <a:xfrm>
            <a:off x="493776" y="4339114"/>
            <a:ext cx="11698224" cy="2862322"/>
          </a:xfrm>
          <a:prstGeom prst="rect">
            <a:avLst/>
          </a:prstGeom>
          <a:noFill/>
        </p:spPr>
        <p:txBody>
          <a:bodyPr wrap="square">
            <a:spAutoFit/>
          </a:bodyPr>
          <a:lstStyle/>
          <a:p>
            <a:pPr marL="457200"/>
            <a:r>
              <a:rPr lang="da-DK" sz="1800" dirty="0">
                <a:effectLst/>
                <a:latin typeface="Calibri" panose="020F0502020204030204" pitchFamily="34" charset="0"/>
                <a:ea typeface="Times New Roman" panose="02020603050405020304" pitchFamily="18" charset="0"/>
              </a:rPr>
              <a:t>De to grafer viser en </a:t>
            </a:r>
            <a:r>
              <a:rPr lang="da-DK" sz="1800" b="1" dirty="0">
                <a:effectLst/>
                <a:latin typeface="Calibri" panose="020F0502020204030204" pitchFamily="34" charset="0"/>
                <a:ea typeface="Times New Roman" panose="02020603050405020304" pitchFamily="18" charset="0"/>
              </a:rPr>
              <a:t>tydelig negativ korrelation </a:t>
            </a:r>
            <a:r>
              <a:rPr lang="da-DK" sz="1800" dirty="0">
                <a:effectLst/>
                <a:latin typeface="Calibri" panose="020F0502020204030204" pitchFamily="34" charset="0"/>
                <a:ea typeface="Times New Roman" panose="02020603050405020304" pitchFamily="18" charset="0"/>
              </a:rPr>
              <a:t>mellem molarmasse og </a:t>
            </a:r>
            <a:r>
              <a:rPr lang="da-DK" sz="1800" dirty="0" err="1">
                <a:effectLst/>
                <a:latin typeface="Calibri" panose="020F0502020204030204" pitchFamily="34" charset="0"/>
                <a:ea typeface="Times New Roman" panose="02020603050405020304" pitchFamily="18" charset="0"/>
              </a:rPr>
              <a:t>Δt</a:t>
            </a:r>
            <a:r>
              <a:rPr lang="da-DK" sz="1800" dirty="0">
                <a:effectLst/>
                <a:latin typeface="Calibri" panose="020F0502020204030204" pitchFamily="34" charset="0"/>
                <a:ea typeface="Times New Roman" panose="02020603050405020304" pitchFamily="18" charset="0"/>
              </a:rPr>
              <a:t>, idet </a:t>
            </a:r>
            <a:r>
              <a:rPr lang="da-DK" sz="1800" dirty="0" err="1">
                <a:effectLst/>
                <a:latin typeface="Calibri" panose="020F0502020204030204" pitchFamily="34" charset="0"/>
                <a:ea typeface="Times New Roman" panose="02020603050405020304" pitchFamily="18" charset="0"/>
              </a:rPr>
              <a:t>Δt</a:t>
            </a:r>
            <a:r>
              <a:rPr lang="da-DK" sz="1800" dirty="0">
                <a:effectLst/>
                <a:latin typeface="Calibri" panose="020F0502020204030204" pitchFamily="34" charset="0"/>
                <a:ea typeface="Times New Roman" panose="02020603050405020304" pitchFamily="18" charset="0"/>
              </a:rPr>
              <a:t> aftager med stigende molarmasse for begge stofgrupper. Dette indikerer, at stoffer med højere molarmasse generelt udviser mindre temperaturændringer under de givne betingelser.</a:t>
            </a:r>
          </a:p>
          <a:p>
            <a:pPr marL="457200"/>
            <a:endParaRPr lang="da-DK" sz="1800" dirty="0">
              <a:effectLst/>
              <a:latin typeface="Times New Roman" panose="02020603050405020304" pitchFamily="18" charset="0"/>
              <a:ea typeface="Times New Roman" panose="02020603050405020304" pitchFamily="18" charset="0"/>
            </a:endParaRPr>
          </a:p>
          <a:p>
            <a:pPr marL="457200"/>
            <a:r>
              <a:rPr lang="da-DK" sz="1800" dirty="0">
                <a:effectLst/>
                <a:latin typeface="Calibri" panose="020F0502020204030204" pitchFamily="34" charset="0"/>
                <a:ea typeface="Times New Roman" panose="02020603050405020304" pitchFamily="18" charset="0"/>
              </a:rPr>
              <a:t>Desuden ses det, at </a:t>
            </a:r>
            <a:r>
              <a:rPr lang="da-DK" sz="1800" b="1" dirty="0">
                <a:effectLst/>
                <a:latin typeface="Calibri" panose="020F0502020204030204" pitchFamily="34" charset="0"/>
                <a:ea typeface="Times New Roman" panose="02020603050405020304" pitchFamily="18" charset="0"/>
              </a:rPr>
              <a:t>værdierne af </a:t>
            </a:r>
            <a:r>
              <a:rPr lang="da-DK" sz="1800" b="1" dirty="0" err="1">
                <a:effectLst/>
                <a:latin typeface="Calibri" panose="020F0502020204030204" pitchFamily="34" charset="0"/>
                <a:ea typeface="Times New Roman" panose="02020603050405020304" pitchFamily="18" charset="0"/>
              </a:rPr>
              <a:t>Δt</a:t>
            </a:r>
            <a:r>
              <a:rPr lang="da-DK" sz="1800" b="1" dirty="0">
                <a:effectLst/>
                <a:latin typeface="Calibri" panose="020F0502020204030204" pitchFamily="34" charset="0"/>
                <a:ea typeface="Times New Roman" panose="02020603050405020304" pitchFamily="18" charset="0"/>
              </a:rPr>
              <a:t> gennemgående er større for </a:t>
            </a:r>
            <a:r>
              <a:rPr lang="da-DK" sz="1800" b="1" dirty="0" err="1">
                <a:effectLst/>
                <a:latin typeface="Calibri" panose="020F0502020204030204" pitchFamily="34" charset="0"/>
                <a:ea typeface="Times New Roman" panose="02020603050405020304" pitchFamily="18" charset="0"/>
              </a:rPr>
              <a:t>alkaner</a:t>
            </a:r>
            <a:r>
              <a:rPr lang="da-DK" sz="1800" b="1" dirty="0">
                <a:effectLst/>
                <a:latin typeface="Calibri" panose="020F0502020204030204" pitchFamily="34" charset="0"/>
                <a:ea typeface="Times New Roman" panose="02020603050405020304" pitchFamily="18" charset="0"/>
              </a:rPr>
              <a:t> end for alkoholer.</a:t>
            </a:r>
            <a:r>
              <a:rPr lang="da-DK" sz="1800" dirty="0">
                <a:effectLst/>
                <a:latin typeface="Calibri" panose="020F0502020204030204" pitchFamily="34" charset="0"/>
                <a:ea typeface="Times New Roman" panose="02020603050405020304" pitchFamily="18" charset="0"/>
              </a:rPr>
              <a:t> Denne forskel kan forklares ved variationer i de intermolekylære kræfter mellem de to stofgrupper, hvor </a:t>
            </a:r>
            <a:r>
              <a:rPr lang="da-DK" sz="1800" b="1" dirty="0">
                <a:effectLst/>
                <a:latin typeface="Calibri" panose="020F0502020204030204" pitchFamily="34" charset="0"/>
                <a:ea typeface="Times New Roman" panose="02020603050405020304" pitchFamily="18" charset="0"/>
              </a:rPr>
              <a:t>alkoholer – som følge af hydrogenbindinger – har stærkere intermolekylære interaktioner end </a:t>
            </a:r>
            <a:r>
              <a:rPr lang="da-DK" sz="1800" b="1" dirty="0" err="1">
                <a:effectLst/>
                <a:latin typeface="Calibri" panose="020F0502020204030204" pitchFamily="34" charset="0"/>
                <a:ea typeface="Times New Roman" panose="02020603050405020304" pitchFamily="18" charset="0"/>
              </a:rPr>
              <a:t>alkaner</a:t>
            </a:r>
            <a:r>
              <a:rPr lang="da-DK" sz="1800" dirty="0">
                <a:effectLst/>
                <a:latin typeface="Calibri" panose="020F0502020204030204" pitchFamily="34" charset="0"/>
                <a:ea typeface="Times New Roman" panose="02020603050405020304" pitchFamily="18" charset="0"/>
              </a:rPr>
              <a:t>. Dette medfører en lavere temperaturændring for alkoholer sammenlignet med </a:t>
            </a:r>
            <a:r>
              <a:rPr lang="da-DK" sz="1800" dirty="0" err="1">
                <a:effectLst/>
                <a:latin typeface="Calibri" panose="020F0502020204030204" pitchFamily="34" charset="0"/>
                <a:ea typeface="Times New Roman" panose="02020603050405020304" pitchFamily="18" charset="0"/>
              </a:rPr>
              <a:t>alkaner</a:t>
            </a:r>
            <a:r>
              <a:rPr lang="da-DK" sz="1800" dirty="0">
                <a:effectLst/>
                <a:latin typeface="Calibri" panose="020F0502020204030204" pitchFamily="34" charset="0"/>
                <a:ea typeface="Times New Roman" panose="02020603050405020304" pitchFamily="18" charset="0"/>
              </a:rPr>
              <a:t>.</a:t>
            </a:r>
            <a:endParaRPr lang="da-DK" sz="1800" dirty="0">
              <a:effectLst/>
              <a:latin typeface="Times New Roman" panose="02020603050405020304" pitchFamily="18" charset="0"/>
              <a:ea typeface="Times New Roman" panose="02020603050405020304" pitchFamily="18" charset="0"/>
            </a:endParaRPr>
          </a:p>
          <a:p>
            <a:pPr marL="457200"/>
            <a:r>
              <a:rPr lang="da-DK" sz="1800" b="1" dirty="0">
                <a:effectLst/>
                <a:latin typeface="Calibri" panose="020F0502020204030204" pitchFamily="34" charset="0"/>
                <a:ea typeface="Times New Roman" panose="02020603050405020304" pitchFamily="18" charset="0"/>
              </a:rPr>
              <a:t> </a:t>
            </a:r>
            <a:endParaRPr lang="da-DK" sz="1200" dirty="0">
              <a:effectLst/>
              <a:latin typeface="Times New Roman" panose="02020603050405020304" pitchFamily="18" charset="0"/>
              <a:ea typeface="Times New Roman" panose="02020603050405020304" pitchFamily="18" charset="0"/>
            </a:endParaRPr>
          </a:p>
          <a:p>
            <a:pPr marL="457200"/>
            <a:r>
              <a:rPr lang="da-DK" sz="1800" dirty="0">
                <a:solidFill>
                  <a:srgbClr val="0070C0"/>
                </a:solidFill>
                <a:effectLst/>
                <a:latin typeface="Calibri" panose="020F0502020204030204" pitchFamily="34" charset="0"/>
                <a:ea typeface="Times New Roman" panose="02020603050405020304" pitchFamily="18" charset="0"/>
              </a:rPr>
              <a:t> </a:t>
            </a:r>
            <a:endParaRPr lang="da-DK" sz="1200" dirty="0">
              <a:effectLst/>
              <a:latin typeface="Times New Roman" panose="02020603050405020304" pitchFamily="18" charset="0"/>
              <a:ea typeface="Times New Roman" panose="02020603050405020304" pitchFamily="18" charset="0"/>
            </a:endParaRPr>
          </a:p>
        </p:txBody>
      </p:sp>
      <p:pic>
        <p:nvPicPr>
          <p:cNvPr id="6" name="Billede 5">
            <a:extLst>
              <a:ext uri="{FF2B5EF4-FFF2-40B4-BE49-F238E27FC236}">
                <a16:creationId xmlns:a16="http://schemas.microsoft.com/office/drawing/2014/main" id="{064026E5-7371-39C9-E421-679C855D193B}"/>
              </a:ext>
            </a:extLst>
          </p:cNvPr>
          <p:cNvPicPr>
            <a:picLocks noChangeAspect="1"/>
          </p:cNvPicPr>
          <p:nvPr/>
        </p:nvPicPr>
        <p:blipFill>
          <a:blip r:embed="rId2"/>
          <a:stretch>
            <a:fillRect/>
          </a:stretch>
        </p:blipFill>
        <p:spPr>
          <a:xfrm>
            <a:off x="1045214" y="2069825"/>
            <a:ext cx="6315956" cy="2114845"/>
          </a:xfrm>
          <a:prstGeom prst="rect">
            <a:avLst/>
          </a:prstGeom>
        </p:spPr>
      </p:pic>
    </p:spTree>
    <p:extLst>
      <p:ext uri="{BB962C8B-B14F-4D97-AF65-F5344CB8AC3E}">
        <p14:creationId xmlns:p14="http://schemas.microsoft.com/office/powerpoint/2010/main" val="2891077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DEA022-6989-7FEE-7D70-D46D1A505EF2}"/>
              </a:ext>
            </a:extLst>
          </p:cNvPr>
          <p:cNvSpPr>
            <a:spLocks noGrp="1"/>
          </p:cNvSpPr>
          <p:nvPr>
            <p:ph type="title"/>
          </p:nvPr>
        </p:nvSpPr>
        <p:spPr/>
        <p:txBody>
          <a:bodyPr>
            <a:normAutofit fontScale="90000"/>
          </a:bodyPr>
          <a:lstStyle/>
          <a:p>
            <a:r>
              <a:rPr lang="da-DK" dirty="0"/>
              <a:t>Butan-1-ol og pentan har næsten samme molarmasse. Kommenter forskellen i fordampningshastighed.</a:t>
            </a:r>
          </a:p>
        </p:txBody>
      </p:sp>
      <p:graphicFrame>
        <p:nvGraphicFramePr>
          <p:cNvPr id="7" name="Tabel 6">
            <a:extLst>
              <a:ext uri="{FF2B5EF4-FFF2-40B4-BE49-F238E27FC236}">
                <a16:creationId xmlns:a16="http://schemas.microsoft.com/office/drawing/2014/main" id="{AB081408-8E3A-0685-857E-FEADBE2E9275}"/>
              </a:ext>
            </a:extLst>
          </p:cNvPr>
          <p:cNvGraphicFramePr>
            <a:graphicFrameLocks noGrp="1"/>
          </p:cNvGraphicFramePr>
          <p:nvPr>
            <p:extLst>
              <p:ext uri="{D42A27DB-BD31-4B8C-83A1-F6EECF244321}">
                <p14:modId xmlns:p14="http://schemas.microsoft.com/office/powerpoint/2010/main" val="1162867072"/>
              </p:ext>
            </p:extLst>
          </p:nvPr>
        </p:nvGraphicFramePr>
        <p:xfrm>
          <a:off x="838201" y="2559591"/>
          <a:ext cx="5257800" cy="2926080"/>
        </p:xfrm>
        <a:graphic>
          <a:graphicData uri="http://schemas.openxmlformats.org/drawingml/2006/table">
            <a:tbl>
              <a:tblPr firstRow="1" firstCol="1" bandRow="1">
                <a:tableStyleId>{5C22544A-7EE6-4342-B048-85BDC9FD1C3A}</a:tableStyleId>
              </a:tblPr>
              <a:tblGrid>
                <a:gridCol w="735922">
                  <a:extLst>
                    <a:ext uri="{9D8B030D-6E8A-4147-A177-3AD203B41FA5}">
                      <a16:colId xmlns:a16="http://schemas.microsoft.com/office/drawing/2014/main" val="590507087"/>
                    </a:ext>
                  </a:extLst>
                </a:gridCol>
                <a:gridCol w="678494">
                  <a:extLst>
                    <a:ext uri="{9D8B030D-6E8A-4147-A177-3AD203B41FA5}">
                      <a16:colId xmlns:a16="http://schemas.microsoft.com/office/drawing/2014/main" val="3495674481"/>
                    </a:ext>
                  </a:extLst>
                </a:gridCol>
                <a:gridCol w="1733458">
                  <a:extLst>
                    <a:ext uri="{9D8B030D-6E8A-4147-A177-3AD203B41FA5}">
                      <a16:colId xmlns:a16="http://schemas.microsoft.com/office/drawing/2014/main" val="2190756119"/>
                    </a:ext>
                  </a:extLst>
                </a:gridCol>
                <a:gridCol w="527482">
                  <a:extLst>
                    <a:ext uri="{9D8B030D-6E8A-4147-A177-3AD203B41FA5}">
                      <a16:colId xmlns:a16="http://schemas.microsoft.com/office/drawing/2014/main" val="2734886317"/>
                    </a:ext>
                  </a:extLst>
                </a:gridCol>
                <a:gridCol w="452507">
                  <a:extLst>
                    <a:ext uri="{9D8B030D-6E8A-4147-A177-3AD203B41FA5}">
                      <a16:colId xmlns:a16="http://schemas.microsoft.com/office/drawing/2014/main" val="1170590213"/>
                    </a:ext>
                  </a:extLst>
                </a:gridCol>
                <a:gridCol w="451975">
                  <a:extLst>
                    <a:ext uri="{9D8B030D-6E8A-4147-A177-3AD203B41FA5}">
                      <a16:colId xmlns:a16="http://schemas.microsoft.com/office/drawing/2014/main" val="700700425"/>
                    </a:ext>
                  </a:extLst>
                </a:gridCol>
                <a:gridCol w="677962">
                  <a:extLst>
                    <a:ext uri="{9D8B030D-6E8A-4147-A177-3AD203B41FA5}">
                      <a16:colId xmlns:a16="http://schemas.microsoft.com/office/drawing/2014/main" val="2966074340"/>
                    </a:ext>
                  </a:extLst>
                </a:gridCol>
              </a:tblGrid>
              <a:tr h="420110">
                <a:tc>
                  <a:txBody>
                    <a:bodyPr/>
                    <a:lstStyle/>
                    <a:p>
                      <a:pPr algn="ctr"/>
                      <a:r>
                        <a:rPr lang="da-DK" sz="1200">
                          <a:effectLst/>
                        </a:rPr>
                        <a:t>Stof</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Molekyl-</a:t>
                      </a:r>
                      <a:endParaRPr lang="da-DK" sz="1000">
                        <a:effectLst/>
                      </a:endParaRPr>
                    </a:p>
                    <a:p>
                      <a:pPr algn="ctr"/>
                      <a:r>
                        <a:rPr lang="da-DK" sz="1200">
                          <a:effectLst/>
                        </a:rPr>
                        <a:t>formel</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Strukturformel</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Molar-masse</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t</a:t>
                      </a:r>
                      <a:r>
                        <a:rPr lang="da-DK" sz="1200" baseline="-25000">
                          <a:effectLst/>
                        </a:rPr>
                        <a:t>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t</a:t>
                      </a:r>
                      <a:r>
                        <a:rPr lang="da-DK" sz="1200" baseline="-25000">
                          <a:effectLst/>
                        </a:rPr>
                        <a:t>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sym typeface="Symbol" panose="05050102010706020507" pitchFamily="18" charset="2"/>
                        </a:rPr>
                        <a:t></a:t>
                      </a:r>
                      <a:r>
                        <a:rPr lang="da-DK" sz="1200">
                          <a:effectLst/>
                        </a:rPr>
                        <a:t>t = t</a:t>
                      </a:r>
                      <a:r>
                        <a:rPr lang="da-DK" sz="1200" baseline="-25000">
                          <a:effectLst/>
                        </a:rPr>
                        <a:t>1</a:t>
                      </a:r>
                      <a:r>
                        <a:rPr lang="da-DK" sz="1200">
                          <a:effectLst/>
                        </a:rPr>
                        <a:t> – t</a:t>
                      </a:r>
                      <a:r>
                        <a:rPr lang="da-DK" sz="1200" baseline="-25000">
                          <a:effectLst/>
                        </a:rPr>
                        <a:t>2</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97311920"/>
                  </a:ext>
                </a:extLst>
              </a:tr>
              <a:tr h="79456">
                <a:tc>
                  <a:txBody>
                    <a:bodyPr/>
                    <a:lstStyle/>
                    <a:p>
                      <a:r>
                        <a:rPr lang="da-DK" sz="1200">
                          <a:effectLst/>
                        </a:rPr>
                        <a:t>Pentan</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5</a:t>
                      </a:r>
                      <a:r>
                        <a:rPr lang="da-DK" sz="1200">
                          <a:effectLst/>
                        </a:rPr>
                        <a:t>H</a:t>
                      </a:r>
                      <a:r>
                        <a:rPr lang="da-DK" sz="1200" baseline="-25000">
                          <a:effectLst/>
                        </a:rPr>
                        <a:t>12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3</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dirty="0">
                          <a:effectLst/>
                          <a:highlight>
                            <a:srgbClr val="FFFF00"/>
                          </a:highlight>
                        </a:rPr>
                        <a:t>72,1</a:t>
                      </a:r>
                      <a:endParaRPr lang="da-DK" sz="1000" dirty="0">
                        <a:effectLst/>
                        <a:highlight>
                          <a:srgbClr val="FFFF00"/>
                        </a:highligh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-0,2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dirty="0">
                          <a:effectLst/>
                          <a:highlight>
                            <a:srgbClr val="FFFF00"/>
                          </a:highlight>
                        </a:rPr>
                        <a:t>21,2</a:t>
                      </a:r>
                      <a:endParaRPr lang="da-DK" sz="1000" dirty="0">
                        <a:effectLst/>
                        <a:highlight>
                          <a:srgbClr val="FFFF00"/>
                        </a:highligh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10025437"/>
                  </a:ext>
                </a:extLst>
              </a:tr>
              <a:tr h="280073">
                <a:tc>
                  <a:txBody>
                    <a:bodyPr/>
                    <a:lstStyle/>
                    <a:p>
                      <a:r>
                        <a:rPr lang="da-DK" sz="1200">
                          <a:effectLst/>
                        </a:rPr>
                        <a:t>Hexan</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6</a:t>
                      </a:r>
                      <a:r>
                        <a:rPr lang="da-DK" sz="1200">
                          <a:effectLst/>
                        </a:rPr>
                        <a:t>H</a:t>
                      </a:r>
                      <a:r>
                        <a:rPr lang="da-DK" sz="1200" baseline="-25000">
                          <a:effectLst/>
                        </a:rPr>
                        <a:t>14</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dirty="0">
                          <a:effectLst/>
                        </a:rPr>
                        <a:t>CH</a:t>
                      </a:r>
                      <a:r>
                        <a:rPr lang="en-US" sz="1200" baseline="-25000" dirty="0">
                          <a:effectLst/>
                        </a:rPr>
                        <a:t>3</a:t>
                      </a:r>
                      <a:r>
                        <a:rPr lang="en-US" sz="1200" dirty="0">
                          <a:effectLst/>
                        </a:rPr>
                        <a:t>-CH</a:t>
                      </a:r>
                      <a:r>
                        <a:rPr lang="en-US" sz="1200" baseline="-25000" dirty="0">
                          <a:effectLst/>
                        </a:rPr>
                        <a:t>2</a:t>
                      </a:r>
                      <a:r>
                        <a:rPr lang="en-US" sz="1200" dirty="0">
                          <a:effectLst/>
                        </a:rPr>
                        <a:t>-CH</a:t>
                      </a:r>
                      <a:r>
                        <a:rPr lang="en-US" sz="1200" baseline="-25000" dirty="0">
                          <a:effectLst/>
                        </a:rPr>
                        <a:t>2</a:t>
                      </a:r>
                      <a:r>
                        <a:rPr lang="en-US" sz="1200" dirty="0">
                          <a:effectLst/>
                        </a:rPr>
                        <a:t>-CH</a:t>
                      </a:r>
                      <a:r>
                        <a:rPr lang="en-US" sz="1200" baseline="-25000" dirty="0">
                          <a:effectLst/>
                        </a:rPr>
                        <a:t>2</a:t>
                      </a:r>
                      <a:r>
                        <a:rPr lang="en-US" sz="1200" dirty="0">
                          <a:effectLst/>
                        </a:rPr>
                        <a:t>-CH</a:t>
                      </a:r>
                      <a:r>
                        <a:rPr lang="en-US" sz="1200" baseline="-25000" dirty="0">
                          <a:effectLst/>
                        </a:rPr>
                        <a:t>2</a:t>
                      </a:r>
                      <a:r>
                        <a:rPr lang="en-US" sz="1200" dirty="0">
                          <a:effectLst/>
                        </a:rPr>
                        <a:t>-CH</a:t>
                      </a:r>
                      <a:r>
                        <a:rPr lang="en-US" sz="1200" baseline="-25000" dirty="0">
                          <a:effectLst/>
                        </a:rPr>
                        <a:t>3</a:t>
                      </a:r>
                      <a:endParaRPr lang="da-DK"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86,2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9,3</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11,7</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69577995"/>
                  </a:ext>
                </a:extLst>
              </a:tr>
              <a:tr h="285470">
                <a:tc>
                  <a:txBody>
                    <a:bodyPr/>
                    <a:lstStyle/>
                    <a:p>
                      <a:r>
                        <a:rPr lang="da-DK" sz="1200">
                          <a:effectLst/>
                        </a:rPr>
                        <a:t>Heptan</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7</a:t>
                      </a:r>
                      <a:r>
                        <a:rPr lang="da-DK" sz="1200">
                          <a:effectLst/>
                        </a:rPr>
                        <a:t>H</a:t>
                      </a:r>
                      <a:r>
                        <a:rPr lang="da-DK" sz="1200" baseline="-25000">
                          <a:effectLst/>
                        </a:rPr>
                        <a:t>16</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3</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100,2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10</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72792967"/>
                  </a:ext>
                </a:extLst>
              </a:tr>
              <a:tr h="142735">
                <a:tc>
                  <a:txBody>
                    <a:bodyPr/>
                    <a:lstStyle/>
                    <a:p>
                      <a:r>
                        <a:rPr lang="da-DK" sz="1200">
                          <a:effectLst/>
                        </a:rPr>
                        <a:t>Ethanol</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2</a:t>
                      </a:r>
                      <a:r>
                        <a:rPr lang="da-DK" sz="1200">
                          <a:effectLst/>
                        </a:rPr>
                        <a:t>H</a:t>
                      </a:r>
                      <a:r>
                        <a:rPr lang="da-DK" sz="1200" baseline="-25000">
                          <a:effectLst/>
                        </a:rPr>
                        <a:t>5</a:t>
                      </a:r>
                      <a:r>
                        <a:rPr lang="da-DK"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46,1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10,9</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10,1</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07372195"/>
                  </a:ext>
                </a:extLst>
              </a:tr>
              <a:tr h="285470">
                <a:tc>
                  <a:txBody>
                    <a:bodyPr/>
                    <a:lstStyle/>
                    <a:p>
                      <a:r>
                        <a:rPr lang="da-DK" sz="1200">
                          <a:effectLst/>
                        </a:rPr>
                        <a:t>Propan-1-ol</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dirty="0">
                          <a:effectLst/>
                        </a:rPr>
                        <a:t>C</a:t>
                      </a:r>
                      <a:r>
                        <a:rPr lang="da-DK" sz="1200" baseline="-25000" dirty="0">
                          <a:effectLst/>
                        </a:rPr>
                        <a:t>3</a:t>
                      </a:r>
                      <a:r>
                        <a:rPr lang="da-DK" sz="1200" dirty="0">
                          <a:effectLst/>
                        </a:rPr>
                        <a:t>H</a:t>
                      </a:r>
                      <a:r>
                        <a:rPr lang="da-DK" sz="1200" baseline="-25000" dirty="0">
                          <a:effectLst/>
                        </a:rPr>
                        <a:t>7</a:t>
                      </a:r>
                      <a:r>
                        <a:rPr lang="da-DK" sz="1200" dirty="0">
                          <a:effectLst/>
                        </a:rPr>
                        <a:t>OH</a:t>
                      </a:r>
                      <a:endParaRPr lang="da-DK"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60,1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14,9</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6,1</a:t>
                      </a:r>
                      <a:endParaRPr lang="da-DK"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44904246"/>
                  </a:ext>
                </a:extLst>
              </a:tr>
              <a:tr h="280073">
                <a:tc>
                  <a:txBody>
                    <a:bodyPr/>
                    <a:lstStyle/>
                    <a:p>
                      <a:r>
                        <a:rPr lang="da-DK" sz="1200">
                          <a:effectLst/>
                        </a:rPr>
                        <a:t>Butan-1-ol</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4</a:t>
                      </a:r>
                      <a:r>
                        <a:rPr lang="da-DK" sz="1200">
                          <a:effectLst/>
                        </a:rPr>
                        <a:t>H</a:t>
                      </a:r>
                      <a:r>
                        <a:rPr lang="da-DK" sz="1200" baseline="-25000">
                          <a:effectLst/>
                        </a:rPr>
                        <a:t>9</a:t>
                      </a:r>
                      <a:r>
                        <a:rPr lang="da-DK"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dirty="0">
                          <a:effectLst/>
                          <a:highlight>
                            <a:srgbClr val="FFFF00"/>
                          </a:highlight>
                        </a:rPr>
                        <a:t>74,1</a:t>
                      </a:r>
                      <a:endParaRPr lang="da-DK" sz="1000" dirty="0">
                        <a:effectLst/>
                        <a:highlight>
                          <a:srgbClr val="FFFF00"/>
                        </a:highligh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19,2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dirty="0">
                          <a:effectLst/>
                          <a:highlight>
                            <a:srgbClr val="FFFF00"/>
                          </a:highlight>
                        </a:rPr>
                        <a:t>1,8</a:t>
                      </a:r>
                      <a:endParaRPr lang="da-DK" sz="1000" dirty="0">
                        <a:effectLst/>
                        <a:highlight>
                          <a:srgbClr val="FFFF00"/>
                        </a:highligh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60120894"/>
                  </a:ext>
                </a:extLst>
              </a:tr>
              <a:tr h="285470">
                <a:tc>
                  <a:txBody>
                    <a:bodyPr/>
                    <a:lstStyle/>
                    <a:p>
                      <a:r>
                        <a:rPr lang="da-DK" sz="1200">
                          <a:effectLst/>
                        </a:rPr>
                        <a:t>Pentan-1-ol</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da-DK" sz="1200">
                          <a:effectLst/>
                        </a:rPr>
                        <a:t>C</a:t>
                      </a:r>
                      <a:r>
                        <a:rPr lang="da-DK" sz="1200" baseline="-25000">
                          <a:effectLst/>
                        </a:rPr>
                        <a:t>5</a:t>
                      </a:r>
                      <a:r>
                        <a:rPr lang="da-DK" sz="1200">
                          <a:effectLst/>
                        </a:rPr>
                        <a:t>H</a:t>
                      </a:r>
                      <a:r>
                        <a:rPr lang="da-DK" sz="1200" baseline="-25000">
                          <a:effectLst/>
                        </a:rPr>
                        <a:t>11</a:t>
                      </a:r>
                      <a:r>
                        <a:rPr lang="da-DK"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US" sz="1200">
                          <a:effectLst/>
                        </a:rPr>
                        <a:t>CH</a:t>
                      </a:r>
                      <a:r>
                        <a:rPr lang="en-US" sz="1200" baseline="-25000">
                          <a:effectLst/>
                        </a:rPr>
                        <a:t>3</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-CH</a:t>
                      </a:r>
                      <a:r>
                        <a:rPr lang="en-US" sz="1200" baseline="-25000">
                          <a:effectLst/>
                        </a:rPr>
                        <a:t>2</a:t>
                      </a:r>
                      <a:r>
                        <a:rPr lang="en-US" sz="1200">
                          <a:effectLst/>
                        </a:rPr>
                        <a:t>-OH</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88,2</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21</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a:effectLst/>
                        </a:rPr>
                        <a:t>20,0</a:t>
                      </a:r>
                      <a:endParaRPr lang="da-DK" sz="10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1200" dirty="0">
                          <a:effectLst/>
                        </a:rPr>
                        <a:t>1,0</a:t>
                      </a:r>
                      <a:endParaRPr lang="da-DK"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00842162"/>
                  </a:ext>
                </a:extLst>
              </a:tr>
            </a:tbl>
          </a:graphicData>
        </a:graphic>
      </p:graphicFrame>
      <p:sp>
        <p:nvSpPr>
          <p:cNvPr id="9" name="Tekstfelt 8">
            <a:extLst>
              <a:ext uri="{FF2B5EF4-FFF2-40B4-BE49-F238E27FC236}">
                <a16:creationId xmlns:a16="http://schemas.microsoft.com/office/drawing/2014/main" id="{464E8772-CA4E-2881-DF54-F4981D7619E0}"/>
              </a:ext>
            </a:extLst>
          </p:cNvPr>
          <p:cNvSpPr txBox="1"/>
          <p:nvPr/>
        </p:nvSpPr>
        <p:spPr>
          <a:xfrm>
            <a:off x="6473952" y="1854768"/>
            <a:ext cx="5017770" cy="4524315"/>
          </a:xfrm>
          <a:prstGeom prst="rect">
            <a:avLst/>
          </a:prstGeom>
          <a:noFill/>
        </p:spPr>
        <p:txBody>
          <a:bodyPr wrap="square">
            <a:spAutoFit/>
          </a:bodyPr>
          <a:lstStyle/>
          <a:p>
            <a:pPr marL="457200"/>
            <a:r>
              <a:rPr lang="da-DK" sz="1800" b="1" dirty="0">
                <a:effectLst/>
                <a:latin typeface="Calibri" panose="020F0502020204030204" pitchFamily="34" charset="0"/>
                <a:ea typeface="Times New Roman" panose="02020603050405020304" pitchFamily="18" charset="0"/>
              </a:rPr>
              <a:t>Pentan er et </a:t>
            </a:r>
            <a:r>
              <a:rPr lang="da-DK" sz="1800" b="1" dirty="0" err="1">
                <a:effectLst/>
                <a:latin typeface="Calibri" panose="020F0502020204030204" pitchFamily="34" charset="0"/>
                <a:ea typeface="Times New Roman" panose="02020603050405020304" pitchFamily="18" charset="0"/>
              </a:rPr>
              <a:t>upolært</a:t>
            </a:r>
            <a:r>
              <a:rPr lang="da-DK" sz="1800" b="1" dirty="0">
                <a:effectLst/>
                <a:latin typeface="Calibri" panose="020F0502020204030204" pitchFamily="34" charset="0"/>
                <a:ea typeface="Times New Roman" panose="02020603050405020304" pitchFamily="18" charset="0"/>
              </a:rPr>
              <a:t> molekyle</a:t>
            </a:r>
            <a:r>
              <a:rPr lang="da-DK" sz="1800" dirty="0">
                <a:effectLst/>
                <a:latin typeface="Calibri" panose="020F0502020204030204" pitchFamily="34" charset="0"/>
                <a:ea typeface="Times New Roman" panose="02020603050405020304" pitchFamily="18" charset="0"/>
              </a:rPr>
              <a:t>, hvor de intermolekylære kræfter udelukkende består af London-dispersionskræfter. </a:t>
            </a:r>
          </a:p>
          <a:p>
            <a:pPr marL="457200"/>
            <a:endParaRPr lang="da-DK" dirty="0">
              <a:latin typeface="Calibri" panose="020F0502020204030204" pitchFamily="34" charset="0"/>
              <a:ea typeface="Times New Roman" panose="02020603050405020304" pitchFamily="18" charset="0"/>
            </a:endParaRPr>
          </a:p>
          <a:p>
            <a:pPr marL="457200"/>
            <a:r>
              <a:rPr lang="da-DK" sz="1800" b="1" dirty="0">
                <a:effectLst/>
                <a:latin typeface="Calibri" panose="020F0502020204030204" pitchFamily="34" charset="0"/>
                <a:ea typeface="Times New Roman" panose="02020603050405020304" pitchFamily="18" charset="0"/>
              </a:rPr>
              <a:t>Butan-1-ol indeholder derimod en </a:t>
            </a:r>
            <a:r>
              <a:rPr lang="da-DK" sz="1800" b="1" dirty="0" err="1">
                <a:effectLst/>
                <a:latin typeface="Calibri" panose="020F0502020204030204" pitchFamily="34" charset="0"/>
                <a:ea typeface="Times New Roman" panose="02020603050405020304" pitchFamily="18" charset="0"/>
              </a:rPr>
              <a:t>hydroxygruppe</a:t>
            </a:r>
            <a:r>
              <a:rPr lang="da-DK" sz="1800" b="1" dirty="0">
                <a:effectLst/>
                <a:latin typeface="Calibri" panose="020F0502020204030204" pitchFamily="34" charset="0"/>
                <a:ea typeface="Times New Roman" panose="02020603050405020304" pitchFamily="18" charset="0"/>
              </a:rPr>
              <a:t> (-OH), hvilket muliggør dannelsen af hydrogenbindinger ud over Londonkræfter</a:t>
            </a:r>
            <a:r>
              <a:rPr lang="da-DK" sz="1800" dirty="0">
                <a:effectLst/>
                <a:latin typeface="Calibri" panose="020F0502020204030204" pitchFamily="34" charset="0"/>
                <a:ea typeface="Times New Roman" panose="02020603050405020304" pitchFamily="18" charset="0"/>
              </a:rPr>
              <a:t>. Da hydrogenbindinger er væsentligt stærkere end London-dispersionskræfter, er de samlede intermolekylære kræfter stærkere i butan-1-ol end i pentan. Dette medfører, at der kræves mere energi for at fordampe butan-1-ol, og derfor har det en lavere fordampningshastighed end pentan, på trods af deres næsten ens molarmasse.</a:t>
            </a:r>
            <a:endParaRPr lang="da-DK"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42853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DA70BC-79A4-9E09-0836-B9A935EB7E64}"/>
              </a:ext>
            </a:extLst>
          </p:cNvPr>
          <p:cNvSpPr>
            <a:spLocks noGrp="1"/>
          </p:cNvSpPr>
          <p:nvPr>
            <p:ph type="title"/>
          </p:nvPr>
        </p:nvSpPr>
        <p:spPr/>
        <p:txBody>
          <a:bodyPr>
            <a:normAutofit fontScale="90000"/>
          </a:bodyPr>
          <a:lstStyle/>
          <a:p>
            <a:r>
              <a:rPr lang="da-DK" dirty="0"/>
              <a:t>En exoterm proces afgiver varme mens en endoterm proces optager varme. Er fordampning en exoterm eller endotern proces? Begrund svaret.</a:t>
            </a:r>
          </a:p>
        </p:txBody>
      </p:sp>
      <p:sp>
        <p:nvSpPr>
          <p:cNvPr id="6" name="Tekstfelt 5">
            <a:extLst>
              <a:ext uri="{FF2B5EF4-FFF2-40B4-BE49-F238E27FC236}">
                <a16:creationId xmlns:a16="http://schemas.microsoft.com/office/drawing/2014/main" id="{010A574D-1A69-3016-10A4-6D1B67FF5506}"/>
              </a:ext>
            </a:extLst>
          </p:cNvPr>
          <p:cNvSpPr txBox="1"/>
          <p:nvPr/>
        </p:nvSpPr>
        <p:spPr>
          <a:xfrm>
            <a:off x="477774" y="2200900"/>
            <a:ext cx="10961370" cy="2862322"/>
          </a:xfrm>
          <a:prstGeom prst="rect">
            <a:avLst/>
          </a:prstGeom>
          <a:noFill/>
        </p:spPr>
        <p:txBody>
          <a:bodyPr wrap="square">
            <a:spAutoFit/>
          </a:bodyPr>
          <a:lstStyle/>
          <a:p>
            <a:pPr marL="457200"/>
            <a:r>
              <a:rPr lang="da-DK" sz="2000" dirty="0">
                <a:effectLst/>
                <a:latin typeface="Calibri" panose="020F0502020204030204" pitchFamily="34" charset="0"/>
                <a:ea typeface="Times New Roman" panose="02020603050405020304" pitchFamily="18" charset="0"/>
              </a:rPr>
              <a:t>Fordampning er en </a:t>
            </a:r>
            <a:r>
              <a:rPr lang="da-DK" sz="2000" b="1" dirty="0">
                <a:effectLst/>
                <a:latin typeface="Calibri" panose="020F0502020204030204" pitchFamily="34" charset="0"/>
                <a:ea typeface="Times New Roman" panose="02020603050405020304" pitchFamily="18" charset="0"/>
              </a:rPr>
              <a:t>endoterm proces</a:t>
            </a:r>
            <a:r>
              <a:rPr lang="da-DK" sz="2000" dirty="0">
                <a:effectLst/>
                <a:latin typeface="Calibri" panose="020F0502020204030204" pitchFamily="34" charset="0"/>
                <a:ea typeface="Times New Roman" panose="02020603050405020304" pitchFamily="18" charset="0"/>
              </a:rPr>
              <a:t>, fordi den kræver tilførsel af energi fra omgivelserne. </a:t>
            </a:r>
          </a:p>
          <a:p>
            <a:pPr marL="457200"/>
            <a:endParaRPr lang="da-DK" sz="2000" dirty="0">
              <a:latin typeface="Calibri" panose="020F0502020204030204" pitchFamily="34" charset="0"/>
              <a:ea typeface="Times New Roman" panose="02020603050405020304" pitchFamily="18" charset="0"/>
            </a:endParaRPr>
          </a:p>
          <a:p>
            <a:pPr marL="457200"/>
            <a:r>
              <a:rPr lang="da-DK" sz="2000" dirty="0">
                <a:effectLst/>
                <a:latin typeface="Calibri" panose="020F0502020204030204" pitchFamily="34" charset="0"/>
                <a:ea typeface="Times New Roman" panose="02020603050405020304" pitchFamily="18" charset="0"/>
              </a:rPr>
              <a:t>Under fordampning skal de intermolekylære kræfter mellem molekylerne overvindes, hvilket kræver energi. I tilfælde af </a:t>
            </a:r>
            <a:r>
              <a:rPr lang="da-DK" sz="2000" dirty="0" err="1">
                <a:effectLst/>
                <a:latin typeface="Calibri" panose="020F0502020204030204" pitchFamily="34" charset="0"/>
                <a:ea typeface="Times New Roman" panose="02020603050405020304" pitchFamily="18" charset="0"/>
              </a:rPr>
              <a:t>alkaner</a:t>
            </a:r>
            <a:r>
              <a:rPr lang="da-DK" sz="2000" dirty="0">
                <a:effectLst/>
                <a:latin typeface="Calibri" panose="020F0502020204030204" pitchFamily="34" charset="0"/>
                <a:ea typeface="Times New Roman" panose="02020603050405020304" pitchFamily="18" charset="0"/>
              </a:rPr>
              <a:t> og alkoholer betyder dette, at varmeenergi optages fra omgivelserne for at molekylerne kan forlade væskefasen og gå over i gasfasen. Som konsekvens observeres et temperaturfald i omgivelserne under fordampningen.</a:t>
            </a:r>
            <a:endParaRPr lang="da-DK" sz="2000" dirty="0">
              <a:effectLst/>
              <a:latin typeface="Times New Roman" panose="02020603050405020304" pitchFamily="18" charset="0"/>
              <a:ea typeface="Times New Roman" panose="02020603050405020304" pitchFamily="18" charset="0"/>
            </a:endParaRPr>
          </a:p>
          <a:p>
            <a:pPr marL="457200"/>
            <a:endParaRPr lang="da-DK" sz="2000" dirty="0">
              <a:effectLst/>
              <a:latin typeface="Calibri" panose="020F0502020204030204" pitchFamily="34" charset="0"/>
              <a:ea typeface="Times New Roman" panose="02020603050405020304" pitchFamily="18" charset="0"/>
            </a:endParaRPr>
          </a:p>
          <a:p>
            <a:pPr marL="457200"/>
            <a:r>
              <a:rPr lang="da-DK" sz="2000" dirty="0">
                <a:effectLst/>
                <a:latin typeface="Calibri" panose="020F0502020204030204" pitchFamily="34" charset="0"/>
                <a:ea typeface="Times New Roman" panose="02020603050405020304" pitchFamily="18" charset="0"/>
              </a:rPr>
              <a:t>Dette tydeliggør, at fordampning ikke afgiver varme (som en </a:t>
            </a:r>
            <a:r>
              <a:rPr lang="da-DK" sz="2000" b="1" dirty="0">
                <a:effectLst/>
                <a:latin typeface="Calibri" panose="020F0502020204030204" pitchFamily="34" charset="0"/>
                <a:ea typeface="Times New Roman" panose="02020603050405020304" pitchFamily="18" charset="0"/>
              </a:rPr>
              <a:t>exoterm proces </a:t>
            </a:r>
            <a:r>
              <a:rPr lang="da-DK" sz="2000" dirty="0">
                <a:effectLst/>
                <a:latin typeface="Calibri" panose="020F0502020204030204" pitchFamily="34" charset="0"/>
                <a:ea typeface="Times New Roman" panose="02020603050405020304" pitchFamily="18" charset="0"/>
              </a:rPr>
              <a:t>ville gøre), men derimod optager energi for at muliggøre molekylær bevægelse fra væske til damp.</a:t>
            </a:r>
            <a:endParaRPr lang="da-DK"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67185037"/>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1115</Words>
  <Application>Microsoft Office PowerPoint</Application>
  <PresentationFormat>Widescreen</PresentationFormat>
  <Paragraphs>199</Paragraphs>
  <Slides>13</Slides>
  <Notes>2</Notes>
  <HiddenSlides>0</HiddenSlides>
  <MMClips>0</MMClips>
  <ScaleCrop>false</ScaleCrop>
  <HeadingPairs>
    <vt:vector size="6" baseType="variant">
      <vt:variant>
        <vt:lpstr>Benyttede skrifttyper</vt:lpstr>
      </vt:variant>
      <vt:variant>
        <vt:i4>6</vt:i4>
      </vt:variant>
      <vt:variant>
        <vt:lpstr>Tema</vt:lpstr>
      </vt:variant>
      <vt:variant>
        <vt:i4>1</vt:i4>
      </vt:variant>
      <vt:variant>
        <vt:lpstr>Slidetitler</vt:lpstr>
      </vt:variant>
      <vt:variant>
        <vt:i4>13</vt:i4>
      </vt:variant>
    </vt:vector>
  </HeadingPairs>
  <TitlesOfParts>
    <vt:vector size="20" baseType="lpstr">
      <vt:lpstr>Aptos</vt:lpstr>
      <vt:lpstr>Aptos Display</vt:lpstr>
      <vt:lpstr>Arial</vt:lpstr>
      <vt:lpstr>Calibri</vt:lpstr>
      <vt:lpstr>Symbol</vt:lpstr>
      <vt:lpstr>Times New Roman</vt:lpstr>
      <vt:lpstr>Office-tema</vt:lpstr>
      <vt:lpstr>Øvelse Fordampning og intermolekylære kræfter</vt:lpstr>
      <vt:lpstr>Formål og teori</vt:lpstr>
      <vt:lpstr>Intermolekylære kræfter (imk)</vt:lpstr>
      <vt:lpstr>Londonkræfter</vt:lpstr>
      <vt:lpstr>Dipoldipolkræfter</vt:lpstr>
      <vt:lpstr>Hydrogenbindinger</vt:lpstr>
      <vt:lpstr>Kig på molekylformlerne for de syv forbindelser og inddel dem i to grupper. Begrund opdelingen.</vt:lpstr>
      <vt:lpstr>Hvilket af følgende udsagn er rigtigt?</vt:lpstr>
      <vt:lpstr>Hvilke intermolekylære kræfter er der tilstede i de to stofgrupper alkaner og alkoholer?</vt:lpstr>
      <vt:lpstr>Hvilke intermolekylære kræfter er der tilstede i de to stofgrupper alkaner og alkoholer?</vt:lpstr>
      <vt:lpstr>Tegn en graf for hver af de to stofgrupper med molarmassen på x-aksen og delta t på y-aksen </vt:lpstr>
      <vt:lpstr>Butan-1-ol og pentan har næsten samme molarmasse. Kommenter forskellen i fordampningshastighed.</vt:lpstr>
      <vt:lpstr>En exoterm proces afgiver varme mens en endoterm proces optager varme. Er fordampning en exoterm eller endotern proces? Begrund svaret.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Charlotte Lena Boesen</dc:creator>
  <cp:lastModifiedBy>Charlotte Lena Boesen</cp:lastModifiedBy>
  <cp:revision>3</cp:revision>
  <dcterms:created xsi:type="dcterms:W3CDTF">2026-04-06T16:34:48Z</dcterms:created>
  <dcterms:modified xsi:type="dcterms:W3CDTF">2026-04-06T17:28:57Z</dcterms:modified>
</cp:coreProperties>
</file>