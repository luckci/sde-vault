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303" r:id="rId4"/>
    <p:sldId id="276" r:id="rId5"/>
    <p:sldId id="289" r:id="rId6"/>
    <p:sldId id="290" r:id="rId7"/>
    <p:sldId id="291" r:id="rId8"/>
    <p:sldId id="292" r:id="rId9"/>
    <p:sldId id="294" r:id="rId10"/>
    <p:sldId id="296" r:id="rId11"/>
    <p:sldId id="297" r:id="rId12"/>
    <p:sldId id="298" r:id="rId13"/>
    <p:sldId id="299" r:id="rId14"/>
    <p:sldId id="300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otte Lena Boesen" initials="CLB" lastIdx="1" clrIdx="0">
    <p:extLst>
      <p:ext uri="{19B8F6BF-5375-455C-9EA6-DF929625EA0E}">
        <p15:presenceInfo xmlns:p15="http://schemas.microsoft.com/office/powerpoint/2012/main" userId="S-1-5-21-3494612161-3501810749-265219321-434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844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387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959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25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772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7507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3049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6472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669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885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939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0999D-52B5-4E62-AADF-D7C142B6F1E1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527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jpeg"/><Relationship Id="rId5" Type="http://schemas.openxmlformats.org/officeDocument/2006/relationships/image" Target="../media/image12.gif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b="1" dirty="0"/>
              <a:t> 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1554480"/>
            <a:ext cx="9144000" cy="3703320"/>
          </a:xfrm>
        </p:spPr>
        <p:txBody>
          <a:bodyPr>
            <a:normAutofit/>
          </a:bodyPr>
          <a:lstStyle/>
          <a:p>
            <a:r>
              <a:rPr lang="da-DK" sz="4800" b="1" dirty="0">
                <a:solidFill>
                  <a:schemeClr val="bg2">
                    <a:lumMod val="50000"/>
                  </a:schemeClr>
                </a:solidFill>
              </a:rPr>
              <a:t>Polære og upolære molekyler</a:t>
            </a:r>
          </a:p>
        </p:txBody>
      </p:sp>
      <p:pic>
        <p:nvPicPr>
          <p:cNvPr id="6146" name="Picture 2" descr="Billedresultat for polært molekyle&quot;">
            <a:extLst>
              <a:ext uri="{FF2B5EF4-FFF2-40B4-BE49-F238E27FC236}">
                <a16:creationId xmlns:a16="http://schemas.microsoft.com/office/drawing/2014/main" id="{36861BAC-AE70-400D-B1B3-522BFF6EF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04" y="2875927"/>
            <a:ext cx="3156054" cy="315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D8C5FF70-6AFC-406B-99A5-AA0ED44978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264" t="35462" r="18070" b="38090"/>
          <a:stretch/>
        </p:blipFill>
        <p:spPr>
          <a:xfrm>
            <a:off x="6995420" y="2826582"/>
            <a:ext cx="4847831" cy="3205399"/>
          </a:xfrm>
          <a:prstGeom prst="rect">
            <a:avLst/>
          </a:prstGeom>
        </p:spPr>
      </p:pic>
      <p:pic>
        <p:nvPicPr>
          <p:cNvPr id="6148" name="Picture 4" descr="Billedresultat for upolært molekyle olie&quot;">
            <a:extLst>
              <a:ext uri="{FF2B5EF4-FFF2-40B4-BE49-F238E27FC236}">
                <a16:creationId xmlns:a16="http://schemas.microsoft.com/office/drawing/2014/main" id="{BD480824-81B0-409B-9D73-244149495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75"/>
          <a:stretch/>
        </p:blipFill>
        <p:spPr bwMode="auto">
          <a:xfrm>
            <a:off x="4500624" y="3144088"/>
            <a:ext cx="2160005" cy="273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26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B9087-7FB5-426E-91F1-4974852B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Polære og </a:t>
            </a:r>
            <a:r>
              <a:rPr lang="da-DK" dirty="0" err="1"/>
              <a:t>upolære</a:t>
            </a:r>
            <a:r>
              <a:rPr lang="da-DK" dirty="0"/>
              <a:t> bindinger og molekyler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C3A24FF2-E1C9-4F01-BA4B-357CAFB21C1A}"/>
              </a:ext>
            </a:extLst>
          </p:cNvPr>
          <p:cNvSpPr txBox="1"/>
          <p:nvPr/>
        </p:nvSpPr>
        <p:spPr>
          <a:xfrm>
            <a:off x="838200" y="1895521"/>
            <a:ext cx="9633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Polær - via fransk </a:t>
            </a:r>
            <a:r>
              <a:rPr lang="da-DK" b="0" i="1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polaire</a:t>
            </a:r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fra middelalderlatin </a:t>
            </a:r>
            <a:r>
              <a:rPr lang="da-DK" b="0" i="1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polaris</a:t>
            </a:r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, afledt af latin </a:t>
            </a:r>
            <a:r>
              <a:rPr lang="da-DK" b="0" i="1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polus</a:t>
            </a:r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'pol</a:t>
            </a: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8E62105C-9989-46EF-9D59-5FF9E13547CC}"/>
              </a:ext>
            </a:extLst>
          </p:cNvPr>
          <p:cNvSpPr txBox="1"/>
          <p:nvPr/>
        </p:nvSpPr>
        <p:spPr>
          <a:xfrm>
            <a:off x="798225" y="2702758"/>
            <a:ext cx="9713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solidFill>
                  <a:srgbClr val="333333"/>
                </a:solidFill>
                <a:latin typeface="Georgia" panose="02040502050405020303" pitchFamily="18" charset="0"/>
              </a:rPr>
              <a:t>P</a:t>
            </a:r>
            <a:r>
              <a:rPr lang="da-DK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olære opløsningsmidler: væsker hvis molekyler har en skæv ladningsfordeling</a:t>
            </a:r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da-DK" b="0" i="0" u="none" strike="noStrike" dirty="0">
                <a:solidFill>
                  <a:srgbClr val="666666"/>
                </a:solidFill>
                <a:effectLst/>
                <a:latin typeface="Verdana" panose="020B0604030504040204" pitchFamily="34" charset="0"/>
              </a:rPr>
              <a:t>Fakta1988</a:t>
            </a:r>
            <a:endParaRPr lang="da-DK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6A894CA0-D5EE-4A15-B636-90BFFF2B0B40}"/>
              </a:ext>
            </a:extLst>
          </p:cNvPr>
          <p:cNvSpPr txBox="1"/>
          <p:nvPr/>
        </p:nvSpPr>
        <p:spPr>
          <a:xfrm>
            <a:off x="838200" y="3601245"/>
            <a:ext cx="9248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Som forholder sig modsat til hinanden; som er hinandens modpoler</a:t>
            </a:r>
            <a:endParaRPr lang="da-DK" dirty="0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96490EAC-F5F6-4D12-A445-CD8ACC537505}"/>
              </a:ext>
            </a:extLst>
          </p:cNvPr>
          <p:cNvSpPr txBox="1"/>
          <p:nvPr/>
        </p:nvSpPr>
        <p:spPr>
          <a:xfrm>
            <a:off x="798225" y="4352676"/>
            <a:ext cx="100334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Også det økologiske jordbrug tænker polært: kulturplanten er det gavnlige, og ukrudtet er skadeligt og bør udryddes</a:t>
            </a:r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da-DK" b="0" i="0" u="none" strike="noStrike" dirty="0">
                <a:solidFill>
                  <a:srgbClr val="666666"/>
                </a:solidFill>
                <a:effectLst/>
                <a:latin typeface="Verdana" panose="020B0604030504040204" pitchFamily="34" charset="0"/>
              </a:rPr>
              <a:t>NytAsp1989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4647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b="1" dirty="0"/>
              <a:t> 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1554480"/>
            <a:ext cx="9144000" cy="3703320"/>
          </a:xfrm>
        </p:spPr>
        <p:txBody>
          <a:bodyPr>
            <a:normAutofit/>
          </a:bodyPr>
          <a:lstStyle/>
          <a:p>
            <a:r>
              <a:rPr lang="da-DK" sz="4800" b="1" dirty="0">
                <a:solidFill>
                  <a:schemeClr val="bg2">
                    <a:lumMod val="50000"/>
                  </a:schemeClr>
                </a:solidFill>
              </a:rPr>
              <a:t>Polære og upolære molekyler</a:t>
            </a:r>
          </a:p>
        </p:txBody>
      </p:sp>
      <p:pic>
        <p:nvPicPr>
          <p:cNvPr id="6148" name="Picture 4" descr="Billedresultat for upolært molekyle olie&quot;">
            <a:extLst>
              <a:ext uri="{FF2B5EF4-FFF2-40B4-BE49-F238E27FC236}">
                <a16:creationId xmlns:a16="http://schemas.microsoft.com/office/drawing/2014/main" id="{BD480824-81B0-409B-9D73-244149495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75"/>
          <a:stretch/>
        </p:blipFill>
        <p:spPr bwMode="auto">
          <a:xfrm>
            <a:off x="1657489" y="3121746"/>
            <a:ext cx="2160005" cy="273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2D33F345-1BA3-4BFA-B3E6-E5DD88786073}"/>
              </a:ext>
            </a:extLst>
          </p:cNvPr>
          <p:cNvSpPr/>
          <p:nvPr/>
        </p:nvSpPr>
        <p:spPr>
          <a:xfrm>
            <a:off x="4651948" y="3161577"/>
            <a:ext cx="6985416" cy="2651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Polæres stoffer er blandbare med polære opløsningsmidler fx vand.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Upolære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stoffer er blandbare med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upolære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opløsningsmidler fx benzin.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Svagt polære stoffer er blandbare med både polære og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upolære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opløsningsmidler fx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ethanol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</a:t>
            </a:r>
            <a:r>
              <a:rPr lang="da-DK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da-DK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OH.</a:t>
            </a:r>
          </a:p>
        </p:txBody>
      </p:sp>
    </p:spTree>
    <p:extLst>
      <p:ext uri="{BB962C8B-B14F-4D97-AF65-F5344CB8AC3E}">
        <p14:creationId xmlns:p14="http://schemas.microsoft.com/office/powerpoint/2010/main" val="135451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IIAAACACAMAAADwFUHEAAAAe1BMVEX///8AAAC8vLzm5ua2trZtbW19fX2/v7/z8/Pw8PDt7e1lZWV2dnbV1dVqamqXl5dbW1ujo6Ovr6+Dg4Pe3t4oKCjLy8tGRkYSEhKKiopRUVGmpqYyMjJgYGDR0dHY2NghISFKSkpAQECbm5sLCwsaGhowMDCIiIg5OTlp5Qj5AAADH0lEQVR4nO2aa5OqMAyGCYjcpCA3Xbygokf//y88hRZd1pVWFqwz5v0SZ7djHts0TSGahkINIDtJWlaBdIDaTrhVIIu71hHhPRAspQjxlCpUitBIIYJJCDHzT4+F2r7BjvhshDc4I5zttmU/V25mq0bQwUAEREAEREAEREAEREAEREAEREAEREAEREAEREAERECEwVVMHdUIKCrHSAylK+GuwhMcvbm6iHRn/EXpXlX/gm1CqhtuEgBMFSFYcGArkEWuIoQYAkWer9rBRDUCgK4eQfkszO5iIStfjDCBPd8ROk+QXvRC98elpTkhLDJbc0uAmP2VvTVNIBvdv28CqX6vn/PsGLYy9GpZVAbC0QCsAMicfUy+KETqle0zIvBrkxI2fDU0QEIAitvZaPjb5EFq3LFZIEM3FhyXUMiNPKfMknVtVozkj+/YtzQGzMcx/3sMzrnr2b4yDrBlyTK3ZeXkzwFI17pGv9EZC3aIbtnkOcAGwdU+kd3CFHy/uz7S8/uyweb9HZczs3wWGtfyOd7ewE6cdQyAR6WL0bjkhcWzCNsSwi+ZgUX6iKEJoX4IfgnrSDKQ/d3J7xwAswZBl0fIaQzIV6cprPOOf8fgNAgLb7PZeEIEh1aF/547eU5yXX+3FsFOhEKHQywVA99k04x9Ec8awOYcx/FXJ4ITpKD3qM0j+styIbhMLJALRL0uKHT/VkenEEGwI9wALnEf/7W8iqErKO8QDJ2BNJbFQG8Ajcca6dzHbYSmTS9iNqYxYP3tfhbUDGbXJaN9RvzoGISeMXDPAB1BaRj2NztG0+KcMcgu5yh9kyljCKynEAbtHs2a5CdVDlDX+wXVetDuUesZBn2clu6o+VKJM4YilEEQlOawCP76yiC82IwSC1pdQ3HtRM25o3USu7cVFtT94zUzH5pZEK3EeAh2yBBM0cAfZ8SQchiDOOHbdtsOqGlFoOppHNfsBY8aRGI1iDW3uFVG5PGQDJt7xOtlcteesifFiMARmGuiEgGWldS9NagQuBQi5JMoiiYL9eGoNBbeYEcggqZtgD2PDsXlC+qT9R8Y6B4QXHBkF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sp>
        <p:nvSpPr>
          <p:cNvPr id="4" name="AutoShape 4" descr="https://qph.is.quoracdn.net/main-qimg-b8a99d8c075910598b35eeb576c9f18d?convert_to_webp=tru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sp>
        <p:nvSpPr>
          <p:cNvPr id="5" name="AutoShape 4" descr="2000px-H2O_-_2d.svg.png (2000×857)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sp>
        <p:nvSpPr>
          <p:cNvPr id="6" name="AutoShape 4" descr="220px-Octeto.png (220×110)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sp>
        <p:nvSpPr>
          <p:cNvPr id="7" name="AutoShape 6" descr="2000px-Carbon-dioxide-2D-dimensions.svg.png (2000×892)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 rotWithShape="1">
          <a:blip r:embed="rId2"/>
          <a:srcRect l="22658" t="20103" r="25630" b="18330"/>
          <a:stretch/>
        </p:blipFill>
        <p:spPr>
          <a:xfrm>
            <a:off x="2006221" y="720341"/>
            <a:ext cx="8734567" cy="584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8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6892925"/>
          </a:xfrm>
        </p:spPr>
        <p:txBody>
          <a:bodyPr>
            <a:normAutofit/>
          </a:bodyPr>
          <a:lstStyle/>
          <a:p>
            <a:r>
              <a:rPr lang="da-DK" b="1" dirty="0">
                <a:solidFill>
                  <a:schemeClr val="bg2">
                    <a:lumMod val="50000"/>
                  </a:schemeClr>
                </a:solidFill>
              </a:rPr>
              <a:t>Polære og upolære bindinger og molekyler</a:t>
            </a:r>
            <a:br>
              <a:rPr lang="da-DK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da-DK" b="1" dirty="0">
                <a:solidFill>
                  <a:schemeClr val="bg2">
                    <a:lumMod val="50000"/>
                  </a:schemeClr>
                </a:solidFill>
              </a:rPr>
              <a:t>Diatomige (to-atomige) molekyler</a:t>
            </a:r>
            <a:br>
              <a:rPr lang="da-DK" b="1" dirty="0"/>
            </a:br>
            <a:br>
              <a:rPr lang="da-DK" dirty="0"/>
            </a:br>
            <a:r>
              <a:rPr lang="da-DK" dirty="0"/>
              <a:t>Dihydrogen       </a:t>
            </a:r>
            <a:r>
              <a:rPr lang="da-DK" sz="3200" dirty="0"/>
              <a:t>H – H</a:t>
            </a:r>
            <a:br>
              <a:rPr lang="da-DK" sz="3200" dirty="0"/>
            </a:br>
            <a:br>
              <a:rPr lang="da-DK" sz="3200" dirty="0"/>
            </a:br>
            <a:r>
              <a:rPr lang="da-DK" sz="3200" dirty="0"/>
              <a:t>Δ(EN) = 0 dvs. elektronparbindingen er </a:t>
            </a:r>
            <a:r>
              <a:rPr lang="da-DK" sz="3200" dirty="0" err="1"/>
              <a:t>upolær</a:t>
            </a:r>
            <a:r>
              <a:rPr lang="da-DK" sz="3200" dirty="0"/>
              <a:t>.</a:t>
            </a:r>
            <a:br>
              <a:rPr lang="da-DK" sz="3200" dirty="0"/>
            </a:br>
            <a:r>
              <a:rPr lang="da-DK" sz="3200" dirty="0"/>
              <a:t> </a:t>
            </a:r>
            <a:br>
              <a:rPr lang="da-DK" sz="3200" dirty="0"/>
            </a:br>
            <a:r>
              <a:rPr lang="da-DK" sz="3200" dirty="0"/>
              <a:t>Når bindingen i molekylet er </a:t>
            </a:r>
            <a:r>
              <a:rPr lang="da-DK" sz="3200" dirty="0" err="1"/>
              <a:t>upolær</a:t>
            </a:r>
            <a:r>
              <a:rPr lang="da-DK" sz="3200" dirty="0"/>
              <a:t> er molekylet også </a:t>
            </a:r>
            <a:r>
              <a:rPr lang="da-DK" sz="3200" dirty="0" err="1"/>
              <a:t>upolært</a:t>
            </a:r>
            <a:r>
              <a:rPr lang="da-DK" sz="3200" dirty="0"/>
              <a:t> – elektronerne fordeler sig ligeligt omkring de to atomer.</a:t>
            </a:r>
            <a:br>
              <a:rPr lang="da-DK" sz="3200" dirty="0"/>
            </a:br>
            <a:br>
              <a:rPr lang="da-DK" sz="3200" dirty="0"/>
            </a:br>
            <a:r>
              <a:rPr lang="da-DK" sz="3200" b="1" dirty="0"/>
              <a:t>Det gælder altid for diatomige molekyler, at hvis bindingen er upolær, så er hele molekylet også </a:t>
            </a:r>
            <a:r>
              <a:rPr lang="da-DK" sz="3200" b="1" dirty="0" err="1"/>
              <a:t>upolært</a:t>
            </a:r>
            <a:r>
              <a:rPr lang="da-DK" sz="3200" b="1" dirty="0"/>
              <a:t>.</a:t>
            </a:r>
            <a:br>
              <a:rPr lang="da-DK" dirty="0"/>
            </a:br>
            <a:endParaRPr lang="da-DK" dirty="0"/>
          </a:p>
        </p:txBody>
      </p:sp>
      <p:pic>
        <p:nvPicPr>
          <p:cNvPr id="6148" name="Picture 4" descr="http://ahorn.dk/asu/base/atomhtm/atom2/atom220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499" y="2458220"/>
            <a:ext cx="1743075" cy="97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21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4700" cy="3863975"/>
          </a:xfrm>
        </p:spPr>
        <p:txBody>
          <a:bodyPr>
            <a:normAutofit/>
          </a:bodyPr>
          <a:lstStyle/>
          <a:p>
            <a:r>
              <a:rPr lang="da-DK" sz="3600" b="1" dirty="0">
                <a:solidFill>
                  <a:schemeClr val="bg2">
                    <a:lumMod val="50000"/>
                  </a:schemeClr>
                </a:solidFill>
              </a:rPr>
              <a:t>Polære og upolære bindinger og molekyler</a:t>
            </a:r>
            <a:br>
              <a:rPr lang="da-DK" sz="36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da-DK" sz="3600" b="1" dirty="0">
                <a:solidFill>
                  <a:schemeClr val="bg2">
                    <a:lumMod val="50000"/>
                  </a:schemeClr>
                </a:solidFill>
              </a:rPr>
              <a:t>Diatomige (to-atomige) molekyler</a:t>
            </a:r>
            <a:br>
              <a:rPr lang="da-DK" b="1" dirty="0"/>
            </a:br>
            <a:br>
              <a:rPr lang="da-DK" dirty="0"/>
            </a:br>
            <a:br>
              <a:rPr lang="da-DK" dirty="0"/>
            </a:br>
            <a:br>
              <a:rPr lang="da-DK" dirty="0"/>
            </a:br>
            <a:endParaRPr lang="da-DK" dirty="0"/>
          </a:p>
        </p:txBody>
      </p:sp>
      <p:sp>
        <p:nvSpPr>
          <p:cNvPr id="5" name="Rectangle 4"/>
          <p:cNvSpPr/>
          <p:nvPr/>
        </p:nvSpPr>
        <p:spPr>
          <a:xfrm>
            <a:off x="878798" y="1873074"/>
            <a:ext cx="109347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 – Cl           Δ(EN) = 3,2 – 2,2 = 1,0 dvs. bindingen er polær.</a:t>
            </a:r>
          </a:p>
          <a:p>
            <a:pPr>
              <a:spcAft>
                <a:spcPts val="0"/>
              </a:spcAft>
            </a:pPr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Elektronerne vil oftest befinde sig omkring Cl-atomet, hvilket markeres med δ- og δ+</a:t>
            </a:r>
          </a:p>
          <a:p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H-Cl</a:t>
            </a:r>
          </a:p>
          <a:p>
            <a:pPr>
              <a:spcAft>
                <a:spcPts val="0"/>
              </a:spcAft>
            </a:pP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δ+  δ- </a:t>
            </a:r>
          </a:p>
          <a:p>
            <a:pPr>
              <a:spcAft>
                <a:spcPts val="0"/>
              </a:spcAft>
            </a:pP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 – Cl</a:t>
            </a:r>
          </a:p>
          <a:p>
            <a:pPr>
              <a:spcAft>
                <a:spcPts val="0"/>
              </a:spcAft>
            </a:pPr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Molekylet har to poler – kaldes en dipol og derfor er molekylet polært.</a:t>
            </a:r>
          </a:p>
          <a:p>
            <a:pPr>
              <a:spcAft>
                <a:spcPts val="0"/>
              </a:spcAft>
            </a:pPr>
            <a:r>
              <a:rPr lang="da-DK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Hvis </a:t>
            </a: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Δ(EN)</a:t>
            </a:r>
            <a:r>
              <a:rPr lang="da-DK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 et toatomigt molekyle er større end 0,5 er molekylet polært</a:t>
            </a:r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http://roskilde-rental.dk/wp-content/uploads/2016/04/908-Batteri.jp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4" t="27501" r="10200" b="27499"/>
          <a:stretch/>
        </p:blipFill>
        <p:spPr bwMode="auto">
          <a:xfrm rot="10800000">
            <a:off x="878798" y="4508391"/>
            <a:ext cx="967740" cy="3571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1401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4700" cy="3863975"/>
          </a:xfrm>
        </p:spPr>
        <p:txBody>
          <a:bodyPr>
            <a:normAutofit/>
          </a:bodyPr>
          <a:lstStyle/>
          <a:p>
            <a:r>
              <a:rPr lang="da-DK" b="1" dirty="0">
                <a:solidFill>
                  <a:schemeClr val="bg2">
                    <a:lumMod val="50000"/>
                  </a:schemeClr>
                </a:solidFill>
              </a:rPr>
              <a:t>Molekyler med mere end to atomer</a:t>
            </a:r>
            <a:br>
              <a:rPr lang="da-DK" dirty="0"/>
            </a:br>
            <a:br>
              <a:rPr lang="da-DK" b="1" dirty="0"/>
            </a:br>
            <a:br>
              <a:rPr lang="da-DK" dirty="0"/>
            </a:br>
            <a:br>
              <a:rPr lang="da-DK" dirty="0"/>
            </a:br>
            <a:endParaRPr lang="da-DK" dirty="0"/>
          </a:p>
        </p:txBody>
      </p:sp>
      <p:sp>
        <p:nvSpPr>
          <p:cNvPr id="5" name="Rectangle 4"/>
          <p:cNvSpPr/>
          <p:nvPr/>
        </p:nvSpPr>
        <p:spPr>
          <a:xfrm>
            <a:off x="838200" y="1569125"/>
            <a:ext cx="109347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b="1" dirty="0"/>
              <a:t>Tetraederform</a:t>
            </a:r>
            <a:endParaRPr lang="da-DK" sz="2800" dirty="0"/>
          </a:p>
          <a:p>
            <a:r>
              <a:rPr lang="da-DK" sz="2800" dirty="0"/>
              <a:t>Molekylers opbygning tager udgangspunkt i tetraederformen som ses her for methanmolekylet CH</a:t>
            </a:r>
            <a:r>
              <a:rPr lang="da-DK" sz="2800" baseline="-25000" dirty="0"/>
              <a:t>4</a:t>
            </a:r>
            <a:r>
              <a:rPr lang="da-DK" dirty="0"/>
              <a:t>.</a:t>
            </a:r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1" y="3385007"/>
            <a:ext cx="8991599" cy="258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24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2" descr="http://www.biotechacademy.dk/-/media/Sites/Biotech_Academy/Undervisningsprojekter/Gymnasiale%20projekter/Laegemidler/Organisk%20kemi/Figur-3.ashx?la=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71" t="26213"/>
          <a:stretch>
            <a:fillRect/>
          </a:stretch>
        </p:blipFill>
        <p:spPr bwMode="auto">
          <a:xfrm>
            <a:off x="1143872" y="3047292"/>
            <a:ext cx="1283042" cy="135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6" descr="http://www.u-helmich.de/che/Q1/03-oc/klassen/alkanole/bilder/eigenschaften0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6" r="32964"/>
          <a:stretch>
            <a:fillRect/>
          </a:stretch>
        </p:blipFill>
        <p:spPr bwMode="auto">
          <a:xfrm>
            <a:off x="7760713" y="4452610"/>
            <a:ext cx="2124790" cy="197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H="1" flipV="1">
            <a:off x="2495550" y="8155940"/>
            <a:ext cx="752475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2592705" y="8260715"/>
            <a:ext cx="67437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162050" y="859364"/>
            <a:ext cx="264795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40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Vand  H</a:t>
            </a:r>
            <a:r>
              <a:rPr kumimoji="0" lang="da-DK" altLang="da-DK" sz="4000" b="1" i="0" u="none" strike="noStrike" cap="none" normalizeH="0" baseline="-3000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da-DK" altLang="da-DK" sz="40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endParaRPr kumimoji="0" lang="da-DK" altLang="da-DK" sz="4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62050" y="1657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</a:t>
            </a: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462960" y="2607131"/>
            <a:ext cx="9405780" cy="241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	2 ledige elektronpar (lonepairs) fylder lidt ekstra i 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rummet og er årsag til at vinklen mellem de to 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H-atomer ikke er 109 (tetraedervinklen) men 104</a:t>
            </a:r>
            <a:r>
              <a:rPr kumimoji="0" lang="da-DK" altLang="da-DK" sz="2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2800" dirty="0"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Vandmolekylet er et vinklet molekyle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 </a:t>
            </a: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486025" y="3047292"/>
            <a:ext cx="581025" cy="153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426914" y="3071027"/>
            <a:ext cx="840161" cy="432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57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da-DK" sz="3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Ledige elektronpar angives ofte med en streg</a:t>
            </a:r>
            <a:endParaRPr lang="da-DK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1825625"/>
            <a:ext cx="4998139" cy="3451840"/>
          </a:xfrm>
        </p:spPr>
      </p:pic>
    </p:spTree>
    <p:extLst>
      <p:ext uri="{BB962C8B-B14F-4D97-AF65-F5344CB8AC3E}">
        <p14:creationId xmlns:p14="http://schemas.microsoft.com/office/powerpoint/2010/main" val="286538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63" y="171988"/>
            <a:ext cx="2677787" cy="160518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637162" y="176730"/>
            <a:ext cx="12094072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de</a:t>
            </a:r>
            <a:r>
              <a:rPr kumimoji="0" lang="da-DK" altLang="da-DK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kovalente bindinger i molekylet polære?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Δ(O-H) = 3,5 – 2,2 = 1,3 dvs. </a:t>
            </a:r>
            <a:r>
              <a:rPr kumimoji="0" lang="da-DK" altLang="da-DK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elektronparbindingerne</a:t>
            </a: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molekylet er polære.</a:t>
            </a:r>
            <a:r>
              <a:rPr kumimoji="0" lang="da-DK" altLang="da-DK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65464" y="2515831"/>
            <a:ext cx="11475524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molekylet </a:t>
            </a:r>
            <a:r>
              <a:rPr lang="da-DK" altLang="da-DK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polært</a:t>
            </a: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r>
              <a:rPr lang="da-DK" sz="3200" dirty="0"/>
              <a:t>Ja   δ- er omkring O-atomet og </a:t>
            </a:r>
          </a:p>
          <a:p>
            <a:r>
              <a:rPr lang="da-DK" sz="3200" dirty="0"/>
              <a:t>δ+ er ved de to H-atomer i bindingen. </a:t>
            </a:r>
          </a:p>
          <a:p>
            <a:endParaRPr lang="da-DK" sz="3200" dirty="0"/>
          </a:p>
          <a:p>
            <a:r>
              <a:rPr lang="da-DK" sz="3200" dirty="0"/>
              <a:t>Molekylet er en dipol og dermed også et polært </a:t>
            </a:r>
          </a:p>
          <a:p>
            <a:r>
              <a:rPr lang="da-DK" sz="3200" dirty="0"/>
              <a:t>molekyle. </a:t>
            </a:r>
          </a:p>
          <a:p>
            <a:r>
              <a:rPr lang="da-DK" sz="3200" dirty="0"/>
              <a:t>.</a:t>
            </a:r>
          </a:p>
          <a:p>
            <a:r>
              <a:rPr lang="da-DK" dirty="0"/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902629"/>
              </p:ext>
            </p:extLst>
          </p:nvPr>
        </p:nvGraphicFramePr>
        <p:xfrm>
          <a:off x="775056" y="488785"/>
          <a:ext cx="1552514" cy="1187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hemSketch" r:id="rId3" imgW="648360" imgH="496080" progId="ACD.ChemSketch.20">
                  <p:embed/>
                </p:oleObj>
              </mc:Choice>
              <mc:Fallback>
                <p:oleObj name="ChemSketch" r:id="rId3" imgW="648360" imgH="496080" progId="ACD.ChemSketch.2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5056" y="488785"/>
                        <a:ext cx="1552514" cy="1187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 descr="http://ahorn.dk/asu/base/elhtm/mikrobov/image82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325" y="3566120"/>
            <a:ext cx="2324805" cy="233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http://roskilde-rental.dk/wp-content/uploads/2016/04/908-Batteri.jpg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4" t="27501" r="10200" b="27499"/>
          <a:stretch/>
        </p:blipFill>
        <p:spPr bwMode="auto">
          <a:xfrm rot="5400000">
            <a:off x="9629276" y="4388472"/>
            <a:ext cx="1498900" cy="56359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456" y="2120376"/>
            <a:ext cx="192595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0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66750" y="569514"/>
            <a:ext cx="345799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Ammoniak NH</a:t>
            </a:r>
            <a:r>
              <a:rPr kumimoji="0" lang="da-DK" altLang="da-DK" sz="40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kumimoji="0" lang="da-DK" altLang="da-D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Picture 9" descr="http://www.chemieunterricht.de/dc2/nh3/images/dipol-04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3"/>
          <a:stretch>
            <a:fillRect/>
          </a:stretch>
        </p:blipFill>
        <p:spPr bwMode="auto">
          <a:xfrm>
            <a:off x="2962486" y="3648307"/>
            <a:ext cx="5933053" cy="2362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66750" y="1857607"/>
            <a:ext cx="1125815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ammoniak (nitrogentrihydrid) er der et enkelt ledigt elektronpar (</a:t>
            </a:r>
            <a:r>
              <a:rPr kumimoji="0" lang="da-DK" altLang="da-DK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lone</a:t>
            </a: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pair), hvilket er årsag til at bindingsvinklerne i molekylet 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ikke er 109 men 107</a:t>
            </a:r>
            <a:r>
              <a:rPr kumimoji="0" lang="da-DK" altLang="da-DK" sz="3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681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42950" y="1265307"/>
            <a:ext cx="427714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Ammoniak NH</a:t>
            </a:r>
            <a:r>
              <a:rPr kumimoji="0" lang="da-DK" altLang="da-DK" sz="40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kumimoji="0" lang="da-DK" altLang="da-D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62100" y="18478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7" name="Rectangle 6"/>
          <p:cNvSpPr/>
          <p:nvPr/>
        </p:nvSpPr>
        <p:spPr>
          <a:xfrm>
            <a:off x="742950" y="2305050"/>
            <a:ext cx="11182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Δ(N – H) = 3,0 – 2,2 = 0,8 dvs. elektronparbindingerne er polære med δ- er omkring N-atomet og δ+ omkring de tre H-atomer.</a:t>
            </a:r>
          </a:p>
          <a:p>
            <a:pPr>
              <a:spcAft>
                <a:spcPts val="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molekylet en dipol? </a:t>
            </a:r>
          </a:p>
        </p:txBody>
      </p:sp>
      <p:pic>
        <p:nvPicPr>
          <p:cNvPr id="10" name="Picture 9" descr="http://www.hamm-chemie.de/images/k10/Molekuelbindung/NH3_TL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962578"/>
            <a:ext cx="1695450" cy="1314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http://roskilde-rental.dk/wp-content/uploads/2016/04/908-Batteri.jp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4" t="27501" r="10200" b="27499"/>
          <a:stretch/>
        </p:blipFill>
        <p:spPr bwMode="auto">
          <a:xfrm rot="5400000">
            <a:off x="2732571" y="4361707"/>
            <a:ext cx="945179" cy="4857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 descr="http://www.hamm-chemie.de/images/k10/Molekuelbindung/NH3_TL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424" y="4029433"/>
            <a:ext cx="1609725" cy="1247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http://roskilde-rental.dk/wp-content/uploads/2016/04/908-Batteri.jp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4" t="27501" r="10200" b="27499"/>
          <a:stretch/>
        </p:blipFill>
        <p:spPr bwMode="auto">
          <a:xfrm rot="5400000">
            <a:off x="5372685" y="4413319"/>
            <a:ext cx="729447" cy="4973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/>
          <p:cNvSpPr/>
          <p:nvPr/>
        </p:nvSpPr>
        <p:spPr>
          <a:xfrm>
            <a:off x="742950" y="5911334"/>
            <a:ext cx="82368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Molekylet er en dipol og dermed polært og blandbart med vand.</a:t>
            </a:r>
          </a:p>
        </p:txBody>
      </p:sp>
    </p:spTree>
    <p:extLst>
      <p:ext uri="{BB962C8B-B14F-4D97-AF65-F5344CB8AC3E}">
        <p14:creationId xmlns:p14="http://schemas.microsoft.com/office/powerpoint/2010/main" val="1455382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43000" y="9715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9217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99" r="30318"/>
          <a:stretch>
            <a:fillRect/>
          </a:stretch>
        </p:blipFill>
        <p:spPr bwMode="auto">
          <a:xfrm>
            <a:off x="7324568" y="3661984"/>
            <a:ext cx="3176588" cy="341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34438" y="85715"/>
            <a:ext cx="1069556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Methan CH</a:t>
            </a:r>
            <a:r>
              <a:rPr kumimoji="0" lang="da-DK" altLang="da-DK" sz="36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kumimoji="0" lang="da-DK" altLang="da-DK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Δ(C-H) = 2,5 – 2,2 = 0,3 dvs. bindingerne i molekyler er upolære.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molekyle med udelukkende </a:t>
            </a:r>
            <a:r>
              <a:rPr kumimoji="0" lang="da-DK" altLang="da-DK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upolære</a:t>
            </a:r>
            <a:r>
              <a:rPr kumimoji="0" lang="da-DK" altLang="da-D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bindinger vil altid være et upolært molekyle.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36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Methan</a:t>
            </a:r>
            <a:r>
              <a:rPr lang="da-DK" altLang="da-DK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 er ikke særlig blandbart med vand.</a:t>
            </a:r>
            <a:endParaRPr kumimoji="0" lang="da-DK" altLang="da-DK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16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5" t="20543" r="16425" b="39616"/>
          <a:stretch>
            <a:fillRect/>
          </a:stretch>
        </p:blipFill>
        <p:spPr bwMode="auto">
          <a:xfrm>
            <a:off x="7543198" y="4710992"/>
            <a:ext cx="3009674" cy="132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18" descr="http://roskilde-rental.dk/wp-content/uploads/2016/04/908-Batter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1" t="27499" r="13304" b="27501"/>
          <a:stretch>
            <a:fillRect/>
          </a:stretch>
        </p:blipFill>
        <p:spPr bwMode="auto">
          <a:xfrm>
            <a:off x="9263478" y="4278136"/>
            <a:ext cx="1208241" cy="47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47472" y="112367"/>
            <a:ext cx="542803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Carbondioxid CO</a:t>
            </a:r>
            <a:r>
              <a:rPr kumimoji="0" lang="da-DK" altLang="da-DK" sz="32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da-DK" altLang="da-DK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= C = O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47472" y="47543"/>
            <a:ext cx="1066023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Δ(O-C) = 3,5 – 2,5 = 1,0 dvs. polære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bindinger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δ- er omkring O-atomer </a:t>
            </a:r>
            <a:r>
              <a:rPr lang="da-DK" alt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δ+ omkring C-atomet.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2800" dirty="0">
                <a:latin typeface="Calibri" panose="020F0502020204030204" pitchFamily="34" charset="0"/>
                <a:cs typeface="Times New Roman" panose="02020603050405020304" pitchFamily="18" charset="0"/>
              </a:rPr>
              <a:t>Pilene over molekylet peger altid i retning af det mest elektronegative atom i en kovalent binding.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08570" y="1760706"/>
            <a:ext cx="1168343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molekylet en dipol?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Nej – det er ikke en dipol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Dvs. molekylet er </a:t>
            </a:r>
            <a:r>
              <a:rPr lang="da-DK" altLang="da-DK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upolært</a:t>
            </a:r>
            <a:r>
              <a:rPr lang="da-DK" alt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og dermed ikke særlig blandbart med vand.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18" descr="http://roskilde-rental.dk/wp-content/uploads/2016/04/908-Batter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1" t="27499" r="13304" b="27501"/>
          <a:stretch>
            <a:fillRect/>
          </a:stretch>
        </p:blipFill>
        <p:spPr bwMode="auto">
          <a:xfrm rot="10800000">
            <a:off x="7903796" y="4237870"/>
            <a:ext cx="1208241" cy="47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5" t="20543" r="16425" b="39616"/>
          <a:stretch>
            <a:fillRect/>
          </a:stretch>
        </p:blipFill>
        <p:spPr bwMode="auto">
          <a:xfrm>
            <a:off x="7961150" y="462335"/>
            <a:ext cx="3722280" cy="164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74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5322</TotalTime>
  <Words>607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8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Integrerede OLE-servere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Georgia</vt:lpstr>
      <vt:lpstr>Verdana</vt:lpstr>
      <vt:lpstr>Office-tema</vt:lpstr>
      <vt:lpstr>ChemSketch</vt:lpstr>
      <vt:lpstr> </vt:lpstr>
      <vt:lpstr>Polære og upolære bindinger og molekyler</vt:lpstr>
      <vt:lpstr> </vt:lpstr>
      <vt:lpstr>PowerPoint-præsentation</vt:lpstr>
      <vt:lpstr>Polære og upolære bindinger og molekyler Diatomige (to-atomige) molekyler  Dihydrogen       H – H  Δ(EN) = 0 dvs. elektronparbindingen er upolær.   Når bindingen i molekylet er upolær er molekylet også upolært – elektronerne fordeler sig ligeligt omkring de to atomer.  Det gælder altid for diatomige molekyler, at hvis bindingen er upolær, så er hele molekylet også upolært. </vt:lpstr>
      <vt:lpstr>Polære og upolære bindinger og molekyler Diatomige (to-atomige) molekyler    </vt:lpstr>
      <vt:lpstr>Molekyler med mere end to atomer    </vt:lpstr>
      <vt:lpstr>PowerPoint-præsentation</vt:lpstr>
      <vt:lpstr>Ledige elektronpar angives ofte med en streg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Charlotte Lena Boesen</dc:creator>
  <cp:lastModifiedBy>Charlotte Lena Boesen</cp:lastModifiedBy>
  <cp:revision>51</cp:revision>
  <dcterms:created xsi:type="dcterms:W3CDTF">2016-03-09T21:13:26Z</dcterms:created>
  <dcterms:modified xsi:type="dcterms:W3CDTF">2025-03-10T18:39:09Z</dcterms:modified>
</cp:coreProperties>
</file>