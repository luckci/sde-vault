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6"/>
  </p:handoutMasterIdLst>
  <p:sldIdLst>
    <p:sldId id="256" r:id="rId2"/>
    <p:sldId id="313" r:id="rId3"/>
    <p:sldId id="314" r:id="rId4"/>
    <p:sldId id="326" r:id="rId5"/>
    <p:sldId id="31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7" r:id="rId16"/>
    <p:sldId id="328" r:id="rId17"/>
    <p:sldId id="329" r:id="rId18"/>
    <p:sldId id="331" r:id="rId19"/>
    <p:sldId id="332" r:id="rId20"/>
    <p:sldId id="330" r:id="rId21"/>
    <p:sldId id="333" r:id="rId22"/>
    <p:sldId id="334" r:id="rId23"/>
    <p:sldId id="335" r:id="rId24"/>
    <p:sldId id="336" r:id="rId25"/>
    <p:sldId id="337" r:id="rId26"/>
    <p:sldId id="393" r:id="rId27"/>
    <p:sldId id="338" r:id="rId28"/>
    <p:sldId id="339" r:id="rId29"/>
    <p:sldId id="394" r:id="rId30"/>
    <p:sldId id="340" r:id="rId31"/>
    <p:sldId id="341" r:id="rId32"/>
    <p:sldId id="342" r:id="rId33"/>
    <p:sldId id="343" r:id="rId34"/>
    <p:sldId id="344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386" r:id="rId54"/>
    <p:sldId id="387" r:id="rId55"/>
    <p:sldId id="388" r:id="rId56"/>
    <p:sldId id="395" r:id="rId57"/>
    <p:sldId id="389" r:id="rId58"/>
    <p:sldId id="396" r:id="rId59"/>
    <p:sldId id="390" r:id="rId60"/>
    <p:sldId id="397" r:id="rId61"/>
    <p:sldId id="391" r:id="rId62"/>
    <p:sldId id="399" r:id="rId63"/>
    <p:sldId id="398" r:id="rId64"/>
    <p:sldId id="400" r:id="rId65"/>
  </p:sldIdLst>
  <p:sldSz cx="9144000" cy="6858000" type="screen4x3"/>
  <p:notesSz cx="6662738" cy="9926638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77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7186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774010" y="0"/>
            <a:ext cx="2887186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51DD5-B8F1-4946-84DB-F39D09CC2D8C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7186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774010" y="9428583"/>
            <a:ext cx="2887186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5D5F1-763A-43F1-8C50-ADFB369852C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4235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184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707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868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442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55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132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373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256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114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550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364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B4E99-E11C-49F6-9DA8-911A94605460}" type="datetimeFigureOut">
              <a:rPr lang="da-DK" smtClean="0"/>
              <a:t>06-02-2022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5A5B9-A1E3-4D4E-B949-AAAADFB270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621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Mængdeberegning</a:t>
            </a:r>
          </a:p>
        </p:txBody>
      </p:sp>
      <p:pic>
        <p:nvPicPr>
          <p:cNvPr id="3" name="Bille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396" y="5422661"/>
            <a:ext cx="1888604" cy="143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3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I lære?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At finde massen af de andre </a:t>
            </a:r>
            <a:r>
              <a:rPr lang="da-DK" dirty="0" err="1"/>
              <a:t>reaktanter</a:t>
            </a:r>
            <a:r>
              <a:rPr lang="da-DK" dirty="0"/>
              <a:t> og produkter i en kemisk reaktion, når man kender massen af den ene</a:t>
            </a:r>
          </a:p>
          <a:p>
            <a:r>
              <a:rPr lang="da-DK" dirty="0"/>
              <a:t>At opstille et beregningsskema og følge opskriften for mængdeberegning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44" y="4572090"/>
            <a:ext cx="2836912" cy="226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6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Opskrift for mængdeberegning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Opskriv reaktionsskemaet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Lav et mængdeberegningsskema som en tabel med fem rækker: reaktionsskemaet, forhold, stofmængde, </a:t>
                </a:r>
                <a:r>
                  <a:rPr lang="da-DK" dirty="0" err="1"/>
                  <a:t>molarmasse</a:t>
                </a:r>
                <a:r>
                  <a:rPr lang="da-DK" dirty="0"/>
                  <a:t> og masse. Antallet af kolonner skal svare til antallet af </a:t>
                </a:r>
                <a:r>
                  <a:rPr lang="da-DK" dirty="0" err="1"/>
                  <a:t>reaktanter</a:t>
                </a:r>
                <a:r>
                  <a:rPr lang="da-DK" dirty="0"/>
                  <a:t> og produkter, plus additionstegn og reaktionspil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Find </a:t>
                </a:r>
                <a:r>
                  <a:rPr lang="da-DK" dirty="0" err="1"/>
                  <a:t>molarmassen</a:t>
                </a:r>
                <a:r>
                  <a:rPr lang="da-DK" dirty="0"/>
                  <a:t> for alle stofferne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Afstem reaktionsskemaet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Før koefficienterne fra reaktionsskemaet ned i rækken ’Forhold’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Beregn stofmængden af det stof, hvor du kender massen,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br>
                  <a:rPr lang="da-DK" dirty="0"/>
                </a:br>
                <a:r>
                  <a:rPr lang="da-DK" dirty="0"/>
                  <a:t>                                                                                                  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Forholdet mellem stofmængderne = forholdet mellem koefficienterne. Beregn nu stofmængden af de andre stoffer.</a:t>
                </a:r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Beregn masserne af de andre stoffer, m = </a:t>
                </a:r>
                <a:r>
                  <a:rPr lang="da-DK" dirty="0" err="1"/>
                  <a:t>n</a:t>
                </a:r>
                <a:r>
                  <a:rPr lang="da-DK" dirty="0" err="1">
                    <a:sym typeface="Symbol"/>
                  </a:rPr>
                  <a:t></a:t>
                </a:r>
                <a:r>
                  <a:rPr lang="da-DK" dirty="0" err="1"/>
                  <a:t>M</a:t>
                </a:r>
                <a:endParaRPr lang="da-DK" dirty="0"/>
              </a:p>
              <a:p>
                <a:pPr marL="514350" lvl="0" indent="-514350">
                  <a:buFont typeface="+mj-lt"/>
                  <a:buAutoNum type="arabicPeriod"/>
                </a:pPr>
                <a:r>
                  <a:rPr lang="da-DK" dirty="0"/>
                  <a:t>Kontrol: summen af </a:t>
                </a:r>
                <a:r>
                  <a:rPr lang="da-DK" u="sng" dirty="0"/>
                  <a:t>massen</a:t>
                </a:r>
                <a:r>
                  <a:rPr lang="da-DK" dirty="0"/>
                  <a:t> af </a:t>
                </a:r>
                <a:r>
                  <a:rPr lang="da-DK" dirty="0" err="1"/>
                  <a:t>reaktanterne</a:t>
                </a:r>
                <a:r>
                  <a:rPr lang="da-DK" dirty="0"/>
                  <a:t> = summen af </a:t>
                </a:r>
                <a:r>
                  <a:rPr lang="da-DK" u="sng" dirty="0"/>
                  <a:t>massen</a:t>
                </a:r>
                <a:r>
                  <a:rPr lang="da-DK" dirty="0"/>
                  <a:t> af produkterne.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2022" r="-51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76" y="5679221"/>
            <a:ext cx="1206624" cy="11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23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Eksempel 1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Vi har 1,00 g H</a:t>
            </a:r>
            <a:r>
              <a:rPr lang="da-DK" baseline="-25000" dirty="0"/>
              <a:t>2</a:t>
            </a:r>
            <a:r>
              <a:rPr lang="da-DK" dirty="0"/>
              <a:t>. Hvor mange gram O</a:t>
            </a:r>
            <a:r>
              <a:rPr lang="da-DK" baseline="-25000" dirty="0"/>
              <a:t>2</a:t>
            </a:r>
            <a:r>
              <a:rPr lang="da-DK" dirty="0"/>
              <a:t> skal der bruges i nedenstående reaktion, og hvor mange gram H</a:t>
            </a:r>
            <a:r>
              <a:rPr lang="da-DK" baseline="-25000" dirty="0"/>
              <a:t>2</a:t>
            </a:r>
            <a:r>
              <a:rPr lang="da-DK" dirty="0"/>
              <a:t>O dannes der ved reaktionen?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		H</a:t>
            </a:r>
            <a:r>
              <a:rPr lang="da-DK" baseline="-25000" dirty="0"/>
              <a:t>2</a:t>
            </a:r>
            <a:r>
              <a:rPr lang="da-DK" dirty="0"/>
              <a:t>    +  O</a:t>
            </a:r>
            <a:r>
              <a:rPr lang="da-DK" baseline="-25000" dirty="0"/>
              <a:t>2</a:t>
            </a:r>
            <a:r>
              <a:rPr lang="da-DK" dirty="0"/>
              <a:t>     </a:t>
            </a:r>
            <a:r>
              <a:rPr lang="da-DK" dirty="0">
                <a:sym typeface="Symbol"/>
              </a:rPr>
              <a:t></a:t>
            </a:r>
            <a:r>
              <a:rPr lang="da-DK" dirty="0"/>
              <a:t>      H</a:t>
            </a:r>
            <a:r>
              <a:rPr lang="da-DK" baseline="-25000" dirty="0"/>
              <a:t>2</a:t>
            </a:r>
            <a:r>
              <a:rPr lang="da-DK" dirty="0"/>
              <a:t>O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76" y="5679221"/>
            <a:ext cx="1206624" cy="11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Trin 1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a-DK" dirty="0"/>
              <a:t>Opskriv reaktionsskemaet</a:t>
            </a:r>
          </a:p>
          <a:p>
            <a:pPr marL="0" indent="0">
              <a:buNone/>
            </a:pPr>
            <a:r>
              <a:rPr lang="da-DK" dirty="0"/>
              <a:t>	H</a:t>
            </a:r>
            <a:r>
              <a:rPr lang="da-DK" baseline="-25000" dirty="0"/>
              <a:t>2</a:t>
            </a:r>
            <a:r>
              <a:rPr lang="da-DK" dirty="0"/>
              <a:t>     +       O</a:t>
            </a:r>
            <a:r>
              <a:rPr lang="da-DK" baseline="-25000" dirty="0"/>
              <a:t>2</a:t>
            </a:r>
            <a:r>
              <a:rPr lang="da-DK" dirty="0"/>
              <a:t>     </a:t>
            </a:r>
            <a:r>
              <a:rPr lang="da-DK" dirty="0">
                <a:sym typeface="Symbol"/>
              </a:rPr>
              <a:t></a:t>
            </a:r>
            <a:r>
              <a:rPr lang="da-DK" dirty="0"/>
              <a:t>     H</a:t>
            </a:r>
            <a:r>
              <a:rPr lang="da-DK" baseline="-25000" dirty="0"/>
              <a:t>2</a:t>
            </a:r>
            <a:r>
              <a:rPr lang="da-DK" dirty="0"/>
              <a:t>O</a:t>
            </a:r>
            <a:br>
              <a:rPr lang="da-DK" dirty="0"/>
            </a:b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76" y="5679221"/>
            <a:ext cx="1206624" cy="11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2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Lav et mængdeberegningsskema som en tabel med fem rækker. Antallet af kolonner skal svare til antallet af </a:t>
            </a:r>
            <a:r>
              <a:rPr lang="da-DK" dirty="0" err="1"/>
              <a:t>reaktanter</a:t>
            </a:r>
            <a:r>
              <a:rPr lang="da-DK" dirty="0"/>
              <a:t> og produkter, plus additionstegn og reaktionspil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57198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3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Lav et mængdeberegningsskema som en tabel med fem rækker. Antallet af kolonner skal svare til antallet af </a:t>
            </a:r>
            <a:r>
              <a:rPr lang="da-DK" dirty="0" err="1"/>
              <a:t>reaktanter</a:t>
            </a:r>
            <a:r>
              <a:rPr lang="da-DK" dirty="0"/>
              <a:t> og produkter, plus additionstegn og reaktionspil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1232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17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60190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2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62459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02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816077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02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011310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816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Afstem reaktionsskemaet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24462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79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Afstem reaktionsskemaet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64413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028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Før koefficienterne fra reaktionsskemaet ned i rækken ’Forhold’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300979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889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Før koefficienterne fra reaktionsskemaet ned i rækken ’Forhold’ (forholdet mellem </a:t>
            </a:r>
            <a:r>
              <a:rPr lang="da-DK" dirty="0" err="1"/>
              <a:t>reaktanter</a:t>
            </a:r>
            <a:r>
              <a:rPr lang="da-DK" dirty="0"/>
              <a:t> og produkter)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97154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309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20645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069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303719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769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1,00 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2,016 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067716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80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1,00 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2,016 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=0,496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</m:oMath>
                </a14:m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55642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69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1,00 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2,016 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=0,496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</m:oMath>
                </a14:m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5143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234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904477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408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250845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738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007766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295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Beregn masserne af de andre stoffer ved hjælp af formlen</a:t>
            </a:r>
          </a:p>
          <a:p>
            <a:pPr marL="0" indent="0">
              <a:buNone/>
            </a:pPr>
            <a:r>
              <a:rPr lang="da-DK" dirty="0"/>
              <a:t> 			m = </a:t>
            </a:r>
            <a:r>
              <a:rPr lang="da-DK" dirty="0" err="1"/>
              <a:t>n</a:t>
            </a:r>
            <a:r>
              <a:rPr lang="da-DK" dirty="0" err="1">
                <a:sym typeface="Symbol"/>
              </a:rPr>
              <a:t></a:t>
            </a:r>
            <a:r>
              <a:rPr lang="da-DK" dirty="0" err="1"/>
              <a:t>M</a:t>
            </a: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867845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796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O</a:t>
                </a:r>
                <a:r>
                  <a:rPr lang="da-DK" baseline="-25000" dirty="0"/>
                  <a:t>2</a:t>
                </a:r>
                <a:r>
                  <a:rPr lang="da-DK" dirty="0"/>
                  <a:t>:	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0,248 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∙32,00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22826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922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O</a:t>
                </a:r>
                <a:r>
                  <a:rPr lang="da-DK" baseline="-25000" dirty="0"/>
                  <a:t>2</a:t>
                </a:r>
                <a:r>
                  <a:rPr lang="da-DK" dirty="0"/>
                  <a:t>:	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0,248 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∙32,00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r>
                  <a:rPr lang="da-DK" dirty="0"/>
                  <a:t>7,94 g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22402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536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O</a:t>
                </a:r>
                <a:r>
                  <a:rPr lang="da-DK" baseline="-25000" dirty="0"/>
                  <a:t>2</a:t>
                </a:r>
                <a:r>
                  <a:rPr lang="da-DK" dirty="0"/>
                  <a:t>:	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0,248 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∙32,00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r>
                  <a:rPr lang="da-DK" dirty="0"/>
                  <a:t>7,94 g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554246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7,94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159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H</a:t>
                </a:r>
                <a:r>
                  <a:rPr lang="da-DK" baseline="-25000" dirty="0"/>
                  <a:t>2</a:t>
                </a:r>
                <a:r>
                  <a:rPr lang="da-DK" dirty="0"/>
                  <a:t>O: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0,496 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∙18,02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245977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7,94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316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H</a:t>
                </a:r>
                <a:r>
                  <a:rPr lang="da-DK" baseline="-25000" dirty="0"/>
                  <a:t>2</a:t>
                </a:r>
                <a:r>
                  <a:rPr lang="da-DK" dirty="0"/>
                  <a:t>O: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0,496 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∙18,02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r>
                  <a:rPr lang="da-DK" dirty="0"/>
                  <a:t>8,94 g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04219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7,94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568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H</a:t>
                </a:r>
                <a:r>
                  <a:rPr lang="da-DK" baseline="-25000" dirty="0"/>
                  <a:t>2</a:t>
                </a:r>
                <a:r>
                  <a:rPr lang="da-DK" dirty="0"/>
                  <a:t>O:	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0,496 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∙18,02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r>
                  <a:rPr lang="da-DK" dirty="0"/>
                  <a:t>8,94 g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92795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7,94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8,94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761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da-DK" dirty="0"/>
                  <a:t>Kontrol: summen af </a:t>
                </a:r>
                <a:r>
                  <a:rPr lang="da-DK" u="sng" dirty="0"/>
                  <a:t>massen</a:t>
                </a:r>
                <a:r>
                  <a:rPr lang="da-DK" dirty="0"/>
                  <a:t> af </a:t>
                </a:r>
                <a:r>
                  <a:rPr lang="da-DK" dirty="0" err="1"/>
                  <a:t>reaktanterne</a:t>
                </a:r>
                <a:r>
                  <a:rPr lang="da-DK" dirty="0"/>
                  <a:t> = summen af </a:t>
                </a:r>
                <a:r>
                  <a:rPr lang="da-DK" u="sng" dirty="0"/>
                  <a:t>massen</a:t>
                </a:r>
                <a:r>
                  <a:rPr lang="da-DK" dirty="0"/>
                  <a:t> af produkterne.</a:t>
                </a:r>
              </a:p>
              <a:p>
                <a:pPr marL="0" indent="0">
                  <a:buNone/>
                </a:pPr>
                <a:r>
                  <a:rPr lang="da-DK" dirty="0"/>
                  <a:t>    	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/>
                      </a:rPr>
                      <m:t>1,00 </m:t>
                    </m:r>
                    <m:r>
                      <m:rPr>
                        <m:sty m:val="p"/>
                      </m:rPr>
                      <a:rPr lang="da-DK" b="0" i="0" smtClean="0">
                        <a:latin typeface="Cambria Math"/>
                      </a:rPr>
                      <m:t>g</m:t>
                    </m:r>
                    <m:r>
                      <a:rPr lang="da-DK" b="0" i="0" smtClean="0">
                        <a:latin typeface="Cambria Math"/>
                      </a:rPr>
                      <m:t> </m:t>
                    </m:r>
                    <m:r>
                      <a:rPr lang="da-DK" b="0" i="1" smtClean="0">
                        <a:latin typeface="Cambria Math"/>
                      </a:rPr>
                      <m:t>+7,94 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  <m:r>
                      <a:rPr lang="da-DK" b="0" i="1" smtClean="0">
                        <a:latin typeface="Cambria Math"/>
                      </a:rPr>
                      <m:t>=8,94 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</m:oMath>
                </a14:m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0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333922"/>
              </p:ext>
            </p:extLst>
          </p:nvPr>
        </p:nvGraphicFramePr>
        <p:xfrm>
          <a:off x="827584" y="3789040"/>
          <a:ext cx="727280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0,496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7,94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8,94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611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Eksempel 2 </a:t>
            </a:r>
            <a:r>
              <a:rPr lang="da-DK" sz="1800" dirty="0"/>
              <a:t>(opgave 1.6 s. 26)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Der afbrændes 80,8 g </a:t>
            </a:r>
            <a:r>
              <a:rPr lang="da-DK" dirty="0" err="1"/>
              <a:t>methan</a:t>
            </a:r>
            <a:r>
              <a:rPr lang="da-DK" dirty="0"/>
              <a:t>. Beregn massen af O</a:t>
            </a:r>
            <a:r>
              <a:rPr lang="da-DK" baseline="-25000" dirty="0"/>
              <a:t>2</a:t>
            </a:r>
            <a:r>
              <a:rPr lang="da-DK" dirty="0"/>
              <a:t>, der anvendes ved forbrændingen, og beregn massen af det dannede CO</a:t>
            </a:r>
            <a:r>
              <a:rPr lang="da-DK" baseline="-25000" dirty="0"/>
              <a:t>2</a:t>
            </a:r>
            <a:r>
              <a:rPr lang="da-DK" dirty="0"/>
              <a:t> og H</a:t>
            </a:r>
            <a:r>
              <a:rPr lang="da-DK" baseline="-25000" dirty="0"/>
              <a:t>2</a:t>
            </a:r>
            <a:r>
              <a:rPr lang="da-DK" dirty="0"/>
              <a:t>O.  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dirty="0"/>
              <a:t>		CH</a:t>
            </a:r>
            <a:r>
              <a:rPr lang="da-DK" baseline="-25000" dirty="0"/>
              <a:t>4</a:t>
            </a:r>
            <a:r>
              <a:rPr lang="da-DK" dirty="0"/>
              <a:t>    +  O</a:t>
            </a:r>
            <a:r>
              <a:rPr lang="da-DK" baseline="-25000" dirty="0"/>
              <a:t>2</a:t>
            </a:r>
            <a:r>
              <a:rPr lang="da-DK" dirty="0"/>
              <a:t>     </a:t>
            </a:r>
            <a:r>
              <a:rPr lang="da-DK" dirty="0">
                <a:sym typeface="Symbol"/>
              </a:rPr>
              <a:t></a:t>
            </a:r>
            <a:r>
              <a:rPr lang="da-DK" dirty="0"/>
              <a:t> CO</a:t>
            </a:r>
            <a:r>
              <a:rPr lang="da-DK" baseline="-25000" dirty="0"/>
              <a:t>2</a:t>
            </a:r>
            <a:r>
              <a:rPr lang="da-DK" dirty="0"/>
              <a:t>   +    H</a:t>
            </a:r>
            <a:r>
              <a:rPr lang="da-DK" baseline="-25000" dirty="0"/>
              <a:t>2</a:t>
            </a:r>
            <a:r>
              <a:rPr lang="da-DK" dirty="0"/>
              <a:t>O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76" y="5679221"/>
            <a:ext cx="1206624" cy="11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30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Trin 1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a-DK" dirty="0"/>
              <a:t>Opskriv reaktionsskemaet</a:t>
            </a:r>
          </a:p>
          <a:p>
            <a:pPr marL="0" indent="0">
              <a:buNone/>
            </a:pPr>
            <a:r>
              <a:rPr lang="da-DK" dirty="0"/>
              <a:t>	CH</a:t>
            </a:r>
            <a:r>
              <a:rPr lang="da-DK" baseline="-25000" dirty="0"/>
              <a:t>4</a:t>
            </a:r>
            <a:r>
              <a:rPr lang="da-DK" dirty="0"/>
              <a:t>     +       O</a:t>
            </a:r>
            <a:r>
              <a:rPr lang="da-DK" baseline="-25000" dirty="0"/>
              <a:t>2</a:t>
            </a:r>
            <a:r>
              <a:rPr lang="da-DK" dirty="0"/>
              <a:t>     </a:t>
            </a:r>
            <a:r>
              <a:rPr lang="da-DK" dirty="0">
                <a:sym typeface="Symbol"/>
              </a:rPr>
              <a:t></a:t>
            </a:r>
            <a:r>
              <a:rPr lang="da-DK" dirty="0"/>
              <a:t>     CO</a:t>
            </a:r>
            <a:r>
              <a:rPr lang="da-DK" baseline="-25000" dirty="0"/>
              <a:t>2</a:t>
            </a:r>
            <a:r>
              <a:rPr lang="da-DK" dirty="0"/>
              <a:t>   +   H</a:t>
            </a:r>
            <a:r>
              <a:rPr lang="da-DK" baseline="-25000" dirty="0"/>
              <a:t>2</a:t>
            </a:r>
            <a:r>
              <a:rPr lang="da-DK" dirty="0"/>
              <a:t>O</a:t>
            </a:r>
            <a:br>
              <a:rPr lang="da-DK" dirty="0"/>
            </a:b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376" y="5679221"/>
            <a:ext cx="1206624" cy="11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57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Lav et mængdeberegningsskema som en tabel med fem rækker. Antallet af kolonner skal svare til antallet af </a:t>
            </a:r>
            <a:r>
              <a:rPr lang="da-DK" dirty="0" err="1"/>
              <a:t>reaktanter</a:t>
            </a:r>
            <a:r>
              <a:rPr lang="da-DK" dirty="0"/>
              <a:t> og produkter, plus additionstegn og reaktionspil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40446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65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2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Lav et mængdeberegningsskema som en tabel med fem rækker. Antallet af kolonner skal svare til antallet af </a:t>
            </a:r>
            <a:r>
              <a:rPr lang="da-DK" dirty="0" err="1"/>
              <a:t>reaktanter</a:t>
            </a:r>
            <a:r>
              <a:rPr lang="da-DK" dirty="0"/>
              <a:t> og produkter, plus additionstegn og reaktionspil</a:t>
            </a: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816940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865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372575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049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36079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747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6217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522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925265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522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3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molarmassen</a:t>
            </a:r>
            <a:r>
              <a:rPr lang="da-DK" dirty="0"/>
              <a:t> for alle stofferne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555698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522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Afstem reaktionsskemaet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831032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8678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4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Afstem reaktionsskemaet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46016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0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Før koefficienterne fra reaktionsskemaet ned i rækken ’Forhold’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15087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1019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5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Før koefficienterne fra reaktionsskemaet ned i rækken ’Forhold’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18946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1611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836157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2723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/>
                          </a:rPr>
                          <m:t>𝑚</m:t>
                        </m:r>
                      </m:num>
                      <m:den>
                        <m:r>
                          <a:rPr lang="da-DK" i="1">
                            <a:latin typeface="Cambria Math"/>
                          </a:rPr>
                          <m:t>𝑀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69919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80,8 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16,04 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</m:oMath>
                </a14:m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34112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962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80,8 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16,04 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da-DK" dirty="0"/>
                  <a:t> = 5,04 mol</a:t>
                </a: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78968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408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stofmængden af det stof, hvor du kender massen ved hjælp af formlen</a:t>
                </a:r>
              </a:p>
              <a:p>
                <a:pPr marL="457200" lvl="1" indent="0">
                  <a:buNone/>
                </a:pPr>
                <a:r>
                  <a:rPr lang="da-DK" dirty="0"/>
                  <a:t>			 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</a:rPr>
                          <m:t>80,8 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</a:rPr>
                          <m:t>16,04 </m:t>
                        </m:r>
                        <m:r>
                          <a:rPr lang="da-DK" b="0" i="1" smtClean="0">
                            <a:latin typeface="Cambria Math"/>
                          </a:rPr>
                          <m:t>𝑔</m:t>
                        </m:r>
                        <m:r>
                          <a:rPr lang="da-DK" b="0" i="1" smtClean="0">
                            <a:latin typeface="Cambria Math"/>
                          </a:rPr>
                          <m:t>/</m:t>
                        </m:r>
                        <m:r>
                          <a:rPr lang="da-DK" b="0" i="1" smtClean="0">
                            <a:latin typeface="Cambria Math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da-DK" dirty="0"/>
                  <a:t> = 5,04 mol</a:t>
                </a: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814582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341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303805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6819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04534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4072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9277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432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>
                <a:solidFill>
                  <a:srgbClr val="C00000"/>
                </a:solidFill>
              </a:rPr>
              <a:t>Forholdet mellem stofmængderne = forholdet mellem koefficienterne. </a:t>
            </a:r>
            <a:r>
              <a:rPr lang="da-DK" dirty="0"/>
              <a:t>Beregn nu stofmængden af de andre stoffer.</a:t>
            </a:r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53001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4326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Beregn masserne af de andre stoffer ved hjælp af formlen</a:t>
            </a:r>
          </a:p>
          <a:p>
            <a:pPr marL="0" indent="0">
              <a:buNone/>
            </a:pPr>
            <a:r>
              <a:rPr lang="da-DK" dirty="0"/>
              <a:t> 			m = </a:t>
            </a:r>
            <a:r>
              <a:rPr lang="da-DK" dirty="0" err="1"/>
              <a:t>n</a:t>
            </a:r>
            <a:r>
              <a:rPr lang="da-DK" dirty="0" err="1">
                <a:sym typeface="Symbol"/>
              </a:rPr>
              <a:t></a:t>
            </a:r>
            <a:r>
              <a:rPr lang="da-DK" dirty="0" err="1"/>
              <a:t>M</a:t>
            </a: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4518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8928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O</a:t>
                </a:r>
                <a:r>
                  <a:rPr lang="da-DK" baseline="-25000" dirty="0"/>
                  <a:t>2</a:t>
                </a:r>
                <a:r>
                  <a:rPr lang="da-DK" dirty="0"/>
                  <a:t>	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/>
                      </a:rPr>
                      <m:t>    </m:t>
                    </m:r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=10,08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∙32,00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250977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6401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O</a:t>
                </a:r>
                <a:r>
                  <a:rPr lang="da-DK" baseline="-25000" dirty="0"/>
                  <a:t>2</a:t>
                </a:r>
                <a:r>
                  <a:rPr lang="da-DK" dirty="0"/>
                  <a:t>	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/>
                      </a:rPr>
                      <m:t>    </m:t>
                    </m:r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=10,08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∙32,00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322,6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064957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1378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CO</a:t>
                </a:r>
                <a:r>
                  <a:rPr lang="da-DK" baseline="-25000" dirty="0"/>
                  <a:t>2</a:t>
                </a:r>
                <a:r>
                  <a:rPr lang="da-DK" dirty="0"/>
                  <a:t>   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=5,04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∙44,01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 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47789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889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CO</a:t>
                </a:r>
                <a:r>
                  <a:rPr lang="da-DK" baseline="-25000" dirty="0"/>
                  <a:t>2</a:t>
                </a:r>
                <a:r>
                  <a:rPr lang="da-DK" dirty="0"/>
                  <a:t>   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=5,04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∙44,01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 221,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581004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221,8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4816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H</a:t>
                </a:r>
                <a:r>
                  <a:rPr lang="da-DK" baseline="-25000" dirty="0"/>
                  <a:t>2</a:t>
                </a:r>
                <a:r>
                  <a:rPr lang="da-DK" dirty="0"/>
                  <a:t>O  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=10,08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∙18,02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 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6489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221,8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4951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dirty="0"/>
                  <a:t>Beregn masserne af de andre stoffer ved hjælp af formlen</a:t>
                </a:r>
              </a:p>
              <a:p>
                <a:pPr marL="0" indent="0">
                  <a:buNone/>
                </a:pPr>
                <a:r>
                  <a:rPr lang="da-DK" dirty="0"/>
                  <a:t>    H</a:t>
                </a:r>
                <a:r>
                  <a:rPr lang="da-DK" baseline="-25000" dirty="0"/>
                  <a:t>2</a:t>
                </a:r>
                <a:r>
                  <a:rPr lang="da-DK" dirty="0"/>
                  <a:t>O  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/>
                      </a:rPr>
                      <m:t>𝑚</m:t>
                    </m:r>
                    <m:r>
                      <a:rPr lang="da-DK" b="0" i="1" smtClean="0">
                        <a:latin typeface="Cambria Math"/>
                      </a:rPr>
                      <m:t>=10,08 </m:t>
                    </m:r>
                    <m:r>
                      <a:rPr lang="da-DK" b="0" i="1" smtClean="0">
                        <a:latin typeface="Cambria Math"/>
                      </a:rPr>
                      <m:t>𝑚𝑜𝑙</m:t>
                    </m:r>
                    <m:r>
                      <a:rPr lang="da-DK" b="0" i="1" smtClean="0">
                        <a:latin typeface="Cambria Math"/>
                        <a:ea typeface="Cambria Math"/>
                      </a:rPr>
                      <m:t>∙18,02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/>
                            <a:ea typeface="Cambria Math"/>
                          </a:rPr>
                          <m:t>𝑚𝑜𝑙</m:t>
                        </m:r>
                      </m:den>
                    </m:f>
                    <m:r>
                      <a:rPr lang="da-DK" b="0" i="1" smtClean="0">
                        <a:latin typeface="Cambria Math"/>
                      </a:rPr>
                      <m:t>=   181,6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</m:oMath>
                </a14:m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91603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221,8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815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da-DK" dirty="0"/>
                  <a:t>Kontrol: summen af </a:t>
                </a:r>
                <a:r>
                  <a:rPr lang="da-DK" u="sng" dirty="0"/>
                  <a:t>massen</a:t>
                </a:r>
                <a:r>
                  <a:rPr lang="da-DK" dirty="0"/>
                  <a:t> af </a:t>
                </a:r>
                <a:r>
                  <a:rPr lang="da-DK" dirty="0" err="1"/>
                  <a:t>reaktanterne</a:t>
                </a:r>
                <a:r>
                  <a:rPr lang="da-DK" dirty="0"/>
                  <a:t> = summen af </a:t>
                </a:r>
                <a:r>
                  <a:rPr lang="da-DK" u="sng" dirty="0"/>
                  <a:t>massen</a:t>
                </a:r>
                <a:r>
                  <a:rPr lang="da-DK" dirty="0"/>
                  <a:t> af produkterne.</a:t>
                </a:r>
              </a:p>
              <a:p>
                <a:pPr marL="0" indent="0">
                  <a:buNone/>
                </a:pPr>
                <a:r>
                  <a:rPr lang="da-DK" dirty="0"/>
                  <a:t>    	</a:t>
                </a:r>
                <a14:m>
                  <m:oMath xmlns:m="http://schemas.openxmlformats.org/officeDocument/2006/math">
                    <m:r>
                      <a:rPr lang="da-DK" b="0" i="0" smtClean="0">
                        <a:latin typeface="Cambria Math"/>
                      </a:rPr>
                      <m:t>80,8</m:t>
                    </m:r>
                    <m:r>
                      <a:rPr lang="da-DK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da-DK">
                        <a:latin typeface="Cambria Math"/>
                      </a:rPr>
                      <m:t>g</m:t>
                    </m:r>
                    <m:r>
                      <a:rPr lang="da-DK">
                        <a:latin typeface="Cambria Math"/>
                      </a:rPr>
                      <m:t> </m:t>
                    </m:r>
                    <m:r>
                      <a:rPr lang="da-DK" i="1">
                        <a:latin typeface="Cambria Math"/>
                      </a:rPr>
                      <m:t>+</m:t>
                    </m:r>
                    <m:r>
                      <a:rPr lang="da-DK" b="0" i="1" smtClean="0">
                        <a:latin typeface="Cambria Math"/>
                      </a:rPr>
                      <m:t>322,6</m:t>
                    </m:r>
                    <m:r>
                      <a:rPr lang="da-DK" i="1">
                        <a:latin typeface="Cambria Math"/>
                      </a:rPr>
                      <m:t> </m:t>
                    </m:r>
                    <m:r>
                      <a:rPr lang="da-DK" i="1">
                        <a:latin typeface="Cambria Math"/>
                      </a:rPr>
                      <m:t>𝑔</m:t>
                    </m:r>
                    <m:r>
                      <a:rPr lang="da-DK" i="1">
                        <a:latin typeface="Cambria Math"/>
                      </a:rPr>
                      <m:t>=221,8 </m:t>
                    </m:r>
                    <m:r>
                      <a:rPr lang="da-DK" i="1">
                        <a:latin typeface="Cambria Math"/>
                      </a:rPr>
                      <m:t>𝑔</m:t>
                    </m:r>
                    <m:r>
                      <a:rPr lang="da-DK" b="0" i="1" smtClean="0">
                        <a:latin typeface="Cambria Math"/>
                      </a:rPr>
                      <m:t>+181,6 </m:t>
                    </m:r>
                    <m:r>
                      <a:rPr lang="da-DK" b="0" i="1" smtClean="0">
                        <a:latin typeface="Cambria Math"/>
                      </a:rPr>
                      <m:t>𝑔</m:t>
                    </m:r>
                  </m:oMath>
                </a14:m>
                <a:endParaRPr lang="da-DK" dirty="0"/>
              </a:p>
              <a:p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pPr marL="0" indent="0">
                  <a:buNone/>
                </a:pPr>
                <a:br>
                  <a:rPr lang="da-DK" dirty="0"/>
                </a:b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26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585394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221,8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693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9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 err="1"/>
              <a:t>Reaktanter</a:t>
            </a:r>
            <a:r>
              <a:rPr lang="da-DK" dirty="0"/>
              <a:t> og produkter forekommer i </a:t>
            </a:r>
            <a:r>
              <a:rPr lang="da-DK" dirty="0">
                <a:solidFill>
                  <a:srgbClr val="FF0000"/>
                </a:solidFill>
              </a:rPr>
              <a:t>ækvivalente mængder </a:t>
            </a:r>
          </a:p>
          <a:p>
            <a:pPr marL="0" indent="0">
              <a:buNone/>
            </a:pPr>
            <a:r>
              <a:rPr lang="da-DK" sz="2200" dirty="0"/>
              <a:t>dvs. forholdet mellem stofmængderne er det samme som forholdet mellem koefficienter i reaktionsskemaet</a:t>
            </a:r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428901"/>
              </p:ext>
            </p:extLst>
          </p:nvPr>
        </p:nvGraphicFramePr>
        <p:xfrm>
          <a:off x="827584" y="3789040"/>
          <a:ext cx="7509303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81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>
                          <a:solidFill>
                            <a:srgbClr val="FF0000"/>
                          </a:solidFill>
                        </a:rPr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221,8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7860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Og så er det jeres tur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Først de to sidste opgaver på der udleverede ark og derefter</a:t>
            </a:r>
          </a:p>
          <a:p>
            <a:r>
              <a:rPr lang="da-DK" dirty="0"/>
              <a:t>Cirkel, trekant, firkant opgaver (differentierede opgaver </a:t>
            </a:r>
            <a:r>
              <a:rPr lang="da-DK"/>
              <a:t>i mængdeberegning)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44" y="4572090"/>
            <a:ext cx="2836912" cy="226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802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Trin 9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da-DK" dirty="0"/>
              <a:t>Man kan komme ud for at der i en opgave står at </a:t>
            </a:r>
            <a:r>
              <a:rPr lang="da-DK" dirty="0" err="1"/>
              <a:t>methan</a:t>
            </a:r>
            <a:r>
              <a:rPr lang="da-DK" dirty="0"/>
              <a:t> reagerer med </a:t>
            </a:r>
            <a:r>
              <a:rPr lang="da-DK" dirty="0" err="1"/>
              <a:t>dioxygen</a:t>
            </a:r>
            <a:r>
              <a:rPr lang="da-DK" dirty="0"/>
              <a:t> i overskud. </a:t>
            </a:r>
            <a:r>
              <a:rPr lang="da-DK" sz="1700" dirty="0"/>
              <a:t>Hermed menes at der er mere en 10,08 mol eller 322,6 g </a:t>
            </a:r>
            <a:r>
              <a:rPr lang="da-DK" sz="1700" dirty="0" err="1"/>
              <a:t>dioxygen</a:t>
            </a:r>
            <a:r>
              <a:rPr lang="da-DK" sz="1700" dirty="0"/>
              <a:t> til rådighed under reaktionen. Det vil være alt </a:t>
            </a:r>
            <a:r>
              <a:rPr lang="da-DK" sz="1700" dirty="0" err="1"/>
              <a:t>methan</a:t>
            </a:r>
            <a:r>
              <a:rPr lang="da-DK" sz="1700" dirty="0"/>
              <a:t> der forbruges først og når der ikke er mere tilbage stopper reaktionen. Stofmængden af </a:t>
            </a:r>
            <a:r>
              <a:rPr lang="da-DK" sz="1700" dirty="0" err="1"/>
              <a:t>methan</a:t>
            </a:r>
            <a:r>
              <a:rPr lang="da-DK" sz="1700" dirty="0"/>
              <a:t> er den stofmængde der overføres til produktsiden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pPr marL="0" indent="0">
              <a:buNone/>
            </a:pPr>
            <a:br>
              <a:rPr lang="da-DK" dirty="0"/>
            </a:br>
            <a:endParaRPr lang="da-DK" dirty="0"/>
          </a:p>
          <a:p>
            <a:endParaRPr lang="da-DK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08044"/>
              </p:ext>
            </p:extLst>
          </p:nvPr>
        </p:nvGraphicFramePr>
        <p:xfrm>
          <a:off x="457199" y="3356991"/>
          <a:ext cx="8147248" cy="3413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6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6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7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36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3906">
                <a:tc>
                  <a:txBody>
                    <a:bodyPr/>
                    <a:lstStyle/>
                    <a:p>
                      <a:pPr algn="l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CH</a:t>
                      </a:r>
                      <a:r>
                        <a:rPr lang="da-DK" baseline="-25000" dirty="0"/>
                        <a:t>4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baseline="0" dirty="0"/>
                        <a:t>2O</a:t>
                      </a:r>
                      <a:r>
                        <a:rPr lang="da-DK" baseline="-25000" dirty="0"/>
                        <a:t>2</a:t>
                      </a:r>
                      <a:endParaRPr lang="da-DK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2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2H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0" dirty="0"/>
                        <a:t>O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06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Forhold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1722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Stofmængde, n (mol)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Overskud</a:t>
                      </a:r>
                    </a:p>
                    <a:p>
                      <a:pPr algn="ctr"/>
                      <a:r>
                        <a:rPr lang="da-DK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(mere end 10,08 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10,08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876">
                <a:tc>
                  <a:txBody>
                    <a:bodyPr/>
                    <a:lstStyle/>
                    <a:p>
                      <a:pPr algn="l"/>
                      <a:r>
                        <a:rPr lang="da-DK" dirty="0" err="1"/>
                        <a:t>Molarmasse</a:t>
                      </a:r>
                      <a:r>
                        <a:rPr lang="da-DK" dirty="0"/>
                        <a:t>, M (g/mol)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16,04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32,00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44,01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176"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Masse, 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Overskud(</a:t>
                      </a:r>
                      <a:r>
                        <a:rPr lang="da-DK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322,6)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/>
                        <a:t>221,8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181,6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Nedadbuet pil 13"/>
          <p:cNvSpPr/>
          <p:nvPr/>
        </p:nvSpPr>
        <p:spPr>
          <a:xfrm>
            <a:off x="3923928" y="4437112"/>
            <a:ext cx="2088232" cy="1440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5" name="Opadbuet pil 14"/>
          <p:cNvSpPr/>
          <p:nvPr/>
        </p:nvSpPr>
        <p:spPr>
          <a:xfrm>
            <a:off x="3923928" y="5029609"/>
            <a:ext cx="3600400" cy="21602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99217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3410</Words>
  <Application>Microsoft Office PowerPoint</Application>
  <PresentationFormat>Skærmshow (4:3)</PresentationFormat>
  <Paragraphs>1230</Paragraphs>
  <Slides>64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64</vt:i4>
      </vt:variant>
    </vt:vector>
  </HeadingPairs>
  <TitlesOfParts>
    <vt:vector size="68" baseType="lpstr">
      <vt:lpstr>Arial</vt:lpstr>
      <vt:lpstr>Calibri</vt:lpstr>
      <vt:lpstr>Cambria Math</vt:lpstr>
      <vt:lpstr>Kontortema</vt:lpstr>
      <vt:lpstr>Mængdeberegning</vt:lpstr>
      <vt:lpstr>Hvad skal I lære?</vt:lpstr>
      <vt:lpstr>Opskrift for mængdeberegning</vt:lpstr>
      <vt:lpstr>Eksempel 1</vt:lpstr>
      <vt:lpstr>Trin 1</vt:lpstr>
      <vt:lpstr>Trin 2</vt:lpstr>
      <vt:lpstr>Trin 2</vt:lpstr>
      <vt:lpstr>Trin 3</vt:lpstr>
      <vt:lpstr>Trin 3</vt:lpstr>
      <vt:lpstr>Trin 3</vt:lpstr>
      <vt:lpstr>Trin 3</vt:lpstr>
      <vt:lpstr>Trin 4</vt:lpstr>
      <vt:lpstr>Trin 4</vt:lpstr>
      <vt:lpstr>Trin 5</vt:lpstr>
      <vt:lpstr>Trin 5</vt:lpstr>
      <vt:lpstr>Trin 6</vt:lpstr>
      <vt:lpstr>Trin 6</vt:lpstr>
      <vt:lpstr>Trin 6</vt:lpstr>
      <vt:lpstr>Trin 6</vt:lpstr>
      <vt:lpstr>Trin 6</vt:lpstr>
      <vt:lpstr>Trin 7</vt:lpstr>
      <vt:lpstr>Trin 7</vt:lpstr>
      <vt:lpstr>Trin 7</vt:lpstr>
      <vt:lpstr>Trin 8</vt:lpstr>
      <vt:lpstr>Trin 8</vt:lpstr>
      <vt:lpstr>Trin 8</vt:lpstr>
      <vt:lpstr>Trin 8</vt:lpstr>
      <vt:lpstr>Trin 8</vt:lpstr>
      <vt:lpstr>Trin 8</vt:lpstr>
      <vt:lpstr>Trin 8</vt:lpstr>
      <vt:lpstr>Trin 9</vt:lpstr>
      <vt:lpstr>Eksempel 2 (opgave 1.6 s. 26)</vt:lpstr>
      <vt:lpstr>Trin 1</vt:lpstr>
      <vt:lpstr>Trin 2</vt:lpstr>
      <vt:lpstr>Trin 2</vt:lpstr>
      <vt:lpstr>Trin 3</vt:lpstr>
      <vt:lpstr>Trin 3</vt:lpstr>
      <vt:lpstr>Trin 3</vt:lpstr>
      <vt:lpstr>Trin 3</vt:lpstr>
      <vt:lpstr>Trin 3</vt:lpstr>
      <vt:lpstr>Trin 4</vt:lpstr>
      <vt:lpstr>Trin 4</vt:lpstr>
      <vt:lpstr>Trin 5</vt:lpstr>
      <vt:lpstr>Trin 5</vt:lpstr>
      <vt:lpstr>Trin 6</vt:lpstr>
      <vt:lpstr>Trin 6</vt:lpstr>
      <vt:lpstr>Trin 6</vt:lpstr>
      <vt:lpstr>Trin 6</vt:lpstr>
      <vt:lpstr>Trin 6</vt:lpstr>
      <vt:lpstr>Trin 7</vt:lpstr>
      <vt:lpstr>Trin 7</vt:lpstr>
      <vt:lpstr>Trin 7</vt:lpstr>
      <vt:lpstr>Trin 7</vt:lpstr>
      <vt:lpstr>Trin 8</vt:lpstr>
      <vt:lpstr>Trin 8</vt:lpstr>
      <vt:lpstr>Trin 8</vt:lpstr>
      <vt:lpstr>Trin 8</vt:lpstr>
      <vt:lpstr>Trin 8</vt:lpstr>
      <vt:lpstr>Trin 8</vt:lpstr>
      <vt:lpstr>Trin 8</vt:lpstr>
      <vt:lpstr>Trin 9</vt:lpstr>
      <vt:lpstr>Trin 9</vt:lpstr>
      <vt:lpstr>Og så er det jeres tur …</vt:lpstr>
      <vt:lpstr>Trin 9</vt:lpstr>
    </vt:vector>
  </TitlesOfParts>
  <Company>Syddansk Erhvervsskole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Susanne Holst</dc:creator>
  <cp:lastModifiedBy>Charlotte Lena Boesen</cp:lastModifiedBy>
  <cp:revision>100</cp:revision>
  <cp:lastPrinted>2015-08-26T06:49:15Z</cp:lastPrinted>
  <dcterms:created xsi:type="dcterms:W3CDTF">2015-07-07T06:45:09Z</dcterms:created>
  <dcterms:modified xsi:type="dcterms:W3CDTF">2022-02-06T10:28:57Z</dcterms:modified>
</cp:coreProperties>
</file>