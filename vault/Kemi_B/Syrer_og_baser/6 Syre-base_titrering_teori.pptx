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2" r:id="rId6"/>
    <p:sldId id="265" r:id="rId7"/>
    <p:sldId id="269" r:id="rId8"/>
    <p:sldId id="273" r:id="rId9"/>
    <p:sldId id="274" r:id="rId10"/>
    <p:sldId id="263" r:id="rId11"/>
    <p:sldId id="271" r:id="rId12"/>
    <p:sldId id="264" r:id="rId13"/>
    <p:sldId id="267" r:id="rId14"/>
    <p:sldId id="270" r:id="rId15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>
        <p:scale>
          <a:sx n="80" d="100"/>
          <a:sy n="80" d="100"/>
        </p:scale>
        <p:origin x="102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2C8E-9FD9-49BD-ABCC-51C23ED814C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5FD10-6E90-45BF-9C47-389D41BD7F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7824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net.biolyt.dk/index.php?sID=928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Ved en kolorimetrisk titrering anvendes en indikator til  at vise ækvivalenspunktet, idet indikatoren skifter farve i ækvivalenspunktet.</a:t>
            </a:r>
          </a:p>
          <a:p>
            <a:r>
              <a:rPr lang="da-DK" dirty="0"/>
              <a:t>Syrebaseindikatorer er svage syrer der forekommer på formlen Hin i syre opløsninger og som In- i basiske opløsninger. In- har en anden farve end Hin.</a:t>
            </a:r>
          </a:p>
          <a:p>
            <a:endParaRPr lang="da-DK" dirty="0"/>
          </a:p>
          <a:p>
            <a:r>
              <a:rPr lang="da-DK" dirty="0"/>
              <a:t>Animation 1 viser hvordan pH ændrer sig, når en syre (titrand) titreres med en base (</a:t>
            </a:r>
            <a:r>
              <a:rPr lang="da-DK" dirty="0" err="1"/>
              <a:t>titrator</a:t>
            </a:r>
            <a:r>
              <a:rPr lang="da-DK" dirty="0"/>
              <a:t>). I ækvivalenspunktet set et stort spring i pH-værdi og </a:t>
            </a:r>
            <a:r>
              <a:rPr lang="da-DK" dirty="0" err="1"/>
              <a:t>ndikatoren</a:t>
            </a:r>
            <a:r>
              <a:rPr lang="da-DK" dirty="0"/>
              <a:t> skifter farve i ækvivalenspunktet. </a:t>
            </a:r>
          </a:p>
          <a:p>
            <a:r>
              <a:rPr lang="da-DK" dirty="0"/>
              <a:t>Volumen tilsat base i ækvivalenspunktet aflæses på buretten.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FD10-6E90-45BF-9C47-389D41BD7F7A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714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Ved en kolorimetrisk anvendes et pH-meter. Man måler sammenhørende værdier mellem volumen tilsat base og </a:t>
            </a:r>
            <a:r>
              <a:rPr lang="da-DK" dirty="0" err="1"/>
              <a:t>titratorens</a:t>
            </a:r>
            <a:r>
              <a:rPr lang="da-DK" dirty="0"/>
              <a:t> pH-værdi.</a:t>
            </a:r>
          </a:p>
          <a:p>
            <a:r>
              <a:rPr lang="da-DK" dirty="0"/>
              <a:t>Efter endt titrering tegnes en titrerkurve hvor pH afbildes som funktion af </a:t>
            </a:r>
            <a:r>
              <a:rPr lang="da-DK" dirty="0" err="1"/>
              <a:t>mL</a:t>
            </a:r>
            <a:r>
              <a:rPr lang="da-DK" dirty="0"/>
              <a:t> tilsat base. Volumen tilsat base i ækvivalenspunktet aflæses der hvor grafen har den største hældning.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FD10-6E90-45BF-9C47-389D41BD7F7A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3524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Når en stærk syre titreres med en stærk base (eller omvendt) ses et stort pH-spring i ækvivalenspunktet. Den indikator der skal vælges, skal have omslagsinterval i intervallet pH 4-10.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FD10-6E90-45BF-9C47-389D41BD7F7A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74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Når en svag syre titreres med en stærk base (eller omvendt) så ses ikke så stort pH-spring i ækvivalenspunktet som når man titrerer en stærk syre med en stærk base. Indikatoren der er velegnet til denne titrering skal have omslagsinterval i pH-området 6,5 – 11,5. Der er ikke så mange muligheder som tidligere, hvor det var en stærk syre, der skal titreres med en stærk base. </a:t>
            </a:r>
          </a:p>
          <a:p>
            <a:r>
              <a:rPr lang="da-DK" dirty="0"/>
              <a:t>Når en svag syre titreres med en stærk base er </a:t>
            </a:r>
            <a:r>
              <a:rPr lang="da-DK" dirty="0" err="1"/>
              <a:t>phenolphthalein</a:t>
            </a:r>
            <a:r>
              <a:rPr lang="da-DK" dirty="0"/>
              <a:t> velegnet som indikator mens </a:t>
            </a:r>
            <a:r>
              <a:rPr lang="da-DK" dirty="0" err="1"/>
              <a:t>methylrødt</a:t>
            </a:r>
            <a:r>
              <a:rPr lang="da-DK" dirty="0"/>
              <a:t> ikke kan anvendes.</a:t>
            </a:r>
          </a:p>
          <a:p>
            <a:r>
              <a:rPr lang="da-DK" dirty="0"/>
              <a:t>Man titrerer ikke en svag syre med en svag base (eller omvendt). Det vil være forbundet med stor usikkerhed, når ækvivalenspunktet skal aflæses.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FD10-6E90-45BF-9C47-389D41BD7F7A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9047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>
                <a:hlinkClick r:id="rId3"/>
              </a:rPr>
              <a:t>http://net.biolyt.dk/index.php?sID=928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FD10-6E90-45BF-9C47-389D41BD7F7A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62438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5FD10-6E90-45BF-9C47-389D41BD7F7A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009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867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838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16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2248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302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0036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154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321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726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148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4818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2107A-5B2E-4108-8324-44CE154E02BC}" type="datetimeFigureOut">
              <a:rPr lang="da-DK" smtClean="0"/>
              <a:t>26-03-2020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14A30-ECAC-42A0-AC0C-A990BFCEAA5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347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8/8c/Titolazione.gi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dk/imgres?imgurl=http://ibog.isisc.systime.dk/typo3temp/pics/35e51c77b8.png&amp;imgrefurl=http://ibog.isisc.systime.dk/index.php?id=400&amp;usg=__PUMMXBIEa9T_QgIQ6zoxBoYoNV0=&amp;h=596&amp;w=1000&amp;sz=62&amp;hl=da&amp;start=7&amp;zoom=1&amp;tbnid=1LCkxTT1vvX7dM:&amp;tbnh=89&amp;tbnw=149&amp;ei=n8XbTe_tLcbsOZbj-f8O&amp;prev=/search?q=syre+base+titrering&amp;hl=da&amp;sa=X&amp;biw=1259&amp;bih=583&amp;rlz=1R2GGHP_daDK415&amp;tbm=isch&amp;itbs=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Syre-base titrering</a:t>
            </a:r>
          </a:p>
        </p:txBody>
      </p:sp>
      <p:sp>
        <p:nvSpPr>
          <p:cNvPr id="3" name="Undertite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700808"/>
            <a:ext cx="2448272" cy="459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24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a-DK" b="1" dirty="0"/>
              <a:t>Formål:</a:t>
            </a:r>
            <a:br>
              <a:rPr lang="da-DK" dirty="0"/>
            </a:br>
            <a:br>
              <a:rPr lang="da-DK" dirty="0"/>
            </a:br>
            <a:r>
              <a:rPr lang="da-DK" sz="4000" dirty="0"/>
              <a:t>Anvendes ofte til at bestemme en ukendt syres eller bases koncentration</a:t>
            </a:r>
            <a:br>
              <a:rPr lang="da-DK" dirty="0"/>
            </a:br>
            <a:endParaRPr lang="da-DK" dirty="0"/>
          </a:p>
        </p:txBody>
      </p:sp>
      <p:sp>
        <p:nvSpPr>
          <p:cNvPr id="7" name="U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6585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da-DK" dirty="0"/>
            </a:br>
            <a:r>
              <a:rPr lang="da-DK" b="1" dirty="0"/>
              <a:t>Kolorimetrisk</a:t>
            </a:r>
            <a:r>
              <a:rPr lang="da-DK" dirty="0"/>
              <a:t> </a:t>
            </a:r>
            <a:br>
              <a:rPr lang="da-DK" dirty="0"/>
            </a:b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idx="1"/>
          </p:nvPr>
        </p:nvSpPr>
        <p:spPr>
          <a:xfrm>
            <a:off x="611560" y="1600200"/>
            <a:ext cx="8075240" cy="4637111"/>
          </a:xfrm>
        </p:spPr>
        <p:txBody>
          <a:bodyPr/>
          <a:lstStyle/>
          <a:p>
            <a:r>
              <a:rPr lang="da-DK" dirty="0"/>
              <a:t>Anvendelse af indikator</a:t>
            </a:r>
          </a:p>
          <a:p>
            <a:pPr marL="0" indent="0">
              <a:buNone/>
            </a:pPr>
            <a:endParaRPr lang="da-DK" sz="1800" dirty="0">
              <a:hlinkClick r:id="rId3"/>
            </a:endParaRPr>
          </a:p>
          <a:p>
            <a:pPr marL="0" indent="0">
              <a:buNone/>
            </a:pPr>
            <a:r>
              <a:rPr lang="da-DK" sz="1800" dirty="0">
                <a:hlinkClick r:id="rId3"/>
              </a:rPr>
              <a:t>http://upload.wikimedia.org/wikipedia/commons/8/8c/Titolazione.gif</a:t>
            </a:r>
            <a:endParaRPr lang="da-DK" sz="1800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212976"/>
            <a:ext cx="3744416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203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da-DK" b="1" dirty="0" err="1"/>
              <a:t>Potentiometrisk</a:t>
            </a:r>
            <a:r>
              <a:rPr lang="da-DK" b="1" dirty="0"/>
              <a:t>: </a:t>
            </a:r>
            <a:br>
              <a:rPr lang="da-DK" dirty="0"/>
            </a:b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Anvendelse af pH-meter: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49624"/>
            <a:ext cx="5139564" cy="3759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B58F99D-9E72-4129-B3CF-9FE44B292D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46" t="29166" b="20833"/>
          <a:stretch/>
        </p:blipFill>
        <p:spPr bwMode="auto">
          <a:xfrm>
            <a:off x="6441054" y="3510300"/>
            <a:ext cx="266429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3488CF36-0F90-4323-875A-E4FAF3AA197E}"/>
              </a:ext>
            </a:extLst>
          </p:cNvPr>
          <p:cNvSpPr txBox="1"/>
          <p:nvPr/>
        </p:nvSpPr>
        <p:spPr>
          <a:xfrm>
            <a:off x="6804248" y="3140968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Titrerkurve</a:t>
            </a:r>
          </a:p>
        </p:txBody>
      </p:sp>
    </p:spTree>
    <p:extLst>
      <p:ext uri="{BB962C8B-B14F-4D97-AF65-F5344CB8AC3E}">
        <p14:creationId xmlns:p14="http://schemas.microsoft.com/office/powerpoint/2010/main" val="142419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722314"/>
          </a:xfrm>
        </p:spPr>
        <p:txBody>
          <a:bodyPr>
            <a:normAutofit/>
          </a:bodyPr>
          <a:lstStyle/>
          <a:p>
            <a:r>
              <a:rPr lang="da-DK" sz="3200" b="1" dirty="0"/>
              <a:t>Titreringskurve for stærk syre med stærk base</a:t>
            </a:r>
            <a:br>
              <a:rPr lang="da-DK" sz="3200" b="1" dirty="0"/>
            </a:br>
            <a:br>
              <a:rPr lang="da-DK" sz="3200" b="1" dirty="0"/>
            </a:br>
            <a:r>
              <a:rPr lang="da-DK" sz="3200" dirty="0" err="1"/>
              <a:t>HCl</a:t>
            </a:r>
            <a:r>
              <a:rPr lang="da-DK" sz="3200" dirty="0"/>
              <a:t> (</a:t>
            </a:r>
            <a:r>
              <a:rPr lang="da-DK" sz="3200" dirty="0" err="1"/>
              <a:t>aq</a:t>
            </a:r>
            <a:r>
              <a:rPr lang="da-DK" sz="3200" dirty="0"/>
              <a:t>) + </a:t>
            </a:r>
            <a:r>
              <a:rPr lang="da-DK" sz="3200" dirty="0" err="1"/>
              <a:t>NaOH</a:t>
            </a:r>
            <a:r>
              <a:rPr lang="da-DK" sz="3200" dirty="0"/>
              <a:t> (</a:t>
            </a:r>
            <a:r>
              <a:rPr lang="da-DK" sz="3200" dirty="0" err="1"/>
              <a:t>aq</a:t>
            </a:r>
            <a:r>
              <a:rPr lang="da-DK" sz="3200" dirty="0"/>
              <a:t>) </a:t>
            </a:r>
            <a:r>
              <a:rPr lang="da-DK" sz="3200" dirty="0">
                <a:sym typeface="Wingdings" panose="05000000000000000000" pitchFamily="2" charset="2"/>
              </a:rPr>
              <a:t> NaCl (</a:t>
            </a:r>
            <a:r>
              <a:rPr lang="da-DK" sz="3200" dirty="0" err="1">
                <a:sym typeface="Wingdings" panose="05000000000000000000" pitchFamily="2" charset="2"/>
              </a:rPr>
              <a:t>aq</a:t>
            </a:r>
            <a:r>
              <a:rPr lang="da-DK" sz="3200" dirty="0">
                <a:sym typeface="Wingdings" panose="05000000000000000000" pitchFamily="2" charset="2"/>
              </a:rPr>
              <a:t>) + </a:t>
            </a:r>
            <a:r>
              <a:rPr lang="da-DK" sz="3200" dirty="0"/>
              <a:t>H</a:t>
            </a:r>
            <a:r>
              <a:rPr lang="da-DK" sz="3200" baseline="-25000" dirty="0"/>
              <a:t>2</a:t>
            </a:r>
            <a:r>
              <a:rPr lang="da-DK" sz="3200" dirty="0"/>
              <a:t>O </a:t>
            </a:r>
            <a:r>
              <a:rPr lang="da-DK" sz="3200" dirty="0">
                <a:sym typeface="Wingdings" panose="05000000000000000000" pitchFamily="2" charset="2"/>
              </a:rPr>
              <a:t>(l)</a:t>
            </a:r>
            <a:br>
              <a:rPr lang="da-DK" sz="3200" dirty="0">
                <a:sym typeface="Wingdings" panose="05000000000000000000" pitchFamily="2" charset="2"/>
              </a:rPr>
            </a:br>
            <a:endParaRPr lang="da-DK" sz="3200" b="1" dirty="0"/>
          </a:p>
        </p:txBody>
      </p:sp>
      <p:pic>
        <p:nvPicPr>
          <p:cNvPr id="4" name="Pladsholder til indhold 3" descr="http://t0.gstatic.com/images?q=tbn:ANd9GcTIWEjCPeO7VjcpHcDrL_gbcjF_SXupS2PMiKmck1dQGYXOGi_DPw">
            <a:hlinkClick r:id="rId3"/>
          </p:cNvPr>
          <p:cNvPicPr>
            <a:picLocks noGrp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884" y="3501008"/>
            <a:ext cx="4482231" cy="2477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410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2290266"/>
              </a:xfrm>
            </p:spPr>
            <p:txBody>
              <a:bodyPr>
                <a:normAutofit fontScale="90000"/>
              </a:bodyPr>
              <a:lstStyle/>
              <a:p>
                <a:r>
                  <a:rPr lang="da-DK" sz="3200" b="1" dirty="0"/>
                  <a:t>Titreringskurve for svag syre med stærk base</a:t>
                </a:r>
                <a:br>
                  <a:rPr lang="da-DK" sz="3200" b="1" dirty="0"/>
                </a:br>
                <a:br>
                  <a:rPr lang="da-DK" sz="3200" b="1" dirty="0"/>
                </a:br>
                <a:r>
                  <a:rPr lang="da-DK" sz="3200" dirty="0"/>
                  <a:t>CH</a:t>
                </a:r>
                <a:r>
                  <a:rPr lang="da-DK" sz="3200" baseline="-25000" dirty="0"/>
                  <a:t>3</a:t>
                </a:r>
                <a:r>
                  <a:rPr lang="da-DK" sz="3200" dirty="0"/>
                  <a:t>COOH (</a:t>
                </a:r>
                <a:r>
                  <a:rPr lang="da-DK" sz="3200" dirty="0" err="1"/>
                  <a:t>aq</a:t>
                </a:r>
                <a:r>
                  <a:rPr lang="da-DK" sz="3200" dirty="0"/>
                  <a:t>)  +  OH</a:t>
                </a:r>
                <a:r>
                  <a:rPr lang="da-DK" sz="3200" baseline="30000" dirty="0"/>
                  <a:t>- </a:t>
                </a:r>
                <a:r>
                  <a:rPr lang="da-DK" sz="3200" dirty="0"/>
                  <a:t>(</a:t>
                </a:r>
                <a:r>
                  <a:rPr lang="da-DK" sz="3200" dirty="0" err="1"/>
                  <a:t>aq</a:t>
                </a:r>
                <a:r>
                  <a:rPr lang="da-DK" sz="3200" dirty="0"/>
                  <a:t>) </a:t>
                </a:r>
                <a14:m>
                  <m:oMath xmlns:m="http://schemas.openxmlformats.org/officeDocument/2006/math">
                    <m:r>
                      <a:rPr lang="da-DK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⇌</m:t>
                    </m:r>
                  </m:oMath>
                </a14:m>
                <a:r>
                  <a:rPr lang="da-DK" sz="3200" dirty="0"/>
                  <a:t> CH</a:t>
                </a:r>
                <a:r>
                  <a:rPr lang="da-DK" sz="3200" baseline="-25000" dirty="0"/>
                  <a:t>3</a:t>
                </a:r>
                <a:r>
                  <a:rPr lang="da-DK" sz="3200" dirty="0"/>
                  <a:t>COO</a:t>
                </a:r>
                <a:r>
                  <a:rPr lang="da-DK" sz="3200" baseline="30000" dirty="0"/>
                  <a:t>-</a:t>
                </a:r>
                <a:r>
                  <a:rPr lang="da-DK" sz="3200" dirty="0"/>
                  <a:t> (</a:t>
                </a:r>
                <a:r>
                  <a:rPr lang="da-DK" sz="3200" dirty="0" err="1"/>
                  <a:t>aq</a:t>
                </a:r>
                <a:r>
                  <a:rPr lang="da-DK" sz="3200" dirty="0"/>
                  <a:t>) +  H</a:t>
                </a:r>
                <a:r>
                  <a:rPr lang="da-DK" sz="3200" baseline="-25000" dirty="0"/>
                  <a:t>2</a:t>
                </a:r>
                <a:r>
                  <a:rPr lang="da-DK" sz="3200" dirty="0"/>
                  <a:t>O (l)</a:t>
                </a:r>
                <a:br>
                  <a:rPr lang="da-DK" sz="3200" dirty="0"/>
                </a:br>
                <a:endParaRPr lang="da-DK" sz="3200" b="1" dirty="0"/>
              </a:p>
            </p:txBody>
          </p:sp>
        </mc:Choice>
        <mc:Fallback xmlns="">
          <p:sp>
            <p:nvSpPr>
              <p:cNvPr id="2" name="Titel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229026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ladsholder til indhold 4" descr="http://ibog.isisc.systime.dk/typo3temp/pics/e33992eddc.png"/>
          <p:cNvPicPr>
            <a:picLocks noGrp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284984"/>
            <a:ext cx="4824536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937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Valg af indikator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95536" y="1628801"/>
            <a:ext cx="8229600" cy="417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b="1" dirty="0"/>
              <a:t>Krav</a:t>
            </a:r>
            <a:r>
              <a:rPr lang="da-DK" dirty="0"/>
              <a:t>: Indikatorens omslagsområde skal ligge på det lodrette kurvestykke på titreringskurven.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75856" y="1436385"/>
            <a:ext cx="216726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9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da-DK" altLang="da-DK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08920"/>
            <a:ext cx="8208912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239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E66B3B-9CB0-4396-A99E-0D3095025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29" y="908720"/>
            <a:ext cx="3890719" cy="1143000"/>
          </a:xfrm>
        </p:spPr>
        <p:txBody>
          <a:bodyPr>
            <a:normAutofit fontScale="90000"/>
          </a:bodyPr>
          <a:lstStyle/>
          <a:p>
            <a:pPr algn="l"/>
            <a:r>
              <a:rPr lang="da-DK" dirty="0"/>
              <a:t>Syre-baseindikatorers virkemåde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03815891-64BD-465C-B9BC-20E7A15253D0}"/>
              </a:ext>
            </a:extLst>
          </p:cNvPr>
          <p:cNvSpPr/>
          <p:nvPr/>
        </p:nvSpPr>
        <p:spPr>
          <a:xfrm>
            <a:off x="539552" y="2996952"/>
            <a:ext cx="83529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>
                <a:latin typeface="Roboto"/>
              </a:rPr>
              <a:t>Syrebaseindikatorer er svage syrer som skrives på følgende måde </a:t>
            </a:r>
            <a:r>
              <a:rPr lang="da-DK" b="1" dirty="0" err="1">
                <a:solidFill>
                  <a:srgbClr val="FF0000"/>
                </a:solidFill>
                <a:latin typeface="Roboto"/>
              </a:rPr>
              <a:t>HIn</a:t>
            </a:r>
            <a:r>
              <a:rPr lang="da-DK" dirty="0">
                <a:latin typeface="Roboto"/>
              </a:rPr>
              <a:t>. </a:t>
            </a:r>
          </a:p>
          <a:p>
            <a:endParaRPr lang="da-DK" dirty="0">
              <a:latin typeface="Roboto"/>
            </a:endParaRPr>
          </a:p>
          <a:p>
            <a:endParaRPr lang="da-DK" dirty="0">
              <a:latin typeface="Roboto"/>
            </a:endParaRPr>
          </a:p>
          <a:p>
            <a:r>
              <a:rPr lang="da-DK" dirty="0">
                <a:latin typeface="Roboto"/>
              </a:rPr>
              <a:t>På </a:t>
            </a:r>
            <a:r>
              <a:rPr lang="da-DK" dirty="0" err="1">
                <a:latin typeface="Roboto"/>
              </a:rPr>
              <a:t>syreform</a:t>
            </a:r>
            <a:r>
              <a:rPr lang="da-DK" dirty="0">
                <a:latin typeface="Roboto"/>
              </a:rPr>
              <a:t> har indikatoren </a:t>
            </a:r>
            <a:r>
              <a:rPr lang="da-DK" b="1" dirty="0" err="1">
                <a:solidFill>
                  <a:srgbClr val="FF0000"/>
                </a:solidFill>
                <a:latin typeface="Roboto"/>
              </a:rPr>
              <a:t>HIn</a:t>
            </a:r>
            <a:r>
              <a:rPr lang="da-DK" b="1" dirty="0">
                <a:latin typeface="Roboto"/>
              </a:rPr>
              <a:t> </a:t>
            </a:r>
            <a:r>
              <a:rPr lang="da-DK" dirty="0">
                <a:latin typeface="Roboto"/>
              </a:rPr>
              <a:t>en farve som er forskellig fra den farve som </a:t>
            </a:r>
            <a:r>
              <a:rPr lang="da-DK" dirty="0" err="1">
                <a:latin typeface="Roboto"/>
              </a:rPr>
              <a:t>syrebaeindikatoren</a:t>
            </a:r>
            <a:r>
              <a:rPr lang="da-DK" dirty="0">
                <a:latin typeface="Roboto"/>
              </a:rPr>
              <a:t> har på baseform </a:t>
            </a:r>
            <a:r>
              <a:rPr lang="da-DK" b="1" dirty="0">
                <a:solidFill>
                  <a:srgbClr val="00B050"/>
                </a:solidFill>
                <a:latin typeface="Roboto"/>
              </a:rPr>
              <a:t>In</a:t>
            </a:r>
            <a:r>
              <a:rPr lang="da-DK" b="1" baseline="30000" dirty="0">
                <a:solidFill>
                  <a:srgbClr val="00B050"/>
                </a:solidFill>
                <a:latin typeface="Roboto"/>
              </a:rPr>
              <a:t>-</a:t>
            </a:r>
            <a:r>
              <a:rPr lang="da-DK" dirty="0">
                <a:latin typeface="Roboto"/>
              </a:rPr>
              <a:t>. </a:t>
            </a:r>
          </a:p>
          <a:p>
            <a:endParaRPr lang="da-DK" dirty="0">
              <a:latin typeface="Roboto"/>
            </a:endParaRPr>
          </a:p>
          <a:p>
            <a:r>
              <a:rPr lang="da-DK" dirty="0">
                <a:latin typeface="Roboto"/>
              </a:rPr>
              <a:t>Ved lave pH-værdier forbliver syrebaseindikatoren på formen </a:t>
            </a:r>
            <a:r>
              <a:rPr lang="da-DK" b="1" dirty="0" err="1">
                <a:solidFill>
                  <a:srgbClr val="FF0000"/>
                </a:solidFill>
                <a:latin typeface="Roboto"/>
              </a:rPr>
              <a:t>HIn</a:t>
            </a:r>
            <a:r>
              <a:rPr lang="da-DK" dirty="0">
                <a:latin typeface="Roboto"/>
              </a:rPr>
              <a:t>. </a:t>
            </a:r>
          </a:p>
          <a:p>
            <a:endParaRPr lang="da-DK" dirty="0">
              <a:latin typeface="Roboto"/>
            </a:endParaRPr>
          </a:p>
          <a:p>
            <a:r>
              <a:rPr lang="da-DK" dirty="0">
                <a:latin typeface="Roboto"/>
              </a:rPr>
              <a:t>Ved høj pH reagerer </a:t>
            </a:r>
            <a:r>
              <a:rPr lang="da-DK" dirty="0" err="1">
                <a:latin typeface="Roboto"/>
              </a:rPr>
              <a:t>reagerer</a:t>
            </a:r>
            <a:r>
              <a:rPr lang="da-DK" dirty="0">
                <a:latin typeface="Roboto"/>
              </a:rPr>
              <a:t> syrebaseindikatoren</a:t>
            </a:r>
            <a:r>
              <a:rPr lang="da-DK" dirty="0">
                <a:solidFill>
                  <a:srgbClr val="FF0000"/>
                </a:solidFill>
                <a:latin typeface="Roboto"/>
              </a:rPr>
              <a:t> </a:t>
            </a:r>
            <a:r>
              <a:rPr lang="da-DK" b="1" dirty="0" err="1">
                <a:solidFill>
                  <a:srgbClr val="FF0000"/>
                </a:solidFill>
                <a:latin typeface="Roboto"/>
              </a:rPr>
              <a:t>HIn</a:t>
            </a:r>
            <a:r>
              <a:rPr lang="da-DK" dirty="0">
                <a:solidFill>
                  <a:srgbClr val="FF0000"/>
                </a:solidFill>
                <a:latin typeface="Roboto"/>
              </a:rPr>
              <a:t> </a:t>
            </a:r>
            <a:r>
              <a:rPr lang="da-DK" dirty="0">
                <a:latin typeface="Roboto"/>
              </a:rPr>
              <a:t>med OH</a:t>
            </a:r>
            <a:r>
              <a:rPr lang="da-DK" baseline="30000" dirty="0">
                <a:latin typeface="Roboto"/>
              </a:rPr>
              <a:t>-</a:t>
            </a:r>
            <a:r>
              <a:rPr lang="da-DK" dirty="0">
                <a:latin typeface="Roboto"/>
              </a:rPr>
              <a:t> efter følgende reaktionsskema: </a:t>
            </a:r>
            <a:r>
              <a:rPr lang="da-DK" b="1" dirty="0" err="1">
                <a:solidFill>
                  <a:srgbClr val="FF0000"/>
                </a:solidFill>
                <a:latin typeface="Roboto"/>
              </a:rPr>
              <a:t>HIn</a:t>
            </a:r>
            <a:r>
              <a:rPr lang="da-DK" b="1" dirty="0">
                <a:solidFill>
                  <a:srgbClr val="FF0000"/>
                </a:solidFill>
                <a:latin typeface="Roboto"/>
              </a:rPr>
              <a:t> </a:t>
            </a:r>
            <a:r>
              <a:rPr lang="da-DK" dirty="0">
                <a:latin typeface="Roboto"/>
              </a:rPr>
              <a:t>+  OH</a:t>
            </a:r>
            <a:r>
              <a:rPr lang="da-DK" baseline="30000" dirty="0">
                <a:latin typeface="Roboto"/>
              </a:rPr>
              <a:t>- </a:t>
            </a:r>
            <a:r>
              <a:rPr lang="da-DK" dirty="0">
                <a:latin typeface="Roboto"/>
                <a:sym typeface="Wingdings 3" panose="05040102010807070707" pitchFamily="18" charset="2"/>
              </a:rPr>
              <a:t> </a:t>
            </a:r>
            <a:r>
              <a:rPr lang="da-DK" dirty="0">
                <a:solidFill>
                  <a:srgbClr val="00B050"/>
                </a:solidFill>
                <a:latin typeface="Roboto"/>
                <a:sym typeface="Wingdings 3" panose="05040102010807070707" pitchFamily="18" charset="2"/>
              </a:rPr>
              <a:t> </a:t>
            </a:r>
            <a:r>
              <a:rPr lang="da-DK" b="1" dirty="0">
                <a:solidFill>
                  <a:srgbClr val="00B050"/>
                </a:solidFill>
                <a:latin typeface="Roboto"/>
                <a:sym typeface="Wingdings 3" panose="05040102010807070707" pitchFamily="18" charset="2"/>
              </a:rPr>
              <a:t>In</a:t>
            </a:r>
            <a:r>
              <a:rPr lang="da-DK" b="1" baseline="30000" dirty="0">
                <a:solidFill>
                  <a:srgbClr val="00B050"/>
                </a:solidFill>
                <a:latin typeface="Roboto"/>
                <a:sym typeface="Wingdings 3" panose="05040102010807070707" pitchFamily="18" charset="2"/>
              </a:rPr>
              <a:t>-</a:t>
            </a:r>
            <a:r>
              <a:rPr lang="da-DK" b="1" dirty="0">
                <a:solidFill>
                  <a:srgbClr val="00B050"/>
                </a:solidFill>
                <a:latin typeface="Roboto"/>
                <a:sym typeface="Wingdings 3" panose="05040102010807070707" pitchFamily="18" charset="2"/>
              </a:rPr>
              <a:t>  </a:t>
            </a:r>
            <a:r>
              <a:rPr lang="da-DK" dirty="0">
                <a:latin typeface="Roboto"/>
                <a:sym typeface="Wingdings 3" panose="05040102010807070707" pitchFamily="18" charset="2"/>
              </a:rPr>
              <a:t>+  H</a:t>
            </a:r>
            <a:r>
              <a:rPr lang="da-DK" baseline="-25000" dirty="0">
                <a:latin typeface="Roboto"/>
                <a:sym typeface="Wingdings 3" panose="05040102010807070707" pitchFamily="18" charset="2"/>
              </a:rPr>
              <a:t>2</a:t>
            </a:r>
            <a:r>
              <a:rPr lang="da-DK" dirty="0">
                <a:latin typeface="Roboto"/>
                <a:sym typeface="Wingdings 3" panose="05040102010807070707" pitchFamily="18" charset="2"/>
              </a:rPr>
              <a:t>O</a:t>
            </a:r>
          </a:p>
          <a:p>
            <a:endParaRPr lang="da-DK" dirty="0">
              <a:latin typeface="Roboto"/>
            </a:endParaRPr>
          </a:p>
        </p:txBody>
      </p:sp>
      <p:pic>
        <p:nvPicPr>
          <p:cNvPr id="1026" name="Picture 2" descr="Billedresultat for syre baseindikatorer HIn In-">
            <a:extLst>
              <a:ext uri="{FF2B5EF4-FFF2-40B4-BE49-F238E27FC236}">
                <a16:creationId xmlns:a16="http://schemas.microsoft.com/office/drawing/2014/main" id="{91BA21D8-4D72-4091-9E51-D3F7A852F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168" y="836712"/>
            <a:ext cx="4782113" cy="163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61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FDF430-BB75-446E-9C97-ADD015149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Ligevægt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A9BD795-483B-48E9-9E4D-D7634D06A023}"/>
              </a:ext>
            </a:extLst>
          </p:cNvPr>
          <p:cNvSpPr/>
          <p:nvPr/>
        </p:nvSpPr>
        <p:spPr>
          <a:xfrm>
            <a:off x="755576" y="1457338"/>
            <a:ext cx="7416824" cy="5019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Syrebaseindikatorer er svage syrer som skrives på følgende måde </a:t>
            </a:r>
            <a:r>
              <a:rPr lang="da-DK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HIn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 en </a:t>
            </a: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vandlig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opløsning indstiller der sig en ligevægt: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8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HIn</a:t>
            </a:r>
            <a:r>
              <a:rPr lang="da-DK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 H</a:t>
            </a:r>
            <a:r>
              <a:rPr lang="da-DK" sz="28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 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3" panose="05040102010807070707" pitchFamily="18" charset="2"/>
              </a:rPr>
              <a:t>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a-DK" sz="2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da-DK" sz="2800" baseline="30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2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 H</a:t>
            </a:r>
            <a:r>
              <a:rPr lang="da-DK" sz="28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28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Ligevægt:</a:t>
            </a: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 opløsning: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Når der tilføres ekstra H</a:t>
            </a:r>
            <a:r>
              <a:rPr lang="da-DK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i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forskydes ligevægten mod venstre dvs. koncentrationen af den røde </a:t>
            </a:r>
            <a:r>
              <a:rPr lang="da-DK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HIn</a:t>
            </a: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stiger.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Basisk opløsning: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Når der tilføres OH</a:t>
            </a:r>
            <a:r>
              <a:rPr lang="da-DK" i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vil det reagere med H</a:t>
            </a:r>
            <a:r>
              <a:rPr lang="da-DK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i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der vil ske en forskydning mod højre dvs. koncentrationen af de grønne In</a:t>
            </a:r>
            <a:r>
              <a:rPr lang="da-DK" i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stiger.</a:t>
            </a: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490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1944215"/>
          </a:xfrm>
        </p:spPr>
        <p:txBody>
          <a:bodyPr>
            <a:normAutofit/>
          </a:bodyPr>
          <a:lstStyle/>
          <a:p>
            <a:r>
              <a:rPr lang="da-DK" sz="3600" b="1" dirty="0"/>
              <a:t>Beregning af syrens koncentration</a:t>
            </a:r>
          </a:p>
        </p:txBody>
      </p:sp>
      <p:sp>
        <p:nvSpPr>
          <p:cNvPr id="5" name="Undertitel 4"/>
          <p:cNvSpPr>
            <a:spLocks noGrp="1"/>
          </p:cNvSpPr>
          <p:nvPr>
            <p:ph type="subTitle" idx="1"/>
          </p:nvPr>
        </p:nvSpPr>
        <p:spPr>
          <a:xfrm>
            <a:off x="1403648" y="1772816"/>
            <a:ext cx="6408712" cy="331236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da-DK" sz="2400" dirty="0"/>
              <a:t>1.	Volumen (V) tilsat base ved 	ækvivalens-	punktet aflæses på kurvens x-akse. </a:t>
            </a:r>
          </a:p>
          <a:p>
            <a:pPr algn="l"/>
            <a:endParaRPr lang="da-DK" sz="2400" dirty="0"/>
          </a:p>
          <a:p>
            <a:pPr algn="l"/>
            <a:r>
              <a:rPr lang="da-DK" sz="2400" dirty="0"/>
              <a:t>2.	Stofmængden af tilsat base beregnes</a:t>
            </a:r>
          </a:p>
          <a:p>
            <a:pPr algn="l"/>
            <a:r>
              <a:rPr lang="da-DK" sz="2400" dirty="0"/>
              <a:t>        	</a:t>
            </a:r>
            <a:r>
              <a:rPr lang="da-DK" sz="2400" dirty="0" err="1"/>
              <a:t>n</a:t>
            </a:r>
            <a:r>
              <a:rPr lang="da-DK" sz="2400" baseline="-25000" dirty="0" err="1"/>
              <a:t>base</a:t>
            </a:r>
            <a:r>
              <a:rPr lang="da-DK" sz="2400" dirty="0"/>
              <a:t>= </a:t>
            </a:r>
            <a:r>
              <a:rPr lang="da-DK" sz="2400" dirty="0" err="1"/>
              <a:t>c</a:t>
            </a:r>
            <a:r>
              <a:rPr lang="da-DK" sz="2400" baseline="-25000" dirty="0" err="1"/>
              <a:t>base</a:t>
            </a:r>
            <a:r>
              <a:rPr lang="da-DK" sz="2400" dirty="0"/>
              <a:t> * </a:t>
            </a:r>
            <a:r>
              <a:rPr lang="da-DK" sz="2400" dirty="0" err="1"/>
              <a:t>V</a:t>
            </a:r>
            <a:r>
              <a:rPr lang="da-DK" sz="2400" baseline="-25000" dirty="0" err="1"/>
              <a:t>base</a:t>
            </a:r>
            <a:endParaRPr lang="da-DK" sz="2400" baseline="-25000" dirty="0"/>
          </a:p>
          <a:p>
            <a:pPr algn="l"/>
            <a:r>
              <a:rPr lang="da-DK" sz="2400" dirty="0"/>
              <a:t>        	Ved ækvivalenspunktet: </a:t>
            </a:r>
            <a:r>
              <a:rPr lang="da-DK" sz="2400" dirty="0" err="1"/>
              <a:t>n</a:t>
            </a:r>
            <a:r>
              <a:rPr lang="da-DK" sz="2400" baseline="-25000" dirty="0" err="1"/>
              <a:t>syre</a:t>
            </a:r>
            <a:r>
              <a:rPr lang="da-DK" sz="2400" dirty="0"/>
              <a:t>= </a:t>
            </a:r>
            <a:r>
              <a:rPr lang="da-DK" sz="2400" dirty="0" err="1"/>
              <a:t>n</a:t>
            </a:r>
            <a:r>
              <a:rPr lang="da-DK" sz="2400" baseline="-25000" dirty="0" err="1"/>
              <a:t>base</a:t>
            </a:r>
            <a:r>
              <a:rPr lang="da-DK" sz="2400" dirty="0"/>
              <a:t> </a:t>
            </a:r>
          </a:p>
          <a:p>
            <a:pPr algn="l"/>
            <a:endParaRPr lang="da-DK" sz="2400" dirty="0"/>
          </a:p>
          <a:p>
            <a:pPr algn="l"/>
            <a:r>
              <a:rPr lang="da-DK" sz="2400" dirty="0"/>
              <a:t>3.     	Syrens formelle koncentration c    beregnes</a:t>
            </a:r>
            <a:endParaRPr lang="da-DK" sz="2400" baseline="-25000" dirty="0"/>
          </a:p>
          <a:p>
            <a:pPr algn="l"/>
            <a:r>
              <a:rPr lang="da-DK" sz="2400" dirty="0"/>
              <a:t>        	</a:t>
            </a:r>
            <a:r>
              <a:rPr lang="da-DK" sz="2400" dirty="0" err="1"/>
              <a:t>c</a:t>
            </a:r>
            <a:r>
              <a:rPr lang="da-DK" sz="2400" baseline="-25000" dirty="0" err="1"/>
              <a:t>syre</a:t>
            </a:r>
            <a:r>
              <a:rPr lang="da-DK" sz="2400" dirty="0"/>
              <a:t>= </a:t>
            </a:r>
            <a:r>
              <a:rPr lang="da-DK" sz="2400" dirty="0" err="1"/>
              <a:t>n</a:t>
            </a:r>
            <a:r>
              <a:rPr lang="da-DK" sz="2400" baseline="-25000" dirty="0" err="1"/>
              <a:t>syre</a:t>
            </a:r>
            <a:r>
              <a:rPr lang="da-DK" sz="2400" dirty="0"/>
              <a:t>/</a:t>
            </a:r>
            <a:r>
              <a:rPr lang="da-DK" sz="2400" dirty="0" err="1"/>
              <a:t>V</a:t>
            </a:r>
            <a:r>
              <a:rPr lang="da-DK" sz="2400" baseline="-25000" dirty="0" err="1"/>
              <a:t>syre</a:t>
            </a:r>
            <a:endParaRPr lang="da-DK" sz="2400" dirty="0"/>
          </a:p>
          <a:p>
            <a:pPr algn="l"/>
            <a:endParaRPr lang="da-DK" sz="2400" baseline="-25000" dirty="0"/>
          </a:p>
          <a:p>
            <a:pPr algn="l"/>
            <a:endParaRPr lang="da-DK" sz="2400" baseline="-25000" dirty="0"/>
          </a:p>
          <a:p>
            <a:pPr algn="l"/>
            <a:endParaRPr lang="da-DK" sz="2400" dirty="0"/>
          </a:p>
          <a:p>
            <a:pPr algn="l"/>
            <a:endParaRPr lang="da-DK" sz="3000" dirty="0"/>
          </a:p>
          <a:p>
            <a:endParaRPr lang="da-DK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158898A-EB76-45B1-88F6-183C105D6B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4"/>
          <a:stretch/>
        </p:blipFill>
        <p:spPr bwMode="auto">
          <a:xfrm>
            <a:off x="7668344" y="3212976"/>
            <a:ext cx="1116421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7675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1944215"/>
          </a:xfrm>
        </p:spPr>
        <p:txBody>
          <a:bodyPr>
            <a:normAutofit/>
          </a:bodyPr>
          <a:lstStyle/>
          <a:p>
            <a:r>
              <a:rPr lang="da-DK" sz="3600" b="1" dirty="0"/>
              <a:t>Beregning af syrens koncentration</a:t>
            </a:r>
          </a:p>
        </p:txBody>
      </p:sp>
      <p:sp>
        <p:nvSpPr>
          <p:cNvPr id="5" name="Undertitel 4"/>
          <p:cNvSpPr>
            <a:spLocks noGrp="1"/>
          </p:cNvSpPr>
          <p:nvPr>
            <p:ph type="subTitle" idx="1"/>
          </p:nvPr>
        </p:nvSpPr>
        <p:spPr>
          <a:xfrm>
            <a:off x="1403648" y="1772816"/>
            <a:ext cx="5040560" cy="46085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da-DK" sz="2400" dirty="0">
                <a:solidFill>
                  <a:schemeClr val="tx1"/>
                </a:solidFill>
              </a:rPr>
              <a:t>	</a:t>
            </a:r>
            <a:r>
              <a:rPr lang="da-DK" sz="2400" dirty="0" err="1">
                <a:solidFill>
                  <a:schemeClr val="tx1"/>
                </a:solidFill>
              </a:rPr>
              <a:t>HCl</a:t>
            </a:r>
            <a:r>
              <a:rPr lang="da-DK" sz="2400" dirty="0">
                <a:solidFill>
                  <a:schemeClr val="tx1"/>
                </a:solidFill>
              </a:rPr>
              <a:t> +</a:t>
            </a:r>
            <a:r>
              <a:rPr lang="da-DK" sz="2400" dirty="0" err="1">
                <a:solidFill>
                  <a:schemeClr val="tx1"/>
                </a:solidFill>
              </a:rPr>
              <a:t>NaOH</a:t>
            </a:r>
            <a:r>
              <a:rPr lang="da-DK" sz="2400" dirty="0">
                <a:solidFill>
                  <a:schemeClr val="tx1"/>
                </a:solidFill>
              </a:rPr>
              <a:t> → NaCl  +  H</a:t>
            </a:r>
            <a:r>
              <a:rPr lang="da-DK" sz="2400" baseline="-25000" dirty="0">
                <a:solidFill>
                  <a:schemeClr val="tx1"/>
                </a:solidFill>
              </a:rPr>
              <a:t>2</a:t>
            </a:r>
            <a:r>
              <a:rPr lang="da-DK" sz="2400" dirty="0">
                <a:solidFill>
                  <a:schemeClr val="tx1"/>
                </a:solidFill>
              </a:rPr>
              <a:t>O</a:t>
            </a:r>
          </a:p>
          <a:p>
            <a:pPr algn="l"/>
            <a:endParaRPr lang="da-DK" sz="2400" dirty="0">
              <a:solidFill>
                <a:schemeClr val="tx1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da-DK" sz="2400" dirty="0"/>
              <a:t>Volumen (V) tilsat base ved ækvivalens-punktet aflæses på kurvens x-akse. </a:t>
            </a:r>
          </a:p>
          <a:p>
            <a:pPr algn="l"/>
            <a:r>
              <a:rPr lang="da-DK" sz="2400" dirty="0"/>
              <a:t>	</a:t>
            </a:r>
            <a:r>
              <a:rPr lang="da-DK" sz="2400" dirty="0">
                <a:solidFill>
                  <a:schemeClr val="tx1"/>
                </a:solidFill>
              </a:rPr>
              <a:t>V(base) = 16,0 </a:t>
            </a:r>
            <a:r>
              <a:rPr lang="da-DK" sz="2400" dirty="0" err="1">
                <a:solidFill>
                  <a:schemeClr val="tx1"/>
                </a:solidFill>
              </a:rPr>
              <a:t>mL</a:t>
            </a:r>
            <a:r>
              <a:rPr lang="da-DK" sz="2400" dirty="0">
                <a:solidFill>
                  <a:schemeClr val="tx1"/>
                </a:solidFill>
              </a:rPr>
              <a:t> = 0,016 L</a:t>
            </a:r>
          </a:p>
          <a:p>
            <a:pPr algn="l"/>
            <a:r>
              <a:rPr lang="da-DK" sz="2400" dirty="0">
                <a:solidFill>
                  <a:schemeClr val="tx1"/>
                </a:solidFill>
              </a:rPr>
              <a:t>	C(base) = 0,100 M</a:t>
            </a:r>
          </a:p>
          <a:p>
            <a:pPr algn="l"/>
            <a:r>
              <a:rPr lang="da-DK" sz="2400" dirty="0">
                <a:solidFill>
                  <a:schemeClr val="tx1"/>
                </a:solidFill>
              </a:rPr>
              <a:t>	V(syre) = 10,0 </a:t>
            </a:r>
            <a:r>
              <a:rPr lang="da-DK" sz="2400" dirty="0" err="1">
                <a:solidFill>
                  <a:schemeClr val="tx1"/>
                </a:solidFill>
              </a:rPr>
              <a:t>mL</a:t>
            </a:r>
            <a:r>
              <a:rPr lang="da-DK" sz="2400" dirty="0">
                <a:solidFill>
                  <a:schemeClr val="tx1"/>
                </a:solidFill>
              </a:rPr>
              <a:t> = 0,0100 L</a:t>
            </a:r>
          </a:p>
          <a:p>
            <a:pPr algn="l"/>
            <a:endParaRPr lang="da-DK" sz="2400" dirty="0"/>
          </a:p>
          <a:p>
            <a:pPr marL="457200" indent="-457200" algn="l">
              <a:buFont typeface="+mj-lt"/>
              <a:buAutoNum type="arabicPeriod"/>
            </a:pPr>
            <a:r>
              <a:rPr lang="da-DK" sz="2400" dirty="0"/>
              <a:t>Stofmængden af tilsat base beregnes</a:t>
            </a:r>
          </a:p>
          <a:p>
            <a:pPr algn="l"/>
            <a:r>
              <a:rPr lang="da-DK" sz="2400" dirty="0">
                <a:solidFill>
                  <a:schemeClr val="tx1"/>
                </a:solidFill>
              </a:rPr>
              <a:t>        </a:t>
            </a:r>
            <a:r>
              <a:rPr lang="da-DK" sz="2400" dirty="0" err="1">
                <a:solidFill>
                  <a:schemeClr val="tx1"/>
                </a:solidFill>
              </a:rPr>
              <a:t>n</a:t>
            </a:r>
            <a:r>
              <a:rPr lang="da-DK" sz="2400" baseline="-25000" dirty="0" err="1">
                <a:solidFill>
                  <a:schemeClr val="tx1"/>
                </a:solidFill>
              </a:rPr>
              <a:t>base</a:t>
            </a:r>
            <a:r>
              <a:rPr lang="da-DK" sz="2400" dirty="0">
                <a:solidFill>
                  <a:schemeClr val="tx1"/>
                </a:solidFill>
              </a:rPr>
              <a:t>= </a:t>
            </a:r>
            <a:r>
              <a:rPr lang="da-DK" sz="2400" dirty="0" err="1">
                <a:solidFill>
                  <a:schemeClr val="tx1"/>
                </a:solidFill>
              </a:rPr>
              <a:t>c</a:t>
            </a:r>
            <a:r>
              <a:rPr lang="da-DK" sz="2400" baseline="-25000" dirty="0" err="1">
                <a:solidFill>
                  <a:schemeClr val="tx1"/>
                </a:solidFill>
              </a:rPr>
              <a:t>base</a:t>
            </a:r>
            <a:r>
              <a:rPr lang="da-DK" sz="2400" dirty="0">
                <a:solidFill>
                  <a:schemeClr val="tx1"/>
                </a:solidFill>
              </a:rPr>
              <a:t> * </a:t>
            </a:r>
            <a:r>
              <a:rPr lang="da-DK" sz="2400" dirty="0" err="1">
                <a:solidFill>
                  <a:schemeClr val="tx1"/>
                </a:solidFill>
              </a:rPr>
              <a:t>V</a:t>
            </a:r>
            <a:r>
              <a:rPr lang="da-DK" sz="2400" baseline="-25000" dirty="0" err="1">
                <a:solidFill>
                  <a:schemeClr val="tx1"/>
                </a:solidFill>
              </a:rPr>
              <a:t>base</a:t>
            </a:r>
            <a:r>
              <a:rPr lang="da-DK" sz="2400" baseline="-25000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da-DK" sz="2400" baseline="-25000" dirty="0">
                <a:solidFill>
                  <a:schemeClr val="tx1"/>
                </a:solidFill>
              </a:rPr>
              <a:t>	 </a:t>
            </a:r>
            <a:r>
              <a:rPr lang="da-DK" sz="2400" dirty="0">
                <a:solidFill>
                  <a:schemeClr val="tx1"/>
                </a:solidFill>
              </a:rPr>
              <a:t>= 0,100 M * 0,016 L = 0,0016 mol</a:t>
            </a:r>
          </a:p>
          <a:p>
            <a:pPr algn="l"/>
            <a:r>
              <a:rPr lang="da-DK" sz="2400" dirty="0"/>
              <a:t>        Ved ækvivalenspunktet: </a:t>
            </a:r>
          </a:p>
          <a:p>
            <a:pPr algn="l"/>
            <a:r>
              <a:rPr lang="da-DK" sz="2400" dirty="0"/>
              <a:t>	</a:t>
            </a:r>
            <a:r>
              <a:rPr lang="da-DK" sz="2400" dirty="0" err="1">
                <a:solidFill>
                  <a:schemeClr val="tx1"/>
                </a:solidFill>
              </a:rPr>
              <a:t>n</a:t>
            </a:r>
            <a:r>
              <a:rPr lang="da-DK" sz="2400" baseline="-25000" dirty="0" err="1">
                <a:solidFill>
                  <a:schemeClr val="tx1"/>
                </a:solidFill>
              </a:rPr>
              <a:t>syre</a:t>
            </a:r>
            <a:r>
              <a:rPr lang="da-DK" sz="2400" dirty="0">
                <a:solidFill>
                  <a:schemeClr val="tx1"/>
                </a:solidFill>
              </a:rPr>
              <a:t>= </a:t>
            </a:r>
            <a:r>
              <a:rPr lang="da-DK" sz="2400" dirty="0" err="1">
                <a:solidFill>
                  <a:schemeClr val="tx1"/>
                </a:solidFill>
              </a:rPr>
              <a:t>n</a:t>
            </a:r>
            <a:r>
              <a:rPr lang="da-DK" sz="2400" baseline="-25000" dirty="0" err="1">
                <a:solidFill>
                  <a:schemeClr val="tx1"/>
                </a:solidFill>
              </a:rPr>
              <a:t>base</a:t>
            </a:r>
            <a:r>
              <a:rPr lang="da-DK" sz="2400" dirty="0">
                <a:solidFill>
                  <a:schemeClr val="tx1"/>
                </a:solidFill>
              </a:rPr>
              <a:t> 0,0016 mol</a:t>
            </a:r>
          </a:p>
          <a:p>
            <a:pPr algn="l"/>
            <a:endParaRPr lang="da-DK" sz="2400" dirty="0"/>
          </a:p>
          <a:p>
            <a:pPr algn="l"/>
            <a:r>
              <a:rPr lang="da-DK" sz="2400" dirty="0"/>
              <a:t>3.     Syrens formelle koncentration c beregnes</a:t>
            </a:r>
            <a:endParaRPr lang="da-DK" sz="2400" baseline="-25000" dirty="0"/>
          </a:p>
          <a:p>
            <a:pPr algn="l"/>
            <a:r>
              <a:rPr lang="da-DK" sz="2400" dirty="0">
                <a:solidFill>
                  <a:schemeClr val="tx1"/>
                </a:solidFill>
              </a:rPr>
              <a:t>        </a:t>
            </a:r>
            <a:r>
              <a:rPr lang="da-DK" sz="2400" dirty="0" err="1">
                <a:solidFill>
                  <a:schemeClr val="tx1"/>
                </a:solidFill>
              </a:rPr>
              <a:t>c</a:t>
            </a:r>
            <a:r>
              <a:rPr lang="da-DK" sz="2400" baseline="-25000" dirty="0" err="1">
                <a:solidFill>
                  <a:schemeClr val="tx1"/>
                </a:solidFill>
              </a:rPr>
              <a:t>syre</a:t>
            </a:r>
            <a:r>
              <a:rPr lang="da-DK" sz="2400" dirty="0">
                <a:solidFill>
                  <a:schemeClr val="tx1"/>
                </a:solidFill>
              </a:rPr>
              <a:t>= </a:t>
            </a:r>
            <a:r>
              <a:rPr lang="da-DK" sz="2400" dirty="0" err="1">
                <a:solidFill>
                  <a:schemeClr val="tx1"/>
                </a:solidFill>
              </a:rPr>
              <a:t>n</a:t>
            </a:r>
            <a:r>
              <a:rPr lang="da-DK" sz="2400" baseline="-25000" dirty="0" err="1">
                <a:solidFill>
                  <a:schemeClr val="tx1"/>
                </a:solidFill>
              </a:rPr>
              <a:t>syre</a:t>
            </a:r>
            <a:r>
              <a:rPr lang="da-DK" sz="2400" dirty="0">
                <a:solidFill>
                  <a:schemeClr val="tx1"/>
                </a:solidFill>
              </a:rPr>
              <a:t>/</a:t>
            </a:r>
            <a:r>
              <a:rPr lang="da-DK" sz="2400" dirty="0" err="1">
                <a:solidFill>
                  <a:schemeClr val="tx1"/>
                </a:solidFill>
              </a:rPr>
              <a:t>V</a:t>
            </a:r>
            <a:r>
              <a:rPr lang="da-DK" sz="2400" baseline="-25000" dirty="0" err="1">
                <a:solidFill>
                  <a:schemeClr val="tx1"/>
                </a:solidFill>
              </a:rPr>
              <a:t>syre</a:t>
            </a:r>
            <a:r>
              <a:rPr lang="da-DK" sz="2400" baseline="-25000" dirty="0">
                <a:solidFill>
                  <a:schemeClr val="tx1"/>
                </a:solidFill>
              </a:rPr>
              <a:t> = 0,0016 mol / </a:t>
            </a:r>
            <a:r>
              <a:rPr lang="da-DK" sz="2400" dirty="0">
                <a:solidFill>
                  <a:schemeClr val="tx1"/>
                </a:solidFill>
              </a:rPr>
              <a:t>0,0100 L = 0,16 mol/L</a:t>
            </a:r>
          </a:p>
          <a:p>
            <a:pPr algn="l"/>
            <a:endParaRPr lang="da-DK" sz="2400" dirty="0"/>
          </a:p>
          <a:p>
            <a:pPr algn="l"/>
            <a:endParaRPr lang="da-DK" sz="2400" baseline="-25000" dirty="0"/>
          </a:p>
          <a:p>
            <a:pPr algn="l"/>
            <a:endParaRPr lang="da-DK" sz="2400" baseline="-25000" dirty="0"/>
          </a:p>
          <a:p>
            <a:pPr algn="l"/>
            <a:endParaRPr lang="da-DK" sz="2400" dirty="0"/>
          </a:p>
          <a:p>
            <a:pPr algn="l"/>
            <a:endParaRPr lang="da-DK" sz="3000" dirty="0"/>
          </a:p>
          <a:p>
            <a:endParaRPr lang="da-DK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158898A-EB76-45B1-88F6-183C105D6B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4"/>
          <a:stretch/>
        </p:blipFill>
        <p:spPr bwMode="auto">
          <a:xfrm>
            <a:off x="6892993" y="1844824"/>
            <a:ext cx="1116421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F297D181-09B5-44F9-9D6B-14CBB5AB6C83}"/>
              </a:ext>
            </a:extLst>
          </p:cNvPr>
          <p:cNvCxnSpPr/>
          <p:nvPr/>
        </p:nvCxnSpPr>
        <p:spPr>
          <a:xfrm>
            <a:off x="5004048" y="3429000"/>
            <a:ext cx="2304256" cy="136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3842B1B0-EEEE-4650-A333-B8CC482D7BFC}"/>
              </a:ext>
            </a:extLst>
          </p:cNvPr>
          <p:cNvCxnSpPr/>
          <p:nvPr/>
        </p:nvCxnSpPr>
        <p:spPr>
          <a:xfrm>
            <a:off x="4932040" y="2924944"/>
            <a:ext cx="2520280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BFAE3A85-BD96-400E-8BB2-FB1C16F3AD28}"/>
              </a:ext>
            </a:extLst>
          </p:cNvPr>
          <p:cNvCxnSpPr/>
          <p:nvPr/>
        </p:nvCxnSpPr>
        <p:spPr>
          <a:xfrm>
            <a:off x="4139952" y="3140968"/>
            <a:ext cx="3312368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B4ADF0CE-7F13-46DA-81E9-7F571E5FDD10}"/>
              </a:ext>
            </a:extLst>
          </p:cNvPr>
          <p:cNvCxnSpPr/>
          <p:nvPr/>
        </p:nvCxnSpPr>
        <p:spPr>
          <a:xfrm flipV="1">
            <a:off x="6084168" y="5013176"/>
            <a:ext cx="1152128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9960FDDB-1121-457E-BD6A-BD31AEE0DBC7}"/>
              </a:ext>
            </a:extLst>
          </p:cNvPr>
          <p:cNvSpPr txBox="1"/>
          <p:nvPr/>
        </p:nvSpPr>
        <p:spPr>
          <a:xfrm>
            <a:off x="8100392" y="2800198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NaOH</a:t>
            </a:r>
            <a:endParaRPr lang="da-DK" dirty="0"/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AF8374AD-588D-45E2-8C1E-8A3C869B5E3E}"/>
              </a:ext>
            </a:extLst>
          </p:cNvPr>
          <p:cNvSpPr txBox="1"/>
          <p:nvPr/>
        </p:nvSpPr>
        <p:spPr>
          <a:xfrm>
            <a:off x="8201727" y="461248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HCl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46173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Titrering af </a:t>
            </a:r>
            <a:r>
              <a:rPr lang="da-DK" dirty="0" err="1"/>
              <a:t>polyhydron</a:t>
            </a:r>
            <a:r>
              <a:rPr lang="da-DK" dirty="0"/>
              <a:t> syre</a:t>
            </a:r>
            <a:br>
              <a:rPr lang="da-DK" dirty="0"/>
            </a:br>
            <a:endParaRPr lang="da-DK" dirty="0"/>
          </a:p>
        </p:txBody>
      </p:sp>
      <p:pic>
        <p:nvPicPr>
          <p:cNvPr id="2" name="Pladsholder til indhold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844824"/>
            <a:ext cx="5310050" cy="3628534"/>
          </a:xfrm>
        </p:spPr>
      </p:pic>
    </p:spTree>
    <p:extLst>
      <p:ext uri="{BB962C8B-B14F-4D97-AF65-F5344CB8AC3E}">
        <p14:creationId xmlns:p14="http://schemas.microsoft.com/office/powerpoint/2010/main" val="3593166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Base-opløsning titreres med syre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557463"/>
            <a:ext cx="5472608" cy="324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069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Svag base-opløsning titreres med svag syre </a:t>
            </a:r>
            <a:r>
              <a:rPr lang="da-DK"/>
              <a:t>– </a:t>
            </a:r>
            <a:r>
              <a:rPr lang="da-DK">
                <a:solidFill>
                  <a:srgbClr val="FF0000"/>
                </a:solidFill>
              </a:rPr>
              <a:t>anvendes </a:t>
            </a:r>
            <a:r>
              <a:rPr lang="da-DK" dirty="0">
                <a:solidFill>
                  <a:srgbClr val="FF0000"/>
                </a:solidFill>
              </a:rPr>
              <a:t>ikke i praksis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1026" name="Picture 2" descr="Billedresultat for titration curve weak acid and base">
            <a:extLst>
              <a:ext uri="{FF2B5EF4-FFF2-40B4-BE49-F238E27FC236}">
                <a16:creationId xmlns:a16="http://schemas.microsoft.com/office/drawing/2014/main" id="{BFDF706D-9AF6-4EEC-8272-BAC2158D1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564904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886697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781</Words>
  <Application>Microsoft Office PowerPoint</Application>
  <PresentationFormat>Skærmshow (4:3)</PresentationFormat>
  <Paragraphs>96</Paragraphs>
  <Slides>14</Slides>
  <Notes>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Roboto</vt:lpstr>
      <vt:lpstr>Kontortema</vt:lpstr>
      <vt:lpstr>Syre-base titrering</vt:lpstr>
      <vt:lpstr>Formål:  Anvendes ofte til at bestemme en ukendt syres eller bases koncentration </vt:lpstr>
      <vt:lpstr> Kolorimetrisk  </vt:lpstr>
      <vt:lpstr>Potentiometrisk:  </vt:lpstr>
      <vt:lpstr>Titreringskurve for stærk syre med stærk base  HCl (aq) + NaOH (aq)  NaCl (aq) + H2O (l) </vt:lpstr>
      <vt:lpstr>Titreringskurve for svag syre med stærk base  CH3COOH (aq)  +  OH- (aq) ⇌ CH3COO- (aq) +  H2O (l) </vt:lpstr>
      <vt:lpstr>Valg af indikator</vt:lpstr>
      <vt:lpstr>Syre-baseindikatorers virkemåde</vt:lpstr>
      <vt:lpstr>Ligevægt</vt:lpstr>
      <vt:lpstr>Beregning af syrens koncentration</vt:lpstr>
      <vt:lpstr>Beregning af syrens koncentration</vt:lpstr>
      <vt:lpstr>Titrering af polyhydron syre </vt:lpstr>
      <vt:lpstr>Base-opløsning titreres med syre</vt:lpstr>
      <vt:lpstr>Svag base-opløsning titreres med svag syre – anvendes ikke i praksis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Syre-base titrering</dc:title>
  <dc:creator>new</dc:creator>
  <cp:lastModifiedBy>Charlotte Lena Boesen</cp:lastModifiedBy>
  <cp:revision>33</cp:revision>
  <dcterms:created xsi:type="dcterms:W3CDTF">2014-03-06T07:58:05Z</dcterms:created>
  <dcterms:modified xsi:type="dcterms:W3CDTF">2020-03-26T10:04:49Z</dcterms:modified>
</cp:coreProperties>
</file>