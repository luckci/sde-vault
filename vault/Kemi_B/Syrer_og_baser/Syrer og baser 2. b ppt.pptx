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6" r:id="rId5"/>
    <p:sldId id="258" r:id="rId6"/>
    <p:sldId id="264" r:id="rId7"/>
    <p:sldId id="262" r:id="rId8"/>
    <p:sldId id="265" r:id="rId9"/>
    <p:sldId id="260" r:id="rId10"/>
    <p:sldId id="259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BA61EC-3EB1-4510-8BFB-0714CA322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C3FDAA3-78AE-4938-80A2-2F88FCF6D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93C6D10-E407-480B-ABED-FB9080AE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6F08756-EA12-46CF-8279-DCEC3095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91C5F2-2D95-4F5F-BFCF-E6346BE2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5799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98D175-B751-4ED2-BB14-C68E768F9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D81B3F-9543-4FF8-852A-519FC468A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A59093-04DA-4C43-B521-9B40DE3E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7488210-AF47-4D3A-B281-FAE1757F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DC119F4-63A2-46FD-9FD5-84370F59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68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170D2-7FE9-4F9A-86C0-A7DC511F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4593DC5-80F3-4DFE-A3E8-29BFDCE96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29FB68E-6BD3-44A6-945F-6DF9CDE8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5DDE860-AFEB-41ED-ABDA-1B707E09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A681BDF-1FDD-48EC-B449-1897F4D5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258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E10FA-BC8C-49BE-93E0-87DCA5E7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BCD45E3-51DB-4CF0-970B-4E6BE9273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EADD127-C0B3-495C-A3A3-85266DDFA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1AF5A92-E46B-4009-B648-3258F73E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051AEAA-0943-4D64-800E-A1B69ADD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E41179A-DE21-45B7-BA4E-23DDB2AF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379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0A37AB-DD0B-4E9B-8B6F-3ADEB794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F228CE2-57F9-4D75-ADCD-05BF0EE76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3C6FF3B-7841-45F9-BFF7-DC0E0D4A2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E2DF73C-B2B5-47C6-8B9F-CB0BFD9A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E625039-1781-493D-B860-D5C05E015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1E7D72A3-3AAB-4CAF-A776-51840185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B0B49DF5-A110-49D9-84DD-5AED4818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67C78747-6BA9-43E7-B758-3D87CC74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0817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1E3FD-8229-4AE1-8ED9-E7FF62CB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AFE15A9-5C69-4588-8753-52CE1E896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C1096F4C-6F6E-43D7-812A-B2A06F0C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812410BB-70C6-470E-9FB8-1B5F98BA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37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B7806193-BF00-434A-AFA7-3C007B1F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5D770FE7-4DF4-43DD-B42B-D137753E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0A8B4F9-B5E2-410D-AAB6-A12777C8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65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809DD-9644-49A4-A766-554BF1B9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984AB50-C01B-4005-BB0C-2B0CFCC0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A8FA25F-38EA-475B-BF5C-C12515FE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625FA27-08AC-42A2-8312-862410CB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12FEEC6-105E-4F53-8833-B121C677A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ECDDF88-4E25-4782-9C3D-71E5746D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15464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9B199E-6AB6-4C86-AF8E-B6ED3DB7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A2A7E5BD-05B8-49D8-80AF-3A78121757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394272A-5265-470F-BBD9-218828E08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212779A-49EA-42DE-86B2-0EC2F03C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96D4A4F-FBFA-46A7-B390-03E3EC0E3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AA4036A-B4ED-4569-84FB-77C54AD6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771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91123-9A88-4951-904D-C4F66CDE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1483825-B78F-4E9D-8663-9CA130C57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631491C-51E1-4B69-87B5-46BD6347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62ABFC9-26B8-4E9F-A2A0-8395CAE9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75DD5FB-E0BC-474C-B5A3-C0503C2B1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443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7F70CB95-6A47-4B16-9308-8A3CF467A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221F92E-DC03-4CDD-BCA6-3A0C4098E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82F34C2-0F1F-4066-AFF5-FDAB2CF1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84DA7AC-C1AD-44D8-BA2D-554655A2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332AEBF-C495-4A13-B77F-05D7F7C2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062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CBC5A8A6-CEFF-42A6-8987-2FA0243C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7DE84D9-9029-4414-986C-B9ED972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3820F0D-1BB8-462B-B628-33F193AEB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42DD1-67D1-4D84-922F-011D984AED12}" type="datetimeFigureOut">
              <a:rPr lang="da-DK" smtClean="0"/>
              <a:t>19-12-2024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541DFA0-3401-4E44-AA53-1B6889DA3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CE3A89D-911B-4AA8-9278-4507BB89C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57C48-3C1B-4C3C-AE70-CF8F7C1CF0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7815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48813-BC2A-49DC-907F-9456E7DE5E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Syrer og baser 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A769116-109B-49DA-B550-98B963DCA8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Basiskemi C side 153-161</a:t>
            </a:r>
          </a:p>
        </p:txBody>
      </p:sp>
    </p:spTree>
    <p:extLst>
      <p:ext uri="{BB962C8B-B14F-4D97-AF65-F5344CB8AC3E}">
        <p14:creationId xmlns:p14="http://schemas.microsoft.com/office/powerpoint/2010/main" val="159715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B7B24-0FA0-4776-907B-5FE10B97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Syrebasereaktioner - syrer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0FA3B64D-D70C-4990-A88F-7316E002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3393759"/>
            <a:ext cx="5182323" cy="121937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A4E7F1AB-F2E0-48D2-9E72-CB426B0D1AB8}"/>
              </a:ext>
            </a:extLst>
          </p:cNvPr>
          <p:cNvSpPr txBox="1"/>
          <p:nvPr/>
        </p:nvSpPr>
        <p:spPr>
          <a:xfrm>
            <a:off x="838200" y="1690688"/>
            <a:ext cx="6450106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 af en syre: en syre er et molekyle elle ren ion, der kan afgive en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Saltsyre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en syre, der kan afgive en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proton)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B9ED532-85E7-4DD0-852B-237F327B340E}"/>
              </a:ext>
            </a:extLst>
          </p:cNvPr>
          <p:cNvSpPr txBox="1"/>
          <p:nvPr/>
        </p:nvSpPr>
        <p:spPr>
          <a:xfrm>
            <a:off x="913677" y="4920457"/>
            <a:ext cx="8478371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Syre(1)        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Base(2)          </a:t>
            </a:r>
            <a:r>
              <a:rPr lang="da-DK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Base(1)           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Syre(2)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Syre(1) og Base(1)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korresponderende syrebasepar 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/Cl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Base(2) og Syre(2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er korresponderende syrebasepar  H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O/H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da-DK" sz="1800" baseline="30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287BB8A3-FB56-4908-A154-DD3BFA0D000D}"/>
              </a:ext>
            </a:extLst>
          </p:cNvPr>
          <p:cNvSpPr txBox="1"/>
          <p:nvPr/>
        </p:nvSpPr>
        <p:spPr>
          <a:xfrm>
            <a:off x="913677" y="3006796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Reaktion mellem saltsyre (</a:t>
            </a:r>
            <a:r>
              <a:rPr lang="da-DK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og vand: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7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8A86C-640F-466D-9268-ADBB5DC6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 på syrer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BF44620F-7923-42D0-8B2F-9517F5E0EF0B}"/>
              </a:ext>
            </a:extLst>
          </p:cNvPr>
          <p:cNvSpPr txBox="1"/>
          <p:nvPr/>
        </p:nvSpPr>
        <p:spPr>
          <a:xfrm>
            <a:off x="1004047" y="1935540"/>
            <a:ext cx="6096000" cy="2838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Saltsyre	      	</a:t>
            </a:r>
            <a:r>
              <a:rPr lang="da-DK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Svovlsyre		H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Salpetersyre	HNO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Phosphorsyre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H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Kulsyre		H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Eddikesyre	CH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COOH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4272B99F-8CB6-4CBD-AF84-90988569C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86656"/>
            <a:ext cx="5581229" cy="2838020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23CB62B4-F394-433A-8CB3-CB0AB7AFA6C7}"/>
              </a:ext>
            </a:extLst>
          </p:cNvPr>
          <p:cNvSpPr txBox="1"/>
          <p:nvPr/>
        </p:nvSpPr>
        <p:spPr>
          <a:xfrm>
            <a:off x="7992034" y="4920457"/>
            <a:ext cx="2250141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syre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syre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syre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Poly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syre</a:t>
            </a:r>
          </a:p>
        </p:txBody>
      </p:sp>
    </p:spTree>
    <p:extLst>
      <p:ext uri="{BB962C8B-B14F-4D97-AF65-F5344CB8AC3E}">
        <p14:creationId xmlns:p14="http://schemas.microsoft.com/office/powerpoint/2010/main" val="2746969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32B994-3BF0-4ECD-9BE3-9BD325808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Stærke og svage syrer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6F90EDDA-4A14-400E-BD41-8ED506319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51" y="3040412"/>
            <a:ext cx="8373593" cy="3557612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815E9EE3-64DA-442D-968B-505F3CF138B7}"/>
              </a:ext>
            </a:extLst>
          </p:cNvPr>
          <p:cNvSpPr txBox="1"/>
          <p:nvPr/>
        </p:nvSpPr>
        <p:spPr>
          <a:xfrm>
            <a:off x="8722659" y="259976"/>
            <a:ext cx="2510118" cy="195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Syrer og basers styrker: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Stærk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Middelstærk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Svag</a:t>
            </a:r>
          </a:p>
          <a:p>
            <a:pPr marL="342900" lvl="0" indent="-342900">
              <a:lnSpc>
                <a:spcPct val="107000"/>
              </a:lnSpc>
              <a:buFont typeface="Calibri" panose="020F0502020204030204" pitchFamily="34" charset="0"/>
              <a:buChar char="-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Meget svag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Calibri" panose="020F0502020204030204" pitchFamily="34" charset="0"/>
              <a:buChar char="-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Yderst svag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AA4E96B2-0B96-4DB9-9F55-A9E052D8C6DE}"/>
              </a:ext>
            </a:extLst>
          </p:cNvPr>
          <p:cNvSpPr txBox="1"/>
          <p:nvPr/>
        </p:nvSpPr>
        <p:spPr>
          <a:xfrm>
            <a:off x="1281953" y="1690688"/>
            <a:ext cx="654423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0.1 M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-opløsning                                  0,1 MCH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COOH-opløsning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6F9BEBB2-349C-41E6-B747-C0DD8BD90500}"/>
              </a:ext>
            </a:extLst>
          </p:cNvPr>
          <p:cNvSpPr txBox="1"/>
          <p:nvPr/>
        </p:nvSpPr>
        <p:spPr>
          <a:xfrm>
            <a:off x="1281953" y="1715305"/>
            <a:ext cx="7440706" cy="1171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 + H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H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CH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COOH + H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3" panose="05040102010807070707" pitchFamily="18" charset="2"/>
              </a:rPr>
              <a:t>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COO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H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00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B7B24-0FA0-4776-907B-5FE10B97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Syrebasereaktioner - baser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A4E7F1AB-F2E0-48D2-9E72-CB426B0D1AB8}"/>
              </a:ext>
            </a:extLst>
          </p:cNvPr>
          <p:cNvSpPr txBox="1"/>
          <p:nvPr/>
        </p:nvSpPr>
        <p:spPr>
          <a:xfrm>
            <a:off x="838200" y="1760168"/>
            <a:ext cx="9327776" cy="117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 af en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en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et molekyle elle ren ion, der kan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optage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 NH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en base der kan optage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hydron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(H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proton)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B9ED532-85E7-4DD0-852B-237F327B340E}"/>
              </a:ext>
            </a:extLst>
          </p:cNvPr>
          <p:cNvSpPr txBox="1"/>
          <p:nvPr/>
        </p:nvSpPr>
        <p:spPr>
          <a:xfrm>
            <a:off x="934776" y="4751526"/>
            <a:ext cx="8478371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Syre(1)     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Base(2)         </a:t>
            </a:r>
            <a:r>
              <a:rPr lang="da-DK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Base(1)   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Syre(2)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Syre(1) og Base(1)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 korresponderende syrebasepar H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O/OH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Base(2) og Syre(2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er korresponderende syrebasepar  NH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/NH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da-DK" sz="1800" baseline="30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3390370-FD24-4D96-9014-AFB589F0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76" y="3202572"/>
            <a:ext cx="5087060" cy="990738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3B8D7132-414D-4159-901B-E2EC042FAEA8}"/>
              </a:ext>
            </a:extLst>
          </p:cNvPr>
          <p:cNvSpPr txBox="1"/>
          <p:nvPr/>
        </p:nvSpPr>
        <p:spPr>
          <a:xfrm>
            <a:off x="838200" y="2827020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Reaktion mellem </a:t>
            </a:r>
            <a:r>
              <a:rPr lang="da-DK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 (NH</a:t>
            </a:r>
            <a:r>
              <a:rPr lang="da-DK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 vand: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67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B7B24-0FA0-4776-907B-5FE10B97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Syrebasereaktioner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A3390370-FD24-4D96-9014-AFB589F03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29" y="1555705"/>
            <a:ext cx="7777327" cy="1514685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00B91A08-7ECA-4163-B940-7EFBCB91AA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41" t="48532" r="1474" b="-48532"/>
          <a:stretch/>
        </p:blipFill>
        <p:spPr>
          <a:xfrm>
            <a:off x="992529" y="4164106"/>
            <a:ext cx="6709566" cy="1514686"/>
          </a:xfrm>
          <a:prstGeom prst="rect">
            <a:avLst/>
          </a:prstGeom>
        </p:spPr>
      </p:pic>
      <p:sp>
        <p:nvSpPr>
          <p:cNvPr id="9" name="Tekstfelt 8">
            <a:extLst>
              <a:ext uri="{FF2B5EF4-FFF2-40B4-BE49-F238E27FC236}">
                <a16:creationId xmlns:a16="http://schemas.microsoft.com/office/drawing/2014/main" id="{B74B6E3E-F7AB-4249-BBBC-DFAB76CB6E4B}"/>
              </a:ext>
            </a:extLst>
          </p:cNvPr>
          <p:cNvSpPr txBox="1"/>
          <p:nvPr/>
        </p:nvSpPr>
        <p:spPr>
          <a:xfrm>
            <a:off x="1093694" y="3429000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Elektronprikformel for en syrebasereaktion</a:t>
            </a:r>
          </a:p>
        </p:txBody>
      </p:sp>
    </p:spTree>
    <p:extLst>
      <p:ext uri="{BB962C8B-B14F-4D97-AF65-F5344CB8AC3E}">
        <p14:creationId xmlns:p14="http://schemas.microsoft.com/office/powerpoint/2010/main" val="1046072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58223-100B-43BB-B05A-672254E7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 på baser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7538B2EF-8DED-4532-83F9-EDA5019640A6}"/>
              </a:ext>
            </a:extLst>
          </p:cNvPr>
          <p:cNvSpPr txBox="1"/>
          <p:nvPr/>
        </p:nvSpPr>
        <p:spPr>
          <a:xfrm>
            <a:off x="753035" y="1913392"/>
            <a:ext cx="6472518" cy="237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Natriumhydroxid		</a:t>
            </a:r>
            <a:r>
              <a:rPr lang="da-DK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NaOH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Kaliumhydroxid		</a:t>
            </a:r>
            <a:r>
              <a:rPr lang="da-DK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KOH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Ammoniak			NH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Calciumcarbonat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	CaCO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a-DK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Natriumhydrogencarbonat</a:t>
            </a:r>
            <a:r>
              <a:rPr lang="da-DK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NaHCO</a:t>
            </a:r>
            <a:r>
              <a:rPr lang="da-DK" sz="2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ærer drak svovlsyre i timen">
            <a:extLst>
              <a:ext uri="{FF2B5EF4-FFF2-40B4-BE49-F238E27FC236}">
                <a16:creationId xmlns:a16="http://schemas.microsoft.com/office/drawing/2014/main" id="{BE97CE19-365C-47DF-BC86-7C04E89CA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365125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622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58223-100B-43BB-B05A-672254E7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Korresponderende syrebasepar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971DF85-3D5B-4536-A93C-03719CBD596E}"/>
              </a:ext>
            </a:extLst>
          </p:cNvPr>
          <p:cNvSpPr txBox="1"/>
          <p:nvPr/>
        </p:nvSpPr>
        <p:spPr>
          <a:xfrm>
            <a:off x="838199" y="1599813"/>
            <a:ext cx="10170460" cy="4780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/>
              <a:t>En syre (S) kan afgive en </a:t>
            </a:r>
            <a:r>
              <a:rPr lang="da-DK" sz="2400" dirty="0" err="1"/>
              <a:t>hydron</a:t>
            </a:r>
            <a:r>
              <a:rPr lang="da-DK" sz="2400" dirty="0"/>
              <a:t> (H</a:t>
            </a:r>
            <a:r>
              <a:rPr lang="da-DK" sz="2400" baseline="30000" dirty="0"/>
              <a:t>+</a:t>
            </a:r>
            <a:r>
              <a:rPr lang="da-DK" sz="2400" dirty="0"/>
              <a:t>)og blive til sin korresponderende base(B). Syren (S) og basen (B) er et såkaldt korresponderende syre-base-par.</a:t>
            </a:r>
            <a:r>
              <a:rPr lang="da-DK" sz="24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da-DK" sz="2400" b="1" dirty="0" err="1"/>
              <a:t>HCl</a:t>
            </a:r>
            <a:r>
              <a:rPr lang="da-DK" sz="2400" b="1" dirty="0"/>
              <a:t>  +  OH</a:t>
            </a:r>
            <a:r>
              <a:rPr lang="da-DK" sz="2400" b="1" baseline="30000" dirty="0"/>
              <a:t>-</a:t>
            </a:r>
            <a:r>
              <a:rPr lang="da-DK" sz="2400" b="1" dirty="0"/>
              <a:t>  →  Cl</a:t>
            </a:r>
            <a:r>
              <a:rPr lang="da-DK" sz="2400" b="1" baseline="30000" dirty="0"/>
              <a:t>-</a:t>
            </a:r>
            <a:r>
              <a:rPr lang="da-DK" sz="2400" b="1" dirty="0"/>
              <a:t>  +  H</a:t>
            </a:r>
            <a:r>
              <a:rPr lang="da-DK" sz="2400" b="1" baseline="-25000" dirty="0"/>
              <a:t>2</a:t>
            </a:r>
            <a:r>
              <a:rPr lang="da-DK" sz="2400" b="1" dirty="0"/>
              <a:t>O</a:t>
            </a:r>
          </a:p>
          <a:p>
            <a:r>
              <a:rPr lang="da-DK" sz="2400" dirty="0"/>
              <a:t>S(1)     B(2)       B(1)    S(2)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Angiv den korresponderende base til følgende syrer:</a:t>
            </a:r>
            <a:endParaRPr lang="da-D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HCN			</a:t>
            </a:r>
            <a:r>
              <a:rPr lang="da-DK" sz="2400" dirty="0"/>
              <a:t> CN</a:t>
            </a:r>
            <a:r>
              <a:rPr lang="da-DK" sz="2400" baseline="30000" dirty="0"/>
              <a:t>- 		</a:t>
            </a:r>
            <a:r>
              <a:rPr lang="da-DK" sz="2400" dirty="0"/>
              <a:t>HCN/CN</a:t>
            </a:r>
            <a:r>
              <a:rPr lang="da-DK" sz="2400" baseline="30000" dirty="0"/>
              <a:t>-</a:t>
            </a:r>
            <a:r>
              <a:rPr lang="da-DK" sz="24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HNO</a:t>
            </a:r>
            <a:r>
              <a:rPr lang="da-DK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da-DK" sz="2400" dirty="0"/>
              <a:t> NO</a:t>
            </a:r>
            <a:r>
              <a:rPr lang="da-DK" sz="2400" baseline="-25000" dirty="0"/>
              <a:t>3</a:t>
            </a:r>
            <a:r>
              <a:rPr lang="da-DK" sz="2400" baseline="30000" dirty="0"/>
              <a:t>-		</a:t>
            </a:r>
            <a:r>
              <a:rPr lang="da-DK" sz="2400" dirty="0"/>
              <a:t>HNO</a:t>
            </a:r>
            <a:r>
              <a:rPr lang="da-DK" sz="2400" baseline="-25000" dirty="0"/>
              <a:t>3</a:t>
            </a:r>
            <a:r>
              <a:rPr lang="da-DK" sz="2400" dirty="0"/>
              <a:t>/NO</a:t>
            </a:r>
            <a:r>
              <a:rPr lang="da-DK" sz="2400" baseline="-25000" dirty="0"/>
              <a:t>3</a:t>
            </a:r>
            <a:r>
              <a:rPr lang="da-DK" sz="2400" baseline="30000" dirty="0"/>
              <a:t>-</a:t>
            </a:r>
            <a:endParaRPr lang="da-DK" sz="2400" baseline="30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Angiv den korresponderende syre til følgende baser:</a:t>
            </a:r>
            <a:endParaRPr lang="da-D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HCO</a:t>
            </a:r>
            <a:r>
              <a:rPr lang="da-DK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da-DK" sz="24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		</a:t>
            </a:r>
            <a:r>
              <a:rPr lang="da-DK" sz="2400" dirty="0"/>
              <a:t> H</a:t>
            </a:r>
            <a:r>
              <a:rPr lang="da-DK" sz="2400" baseline="-25000" dirty="0"/>
              <a:t>2</a:t>
            </a:r>
            <a:r>
              <a:rPr lang="da-DK" sz="2400" dirty="0"/>
              <a:t>CO</a:t>
            </a:r>
            <a:r>
              <a:rPr lang="da-DK" sz="2400" baseline="-25000" dirty="0"/>
              <a:t>3 </a:t>
            </a:r>
            <a:r>
              <a:rPr lang="da-DK" sz="24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HCO</a:t>
            </a:r>
            <a:r>
              <a:rPr lang="da-DK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da-DK" sz="24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/H</a:t>
            </a:r>
            <a:r>
              <a:rPr lang="da-DK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</a:t>
            </a:r>
            <a:r>
              <a:rPr lang="da-DK" sz="24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  <a:p>
            <a:pPr marL="342900" lvl="0" indent="-342900">
              <a:lnSpc>
                <a:spcPct val="107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da-DK" sz="24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da-DK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</a:t>
            </a:r>
            <a:r>
              <a:rPr lang="da-DK" sz="2400" dirty="0"/>
              <a:t> HI		HI/I</a:t>
            </a:r>
            <a:endParaRPr lang="da-DK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1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50BEC6-83FA-47DC-805E-BC2E2554B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Amfolytter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74DF1A9D-B809-4227-BDE7-77BA46C2F9B4}"/>
              </a:ext>
            </a:extLst>
          </p:cNvPr>
          <p:cNvSpPr txBox="1"/>
          <p:nvPr/>
        </p:nvSpPr>
        <p:spPr>
          <a:xfrm>
            <a:off x="838200" y="1651954"/>
            <a:ext cx="9744636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amfolyt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er et molekyle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elller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ion, der både kan reagere som syre og som base som fx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O, </a:t>
            </a:r>
            <a:r>
              <a:rPr lang="da-DK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da-DK" sz="18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</a:t>
            </a:r>
            <a:r>
              <a:rPr lang="da-DK" sz="18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da-DK" sz="18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HPO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2-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D2448EC-0F35-4771-8E0A-DD1010C16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434" y="5072043"/>
            <a:ext cx="6064152" cy="1539653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5F2BD434-342B-4D76-BE68-8FF1C1FCC6D0}"/>
              </a:ext>
            </a:extLst>
          </p:cNvPr>
          <p:cNvSpPr txBox="1"/>
          <p:nvPr/>
        </p:nvSpPr>
        <p:spPr>
          <a:xfrm>
            <a:off x="838200" y="2584574"/>
            <a:ext cx="10264589" cy="2329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Amfolytten</a:t>
            </a:r>
            <a:r>
              <a:rPr lang="da-DK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da-DK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 syre:	</a:t>
            </a:r>
            <a:r>
              <a:rPr lang="da-DK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da-DK" sz="20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 NH</a:t>
            </a:r>
            <a:r>
              <a:rPr lang="da-DK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3" panose="05040102010807070707" pitchFamily="18" charset="2"/>
              </a:rPr>
              <a:t>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a-DK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da-DK" sz="20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 NH</a:t>
            </a:r>
            <a:r>
              <a:rPr lang="da-DK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da-DK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base:       	HNO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+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en-US" sz="20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 </a:t>
            </a:r>
            <a:r>
              <a:rPr lang="da-DK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3" panose="05040102010807070707" pitchFamily="18" charset="2"/>
              </a:rPr>
              <a:t>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NO</a:t>
            </a:r>
            <a:r>
              <a:rPr lang="en-US" sz="2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0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+  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20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2000" b="1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Amfolytten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b="1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endParaRPr lang="da-DK" sz="2400" b="1" baseline="30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60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AB09E9-55AD-49E9-82C0-30D73D23E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Løs opgaverne i dokumentet </a:t>
            </a:r>
            <a:br>
              <a:rPr lang="da-DK" dirty="0"/>
            </a:br>
            <a:r>
              <a:rPr lang="da-DK" dirty="0"/>
              <a:t>´Opgaver til syrer og baser (I)´</a:t>
            </a:r>
          </a:p>
        </p:txBody>
      </p:sp>
    </p:spTree>
    <p:extLst>
      <p:ext uri="{BB962C8B-B14F-4D97-AF65-F5344CB8AC3E}">
        <p14:creationId xmlns:p14="http://schemas.microsoft.com/office/powerpoint/2010/main" val="37568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492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Office-tema</vt:lpstr>
      <vt:lpstr>Syrer og baser </vt:lpstr>
      <vt:lpstr>Syrebasereaktioner - syrer</vt:lpstr>
      <vt:lpstr>Eksempler på syrer</vt:lpstr>
      <vt:lpstr>Stærke og svage syrer</vt:lpstr>
      <vt:lpstr>Syrebasereaktioner - baser</vt:lpstr>
      <vt:lpstr>Syrebasereaktioner</vt:lpstr>
      <vt:lpstr>Eksempler på baser</vt:lpstr>
      <vt:lpstr>Korresponderende syrebasepar</vt:lpstr>
      <vt:lpstr>Amfolytter</vt:lpstr>
      <vt:lpstr>Løs opgaverne i dokumentet  ´Opgaver til syrer og baser (I)´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Syrer og baser</dc:title>
  <dc:creator>Charlotte Lena Boesen</dc:creator>
  <cp:lastModifiedBy>Charlotte Lena Boesen</cp:lastModifiedBy>
  <cp:revision>10</cp:revision>
  <dcterms:created xsi:type="dcterms:W3CDTF">2024-12-18T13:25:24Z</dcterms:created>
  <dcterms:modified xsi:type="dcterms:W3CDTF">2024-12-19T09:14:07Z</dcterms:modified>
</cp:coreProperties>
</file>