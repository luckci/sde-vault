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12782C-FCE5-46CE-97F4-EFE0094F0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53D0C02-0B0E-4A45-A512-7093CBBEC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D256EA1-20CC-43FB-8A3D-3C3A5A2B3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649FF04-B099-442C-BD84-3D3C49E6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3F4D621-9C9E-4506-9F85-352F9260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406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D28CF5-AD24-453D-A848-0DC80AF42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6A57576-CF7F-4960-9E86-2D00DAFC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3039A91-14CA-4E5F-8773-6B5DB21A3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8EF1436-A22E-4A35-B051-15C710BB5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C1D273-E830-4D81-AF14-BDFFA5C4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290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D3CB7D-BED8-4A63-85A1-7B1E8ABA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FC4189E-A7F9-413E-816C-2899F48D7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E594521-883D-4B83-88B0-7F9FA1C15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4A3E604-6290-4A82-AC3B-A91B6B1D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428874B-80F1-4339-B8FE-A30F0684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858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651DFA-FB8B-4681-B85C-DE5DFC32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EB2F250-C089-44D0-BA27-20A590CCC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721E73AB-8C8F-419F-830C-D3A64D4DA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02D38A6-165B-42FE-91BF-B6A29087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BCF079A-5204-4331-8792-34FB630F7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4DA0AE9-8356-41FB-A071-AC8C88DD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0141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3060A5-6E7A-443C-B335-CCE1CF94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6DD7726-2FA1-4D03-BE49-9334A020B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EA18455-6263-4A86-BF19-D20B41905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C92A78C2-BB15-4C99-A24B-A85EB244D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C4C7879-A723-42A6-94B1-8D4E43CF9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3DEBFBEC-48A6-4EC7-971B-6CA07467E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FEB5DEEC-EE56-48E2-B2C5-0A0861CF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6CA1D28F-6DAB-44F1-AE09-3F0B7A84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651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FE9AAA-6064-46D6-BE43-4BF677C3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D84873A-CC55-46F6-AA5C-B157232F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CBF85B8-C387-4315-9ABC-C47888CB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43DAA2C-2B12-4AF9-A990-0F519637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512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EF662FAA-1F3F-46E5-9362-69BFAB91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8C43C0B-1522-442B-AB7A-915B8D2C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B00E8D6-365B-4570-A173-C7B17B1A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993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827AA3-126D-4554-9529-D5B515DF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6E56D5C-931B-40BA-8F68-8A1B0AE4B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07A2E4F-804B-4DD8-A376-79C11943D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094EFA6-1920-4445-9C7D-FCC88868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03B0DEC-723E-4607-ABA4-4FB3D2BB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E50BCD2-EB9B-4A2E-9D67-36F269E7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4048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5FFA8D-6C57-4423-9C71-1E134960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A8A67D27-5E0A-4D11-BCC1-DDC2F0AFAE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2AA7293-3B35-41BE-9F89-5CFA00C6A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1018DE7-91CC-4CB4-B82B-193AABF2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208B56C-5D33-4F34-AA69-6F6B1617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E5FB0FD-0119-4D48-834E-5F0BB1F0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5387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C6862-F9F9-4E07-8374-5E610630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B5899C1-9369-494D-A0EB-00D509CF8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386E5C2-D1BA-46BB-9191-3717FAFB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1E4D5F3-28EA-48AC-9E80-51C4C35B1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624A75C-6080-4A3A-965B-CD4FCE2D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7973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10D42294-2F8D-48D5-B3E5-ED36DF5CB3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BCDB4E0-066A-487C-8EF5-0CB93E129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FF15F0B-97F1-4280-8DA3-876346B7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58C80FC-16ED-4038-8126-9205270E5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58B9E7C-778B-46B8-841C-A17FD498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365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F1E7D88F-2937-4CD3-810F-96159448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39248D9-FABF-44E1-A840-43BAA8874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C159CA1-5C09-4EA2-A32E-EB04DD720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74766-1F90-4B9F-8780-EA17CA6A34CB}" type="datetimeFigureOut">
              <a:rPr lang="da-DK" smtClean="0"/>
              <a:t>07-05-2025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2DEF69E-61C3-41F1-B164-EC40E2CB8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ED50395-DA33-47BA-86E5-1FDE3FCB7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8DDAA-2B7E-4610-A2BA-236B18B3C2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8408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x.dk/kemisk_forme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F38F8-9AE5-40C5-8E89-F1BC0984C2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Organisk kemi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69EDF6A-D3F9-4A99-9DB9-187B9F76E9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1. B 2025</a:t>
            </a:r>
          </a:p>
        </p:txBody>
      </p:sp>
    </p:spTree>
    <p:extLst>
      <p:ext uri="{BB962C8B-B14F-4D97-AF65-F5344CB8AC3E}">
        <p14:creationId xmlns:p14="http://schemas.microsoft.com/office/powerpoint/2010/main" val="3205149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A2B35C-3474-421A-937F-1FA5CB084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Organisk kemi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CE64E34D-0FDE-4BB0-AA66-36E586F32EC9}"/>
              </a:ext>
            </a:extLst>
          </p:cNvPr>
          <p:cNvSpPr txBox="1"/>
          <p:nvPr/>
        </p:nvSpPr>
        <p:spPr>
          <a:xfrm>
            <a:off x="950259" y="1842150"/>
            <a:ext cx="10165976" cy="3251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Organisk kemi - uorganisk kemi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Forbindelser som alle indeholder </a:t>
            </a:r>
            <a:r>
              <a:rPr lang="da-DK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carbon</a:t>
            </a:r>
            <a:endParaRPr lang="da-DK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1828 lykkedes det tyskeren Friedrich </a:t>
            </a:r>
            <a:r>
              <a:rPr lang="da-DK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Wohler</a:t>
            </a: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 fremstille et organisk stof ud fra et uorganisk stof.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Havde i 2009 kendskab til over 50 millioner forskellige kemiske stoffer og ca. 95 % af dem er organiske forbindelser.</a:t>
            </a:r>
          </a:p>
        </p:txBody>
      </p:sp>
      <p:pic>
        <p:nvPicPr>
          <p:cNvPr id="1026" name="Picture 2" descr="organic chemistry - Was Wöhler's urea synthesis carried out with or without  oxygen? - Chemistry Stack Exchange">
            <a:extLst>
              <a:ext uri="{FF2B5EF4-FFF2-40B4-BE49-F238E27FC236}">
                <a16:creationId xmlns:a16="http://schemas.microsoft.com/office/drawing/2014/main" id="{9026A0A6-5BC4-49C0-B6F1-194B84AAB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634" y="5245015"/>
            <a:ext cx="4105835" cy="149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017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04779-D494-4FB7-82AC-A5F93941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Carbonatomets</a:t>
            </a:r>
            <a:r>
              <a:rPr lang="da-DK" dirty="0"/>
              <a:t> bindingsforhold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152F2118-BD79-4E75-8934-730AA80AC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78" y="1690688"/>
            <a:ext cx="2557501" cy="1853358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4DCB0E92-ECB7-4B3C-ACE9-4863D817E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047" y="1552679"/>
            <a:ext cx="2231923" cy="2129375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55F4AF59-4082-470D-B77E-887F03FA5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269" y="3947019"/>
            <a:ext cx="6542605" cy="271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57C183-D1EF-4B53-84E6-E72480DE2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Carbontaomets</a:t>
            </a:r>
            <a:r>
              <a:rPr lang="da-DK" dirty="0"/>
              <a:t> bindingsforhold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6E49BB5-3AAE-4ECA-A2A9-51E449EC5B49}"/>
              </a:ext>
            </a:extLst>
          </p:cNvPr>
          <p:cNvSpPr txBox="1"/>
          <p:nvPr/>
        </p:nvSpPr>
        <p:spPr>
          <a:xfrm>
            <a:off x="995082" y="1851695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Molekylformel CH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C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C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4DEDD9A-1389-4C0C-A3F2-248A4E7B1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93" y="2655071"/>
            <a:ext cx="3822238" cy="2885117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103F05A0-81EA-4A1C-BF72-CC820804E15B}"/>
              </a:ext>
            </a:extLst>
          </p:cNvPr>
          <p:cNvSpPr txBox="1"/>
          <p:nvPr/>
        </p:nvSpPr>
        <p:spPr>
          <a:xfrm>
            <a:off x="7637929" y="1880564"/>
            <a:ext cx="2554941" cy="77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Strukturformel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BD352856-7DEB-47D9-9E50-3696F3B0BF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290"/>
          <a:stretch/>
        </p:blipFill>
        <p:spPr>
          <a:xfrm>
            <a:off x="7168472" y="3002449"/>
            <a:ext cx="3024398" cy="319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2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1E0C72-9DBD-4F93-8484-1AB0C3199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Enkelt-, dobbelt- og </a:t>
            </a:r>
            <a:r>
              <a:rPr lang="da-DK" dirty="0" err="1"/>
              <a:t>tripelbindinger</a:t>
            </a:r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8628B660-75BB-4BC2-A284-063E3F2E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60" y="1727456"/>
            <a:ext cx="6435219" cy="3403087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B4E8FB57-6B06-4603-82E0-122C8E48E418}"/>
              </a:ext>
            </a:extLst>
          </p:cNvPr>
          <p:cNvSpPr txBox="1"/>
          <p:nvPr/>
        </p:nvSpPr>
        <p:spPr>
          <a:xfrm>
            <a:off x="1059260" y="5399464"/>
            <a:ext cx="6096000" cy="77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Der er fri drejelighed omkring enkeltbindinger.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Der er ikke fri drejelighed omkring dobbelt- og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tripelbindinger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785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17FCE2-7945-4305-BDE6-EE5787BF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Carbonhydrider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CDDE56A-530D-4E6D-BF7F-84E95DC26E04}"/>
              </a:ext>
            </a:extLst>
          </p:cNvPr>
          <p:cNvSpPr txBox="1"/>
          <p:nvPr/>
        </p:nvSpPr>
        <p:spPr>
          <a:xfrm>
            <a:off x="770964" y="1947234"/>
            <a:ext cx="10408023" cy="1868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Kemiske forbindelser der kun består af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carbon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og hydrogen kaldes 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carbonhydrider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Hvis der kun er enkeltbindinger mellem C-atomerne i en organisk forbindelse kaldes den en 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mættet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forbindelse.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Hvis der forekommer dobbelt eller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tripelbindinger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kaldes den for en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umættet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forbindelse.</a:t>
            </a:r>
          </a:p>
        </p:txBody>
      </p:sp>
      <p:pic>
        <p:nvPicPr>
          <p:cNvPr id="3074" name="Picture 2" descr="Fedt - Det er godt at vide">
            <a:extLst>
              <a:ext uri="{FF2B5EF4-FFF2-40B4-BE49-F238E27FC236}">
                <a16:creationId xmlns:a16="http://schemas.microsoft.com/office/drawing/2014/main" id="{715A95FA-566B-4047-9764-06F8788BE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791" y="4317067"/>
            <a:ext cx="4622175" cy="190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9951487A-4DD2-4221-B39F-276866C4E111}"/>
              </a:ext>
            </a:extLst>
          </p:cNvPr>
          <p:cNvSpPr txBox="1"/>
          <p:nvPr/>
        </p:nvSpPr>
        <p:spPr>
          <a:xfrm>
            <a:off x="4607328" y="4694642"/>
            <a:ext cx="1299882" cy="573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Triglycerid (fedtstof)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95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1133C-6395-43F2-AE99-A0146875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Løs opgave 80 s. 121 i Basiskemi C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3EF053E3-7C71-4DA8-ACC5-0AD2DA072C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97"/>
          <a:stretch/>
        </p:blipFill>
        <p:spPr>
          <a:xfrm>
            <a:off x="1705464" y="2178424"/>
            <a:ext cx="5318256" cy="380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5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0E85CB-EE91-4999-830F-03058BB07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Alkaner</a:t>
            </a:r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157774C-1BDD-4C77-932C-68723AAF2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92" y="1652784"/>
            <a:ext cx="10641002" cy="391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9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BC7B87-7DBF-4332-AF9A-53880200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Zigzagformler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E81F9DEF-EFF2-4539-A6EC-9B9F8ADF8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69" y="1754675"/>
            <a:ext cx="6954643" cy="422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6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88178-A15C-4C0E-BAA1-B1F6ABCF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Isomere</a:t>
            </a:r>
            <a:r>
              <a:rPr lang="da-DK" dirty="0"/>
              <a:t> </a:t>
            </a:r>
            <a:r>
              <a:rPr lang="da-DK" dirty="0" err="1"/>
              <a:t>alkaner</a:t>
            </a:r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9444B816-9759-4568-A661-AF3A53FC8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64" y="1775079"/>
            <a:ext cx="5925377" cy="3038899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94AC596C-6E16-4644-A707-4AA316AC67E9}"/>
              </a:ext>
            </a:extLst>
          </p:cNvPr>
          <p:cNvSpPr txBox="1"/>
          <p:nvPr/>
        </p:nvSpPr>
        <p:spPr>
          <a:xfrm>
            <a:off x="7162800" y="1775079"/>
            <a:ext cx="47199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000000"/>
                </a:solidFill>
                <a:effectLst/>
                <a:latin typeface="Publico text"/>
              </a:rPr>
              <a:t>Isomeri er det fænomen, at to eller flere forbindelser har samme </a:t>
            </a:r>
            <a:r>
              <a:rPr lang="da-DK" b="0" i="0" u="none" strike="noStrike" dirty="0">
                <a:solidFill>
                  <a:srgbClr val="000000"/>
                </a:solidFill>
                <a:effectLst/>
                <a:latin typeface="Publico text"/>
                <a:hlinkClick r:id="rId3"/>
              </a:rPr>
              <a:t>kemiske formel</a:t>
            </a:r>
            <a:r>
              <a:rPr lang="da-DK" b="0" i="0" dirty="0">
                <a:solidFill>
                  <a:srgbClr val="000000"/>
                </a:solidFill>
                <a:effectLst/>
                <a:latin typeface="Publico text"/>
              </a:rPr>
              <a:t> (bruttoformel), men viser forskel i opbygningen af deres molekyler og derigennem har forskellige fysiske og ofte forskellige kemiske egenskaber.</a:t>
            </a:r>
            <a:endParaRPr lang="da-DK" dirty="0"/>
          </a:p>
        </p:txBody>
      </p:sp>
      <p:pic>
        <p:nvPicPr>
          <p:cNvPr id="4098" name="Picture 2" descr="Isomeri på C-niveau">
            <a:extLst>
              <a:ext uri="{FF2B5EF4-FFF2-40B4-BE49-F238E27FC236}">
                <a16:creationId xmlns:a16="http://schemas.microsoft.com/office/drawing/2014/main" id="{B8C52B40-DC9D-4301-B57D-9FAED93C3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441" y="5277597"/>
            <a:ext cx="45815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61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189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Publico text</vt:lpstr>
      <vt:lpstr>Office-tema</vt:lpstr>
      <vt:lpstr>Organisk kemi</vt:lpstr>
      <vt:lpstr>Organisk kemi</vt:lpstr>
      <vt:lpstr>Carbonatomets bindingsforhold</vt:lpstr>
      <vt:lpstr>Carbontaomets bindingsforhold</vt:lpstr>
      <vt:lpstr>Enkelt-, dobbelt- og tripelbindinger</vt:lpstr>
      <vt:lpstr>Carbonhydrider</vt:lpstr>
      <vt:lpstr>Løs opgave 80 s. 121 i Basiskemi C</vt:lpstr>
      <vt:lpstr>Alkaner</vt:lpstr>
      <vt:lpstr>Zigzagformler</vt:lpstr>
      <vt:lpstr>Isomere alkaner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Organisk kemi</dc:title>
  <dc:creator>Charlotte Lena Boesen</dc:creator>
  <cp:lastModifiedBy>Charlotte Lena Boesen</cp:lastModifiedBy>
  <cp:revision>5</cp:revision>
  <dcterms:created xsi:type="dcterms:W3CDTF">2025-05-07T08:39:12Z</dcterms:created>
  <dcterms:modified xsi:type="dcterms:W3CDTF">2025-05-07T09:13:35Z</dcterms:modified>
</cp:coreProperties>
</file>