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6" r:id="rId3"/>
    <p:sldId id="318" r:id="rId4"/>
    <p:sldId id="319" r:id="rId5"/>
    <p:sldId id="320" r:id="rId6"/>
    <p:sldId id="321" r:id="rId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84E8B9-74FD-4B95-BF88-810C6AB03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40BFAB7-AA06-481C-820A-1D390793E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158C4C7-75E9-4BF4-85AA-D951A6B0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9AE4CAF-DFB4-4093-B936-0934D998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E0BC1C5-0451-499E-A5F0-30D4CD27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044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D1E78F-8835-45E2-B079-3D81CF24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AAFAB6-A971-40BC-A13F-D8880F7AC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F636ACA-C793-4C0B-BDA6-15FAA35E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DBF3B94-02AA-4256-9DA7-716D00008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5A55260-5E65-4B77-A25B-B263F004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898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89105-73D5-4AB4-B114-D10B9464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C4A6FA2-9D61-4DED-9DA8-D5749F1D1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3A039B2-1761-4DB5-B033-E7555698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96B5508-8BF6-4675-9A4C-C6D43810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C201DE5-264E-4FA1-A995-0F971CB3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515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73C24-507F-4035-9007-4A1A5AE2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FC3856-A767-4E36-8EBC-6E23C323E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D0509A9-AE0F-4BAD-8BB7-1B8023589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6BEAAEA-8D78-4E44-AD1E-CC201490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6916F7C-6007-458C-BF51-D8105E6C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37BB004-4B21-4AB9-A1DB-AC876B00A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023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F1FE3-2D93-46F1-9C88-623E57A6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A48AF45-B594-4527-B48D-CCED0EF86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7596162-FC5F-47ED-809B-DBBCFB942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3AE9A6FD-1726-457B-BB5B-8899DA084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0690AB7-7291-47AC-8601-4ECA2EB2F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EC797200-B61B-4A6E-8DB8-29BE56F8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2FDAC194-7B72-4648-A078-745CA671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8F517C12-2FE0-4E8D-93E5-3D587260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856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6BD07-AAF1-4ECB-9EBA-3EB33872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6859039-B678-4B28-BF31-69A73531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DF62E2E-4DA9-4A58-9967-CBFA28C5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8272665-4B7A-495D-B21B-B1EBE1EE0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029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6988E558-B873-4029-B058-7E652BC9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BFDD3818-A1B5-4D05-947D-B7EF0AED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3BD694C-6144-4CA2-B8E5-731B77A0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7119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F4F51A-7028-448F-94DF-A58B0CF0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FEFAC54-4BCE-42C0-A0C6-F7EE838ED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33165F9-41EA-4B9D-AA38-25D8C0995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CFEB3D0-2567-4074-ADA8-D15BAEFD6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1D1AED0-E09D-4722-8FAE-2092A872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C9732A2-01A7-4AD2-B4AB-14AC8C5A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3501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30B67-DB61-4D30-9729-774C752C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FF860E12-7BC3-4D65-87A6-FBDDA7C72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0C06329-B8A1-4F37-8C28-57CB28296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4D6069E-5409-4AD0-A4E5-29FDC388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0BEFF61-B321-4D5E-9760-2281C260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FEA17F6-4C0F-4FEC-94E0-97DEDC8B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732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2FF4FC-976C-4582-9EF0-C1A6DDE5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FC437A0-89FA-40EB-B1EB-919291D13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4AEE653-F3B6-4B15-878F-1155DB49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125815B-DAFC-4FD7-888B-6BCDFA1F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EE6FEB8-92A3-4FEF-B5B0-659884DC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077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420B0E51-0EE4-4DBD-A0AA-77C2252F2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F02B440-E87A-497F-93D0-5AD01AC58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DF92C51-FD63-49E5-9EDC-D559BF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EA53510-5394-4CCE-802B-9547F963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52B759F-0448-486B-9154-2B7B793B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0194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FF6650C-B1E4-44A4-8BDD-D295E627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CF9D943-28D5-425E-B4E6-C7EEC4399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8C9BC72-4B12-486A-9CE3-21FF0C95B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363A5-6FD3-4890-977F-107210346912}" type="datetimeFigureOut">
              <a:rPr lang="da-DK" smtClean="0"/>
              <a:t>13-05-2025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CE282AF-BB17-4ABE-8F9A-140FFD7CE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D4E469-91FC-4DFF-998A-A0A962246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F4993-7768-4923-88AD-AB438217899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44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968A4C-D8BA-47CC-A881-1AFA344D86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/>
              <a:t>Alkaners</a:t>
            </a:r>
            <a:r>
              <a:rPr lang="da-DK" dirty="0"/>
              <a:t> fysiske og kemiske egenskaber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007A6E3-EDEF-48EE-9643-1FA4ACED5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53603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433836" cy="7330826"/>
          </a:xfrm>
        </p:spPr>
        <p:txBody>
          <a:bodyPr>
            <a:normAutofit/>
          </a:bodyPr>
          <a:lstStyle/>
          <a:p>
            <a:r>
              <a:rPr lang="da-DK" dirty="0"/>
              <a:t>Kendte alkaner</a:t>
            </a:r>
            <a:br>
              <a:rPr lang="da-DK" dirty="0"/>
            </a:br>
            <a:br>
              <a:rPr lang="da-DK" dirty="0"/>
            </a:br>
            <a:r>
              <a:rPr lang="da-DK" dirty="0"/>
              <a:t>naturgas</a:t>
            </a:r>
            <a:br>
              <a:rPr lang="da-DK" dirty="0"/>
            </a:br>
            <a:r>
              <a:rPr lang="da-DK" dirty="0"/>
              <a:t>biogas</a:t>
            </a:r>
            <a:br>
              <a:rPr lang="da-DK" dirty="0"/>
            </a:br>
            <a:r>
              <a:rPr lang="da-DK" dirty="0"/>
              <a:t>lightergas</a:t>
            </a:r>
            <a:br>
              <a:rPr lang="da-DK" dirty="0"/>
            </a:br>
            <a:r>
              <a:rPr lang="da-DK" dirty="0"/>
              <a:t>flaskegas</a:t>
            </a:r>
            <a:br>
              <a:rPr lang="da-DK" dirty="0"/>
            </a:br>
            <a:r>
              <a:rPr lang="da-DK" dirty="0"/>
              <a:t>benzin</a:t>
            </a:r>
            <a:br>
              <a:rPr lang="da-DK" dirty="0"/>
            </a:br>
            <a:br>
              <a:rPr lang="da-DK" baseline="-25000" dirty="0"/>
            </a:br>
            <a:br>
              <a:rPr lang="da-DK" baseline="-25000" dirty="0"/>
            </a:br>
            <a:br>
              <a:rPr lang="da-DK" dirty="0"/>
            </a:b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5192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330" y="964920"/>
            <a:ext cx="3898776" cy="4306490"/>
          </a:xfrm>
        </p:spPr>
        <p:txBody>
          <a:bodyPr>
            <a:normAutofit fontScale="90000"/>
          </a:bodyPr>
          <a:lstStyle/>
          <a:p>
            <a:r>
              <a:rPr lang="da-DK" b="1" dirty="0"/>
              <a:t>Alkanernes</a:t>
            </a:r>
            <a:br>
              <a:rPr lang="da-DK" b="1" dirty="0"/>
            </a:br>
            <a:r>
              <a:rPr lang="da-DK" b="1" dirty="0"/>
              <a:t>fysiske egenskaber</a:t>
            </a:r>
            <a:br>
              <a:rPr lang="da-DK" dirty="0"/>
            </a:br>
            <a:br>
              <a:rPr lang="da-DK" dirty="0"/>
            </a:br>
            <a:r>
              <a:rPr lang="da-DK" dirty="0"/>
              <a:t>Koge- og smeltepunkter</a:t>
            </a:r>
            <a:br>
              <a:rPr lang="da-DK" baseline="-25000" dirty="0"/>
            </a:br>
            <a:br>
              <a:rPr lang="da-DK" dirty="0"/>
            </a:br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D2D4160-7BC4-46C0-8820-7B98C000A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106" y="964920"/>
            <a:ext cx="6068854" cy="438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867328" cy="8050906"/>
          </a:xfrm>
        </p:spPr>
        <p:txBody>
          <a:bodyPr>
            <a:normAutofit/>
          </a:bodyPr>
          <a:lstStyle/>
          <a:p>
            <a:r>
              <a:rPr lang="da-DK" b="1" dirty="0"/>
              <a:t>Alkanernes kemiske egenskaber</a:t>
            </a:r>
            <a:br>
              <a:rPr lang="da-DK" dirty="0"/>
            </a:br>
            <a:br>
              <a:rPr lang="da-DK" dirty="0"/>
            </a:br>
            <a:r>
              <a:rPr lang="da-DK" sz="3600" dirty="0"/>
              <a:t>Alkaner er reaktionstræge men kan indgå i følgende reaktioner</a:t>
            </a:r>
            <a:br>
              <a:rPr lang="da-DK" sz="3600" dirty="0"/>
            </a:br>
            <a:br>
              <a:rPr lang="da-DK" sz="3600" dirty="0"/>
            </a:br>
            <a:r>
              <a:rPr lang="da-DK" sz="3600" b="1" dirty="0"/>
              <a:t>Forbrændingsreaktion (fuldstændig forbrænding)</a:t>
            </a:r>
            <a:br>
              <a:rPr lang="da-DK" sz="3600" dirty="0"/>
            </a:br>
            <a:r>
              <a:rPr lang="da-DK" sz="3600" dirty="0"/>
              <a:t>CH</a:t>
            </a:r>
            <a:r>
              <a:rPr lang="da-DK" sz="3600" baseline="-25000" dirty="0"/>
              <a:t>4</a:t>
            </a:r>
            <a:r>
              <a:rPr lang="da-DK" sz="3600" dirty="0"/>
              <a:t>  +  2 O</a:t>
            </a:r>
            <a:r>
              <a:rPr lang="da-DK" sz="3600" baseline="-25000" dirty="0"/>
              <a:t>2</a:t>
            </a:r>
            <a:r>
              <a:rPr lang="da-DK" sz="3600" dirty="0"/>
              <a:t>   →   CO</a:t>
            </a:r>
            <a:r>
              <a:rPr lang="da-DK" sz="3600" baseline="-25000" dirty="0"/>
              <a:t>2</a:t>
            </a:r>
            <a:r>
              <a:rPr lang="da-DK" sz="3600" dirty="0"/>
              <a:t>   +   2 H</a:t>
            </a:r>
            <a:r>
              <a:rPr lang="da-DK" sz="3600" baseline="-25000" dirty="0"/>
              <a:t>2</a:t>
            </a:r>
            <a:r>
              <a:rPr lang="da-DK" sz="3600" dirty="0"/>
              <a:t>O</a:t>
            </a:r>
            <a:br>
              <a:rPr lang="da-DK" sz="3600" dirty="0"/>
            </a:br>
            <a:br>
              <a:rPr lang="da-DK" sz="3600" dirty="0"/>
            </a:br>
            <a:br>
              <a:rPr lang="da-DK" dirty="0"/>
            </a:br>
            <a:br>
              <a:rPr lang="da-DK" dirty="0"/>
            </a:br>
            <a:br>
              <a:rPr lang="da-DK" baseline="-25000" dirty="0"/>
            </a:br>
            <a:br>
              <a:rPr lang="da-DK" dirty="0"/>
            </a:b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1AD93F47-3064-4FA0-8E6B-22E8FEF84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82" y="4843862"/>
            <a:ext cx="4982121" cy="173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1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867328" cy="8050906"/>
          </a:xfrm>
        </p:spPr>
        <p:txBody>
          <a:bodyPr>
            <a:normAutofit/>
          </a:bodyPr>
          <a:lstStyle/>
          <a:p>
            <a:r>
              <a:rPr lang="da-DK" b="1" dirty="0"/>
              <a:t>Alkanernes kemiske egenskaber</a:t>
            </a:r>
            <a:br>
              <a:rPr lang="da-DK" dirty="0"/>
            </a:br>
            <a:br>
              <a:rPr lang="da-DK" dirty="0"/>
            </a:br>
            <a:r>
              <a:rPr lang="da-DK" sz="3600" dirty="0"/>
              <a:t>Alkaner er reaktionstræge men kan indgå i følgende reaktioner</a:t>
            </a:r>
            <a:br>
              <a:rPr lang="da-DK" sz="3600" dirty="0"/>
            </a:br>
            <a:br>
              <a:rPr lang="da-DK" sz="3600" dirty="0"/>
            </a:br>
            <a:r>
              <a:rPr lang="da-DK" sz="3600" b="1" dirty="0"/>
              <a:t>Substitutionsreaktion</a:t>
            </a:r>
            <a:br>
              <a:rPr lang="da-DK" sz="3600" dirty="0"/>
            </a:br>
            <a:r>
              <a:rPr lang="da-DK" sz="3600" dirty="0"/>
              <a:t>CH</a:t>
            </a:r>
            <a:r>
              <a:rPr lang="da-DK" sz="3600" baseline="-25000" dirty="0"/>
              <a:t>3</a:t>
            </a:r>
            <a:r>
              <a:rPr lang="da-DK" sz="3600" dirty="0"/>
              <a:t>CH</a:t>
            </a:r>
            <a:r>
              <a:rPr lang="da-DK" sz="3600" baseline="-25000" dirty="0"/>
              <a:t>2</a:t>
            </a:r>
            <a:r>
              <a:rPr lang="da-DK" sz="3600" dirty="0"/>
              <a:t>C</a:t>
            </a:r>
            <a:r>
              <a:rPr lang="da-DK" sz="3600" dirty="0">
                <a:solidFill>
                  <a:srgbClr val="00B050"/>
                </a:solidFill>
              </a:rPr>
              <a:t>H</a:t>
            </a:r>
            <a:r>
              <a:rPr lang="da-DK" sz="3600" baseline="-25000" dirty="0"/>
              <a:t>3</a:t>
            </a:r>
            <a:r>
              <a:rPr lang="da-DK" sz="3600" dirty="0"/>
              <a:t>  +  </a:t>
            </a:r>
            <a:r>
              <a:rPr lang="da-DK" sz="3600" dirty="0">
                <a:solidFill>
                  <a:srgbClr val="FF0000"/>
                </a:solidFill>
              </a:rPr>
              <a:t>Cl-Cl</a:t>
            </a:r>
            <a:r>
              <a:rPr lang="da-DK" sz="3600" dirty="0"/>
              <a:t>   →  CH</a:t>
            </a:r>
            <a:r>
              <a:rPr lang="da-DK" sz="3600" baseline="-25000" dirty="0"/>
              <a:t>3</a:t>
            </a:r>
            <a:r>
              <a:rPr lang="da-DK" sz="3600" dirty="0"/>
              <a:t>CH</a:t>
            </a:r>
            <a:r>
              <a:rPr lang="da-DK" sz="3600" baseline="-25000" dirty="0"/>
              <a:t>2</a:t>
            </a:r>
            <a:r>
              <a:rPr lang="da-DK" sz="3600" dirty="0"/>
              <a:t>CH</a:t>
            </a:r>
            <a:r>
              <a:rPr lang="da-DK" sz="3600" baseline="-25000" dirty="0"/>
              <a:t>2</a:t>
            </a:r>
            <a:r>
              <a:rPr lang="da-DK" sz="3600" dirty="0">
                <a:solidFill>
                  <a:srgbClr val="FF0000"/>
                </a:solidFill>
              </a:rPr>
              <a:t>Cl </a:t>
            </a:r>
            <a:r>
              <a:rPr lang="da-DK" sz="3600" dirty="0"/>
              <a:t> +  </a:t>
            </a:r>
            <a:r>
              <a:rPr lang="da-DK" sz="3600" dirty="0" err="1">
                <a:solidFill>
                  <a:srgbClr val="00B050"/>
                </a:solidFill>
              </a:rPr>
              <a:t>H</a:t>
            </a:r>
            <a:r>
              <a:rPr lang="da-DK" sz="3600" dirty="0" err="1">
                <a:solidFill>
                  <a:srgbClr val="FF0000"/>
                </a:solidFill>
              </a:rPr>
              <a:t>Cl</a:t>
            </a:r>
            <a:br>
              <a:rPr lang="da-DK" sz="3600" dirty="0"/>
            </a:br>
            <a:br>
              <a:rPr lang="da-DK" sz="3600" dirty="0"/>
            </a:br>
            <a:br>
              <a:rPr lang="da-DK" dirty="0"/>
            </a:br>
            <a:br>
              <a:rPr lang="da-DK" dirty="0"/>
            </a:br>
            <a:br>
              <a:rPr lang="da-DK" baseline="-25000" dirty="0"/>
            </a:br>
            <a:br>
              <a:rPr lang="da-DK" dirty="0"/>
            </a:b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5608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24AD3-45B3-49F9-B15F-EF113363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Substitutionsreaktion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77E5667D-304E-4210-88AF-F5DB139CE5EB}"/>
              </a:ext>
            </a:extLst>
          </p:cNvPr>
          <p:cNvSpPr txBox="1"/>
          <p:nvPr/>
        </p:nvSpPr>
        <p:spPr>
          <a:xfrm>
            <a:off x="977152" y="1826765"/>
            <a:ext cx="10685929" cy="139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Ved en substitutionsreaktion  udskiftes et atom (eller atomgruppe) med et andet atom (eller atomgruppe).</a:t>
            </a:r>
          </a:p>
        </p:txBody>
      </p:sp>
      <p:pic>
        <p:nvPicPr>
          <p:cNvPr id="1026" name="Picture 2" descr="Organisk kemi prøve - Nogle der kan forklarer hvad substitutions og  additionsreaktioner er? - Kemi - Studieportalen.dk">
            <a:extLst>
              <a:ext uri="{FF2B5EF4-FFF2-40B4-BE49-F238E27FC236}">
                <a16:creationId xmlns:a16="http://schemas.microsoft.com/office/drawing/2014/main" id="{FF8F38EC-A8C4-415B-B567-C05ABF703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85" y="3638354"/>
            <a:ext cx="6091042" cy="154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r - Kemi - Studieportalen.dk">
            <a:extLst>
              <a:ext uri="{FF2B5EF4-FFF2-40B4-BE49-F238E27FC236}">
                <a16:creationId xmlns:a16="http://schemas.microsoft.com/office/drawing/2014/main" id="{DEE53FA0-D09C-44B9-893A-BF2F0BEAD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727" y="5002307"/>
            <a:ext cx="5283951" cy="102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630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122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Office-tema</vt:lpstr>
      <vt:lpstr>Alkaners fysiske og kemiske egenskaber</vt:lpstr>
      <vt:lpstr>Kendte alkaner  naturgas biogas lightergas flaskegas benzin    </vt:lpstr>
      <vt:lpstr>Alkanernes fysiske egenskaber  Koge- og smeltepunkter  </vt:lpstr>
      <vt:lpstr>Alkanernes kemiske egenskaber  Alkaner er reaktionstræge men kan indgå i følgende reaktioner  Forbrændingsreaktion (fuldstændig forbrænding) CH4  +  2 O2   →   CO2   +   2 H2O      </vt:lpstr>
      <vt:lpstr>Alkanernes kemiske egenskaber  Alkaner er reaktionstræge men kan indgå i følgende reaktioner  Substitutionsreaktion CH3CH2CH3  +  Cl-Cl   →  CH3CH2CH2Cl  +  HCl      </vt:lpstr>
      <vt:lpstr>Substitutionsreaktion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Alkeners fysiske og kemiske egenskaber</dc:title>
  <dc:creator>Charlotte Lena Boesen</dc:creator>
  <cp:lastModifiedBy>Charlotte Lena Boesen</cp:lastModifiedBy>
  <cp:revision>3</cp:revision>
  <dcterms:created xsi:type="dcterms:W3CDTF">2025-05-12T11:00:52Z</dcterms:created>
  <dcterms:modified xsi:type="dcterms:W3CDTF">2025-05-13T07:10:34Z</dcterms:modified>
</cp:coreProperties>
</file>