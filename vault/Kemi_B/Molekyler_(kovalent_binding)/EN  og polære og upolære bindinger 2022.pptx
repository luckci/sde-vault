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1" r:id="rId3"/>
    <p:sldId id="261" r:id="rId4"/>
    <p:sldId id="287" r:id="rId5"/>
    <p:sldId id="312" r:id="rId6"/>
    <p:sldId id="291" r:id="rId7"/>
    <p:sldId id="292" r:id="rId8"/>
    <p:sldId id="302" r:id="rId9"/>
    <p:sldId id="309" r:id="rId10"/>
    <p:sldId id="282" r:id="rId11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9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48445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3879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5959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225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Pladsholder til indhol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Pladsholder til indhol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8" name="Pladsholder til sidefod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772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dato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775078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3" name="Pladsholder til sidefod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3049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64724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i master</a:t>
            </a:r>
          </a:p>
        </p:txBody>
      </p:sp>
      <p:sp>
        <p:nvSpPr>
          <p:cNvPr id="3" name="Pladsholder til billed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Pladsholder til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6669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58851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lodret tite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2939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</a:p>
        </p:txBody>
      </p:sp>
      <p:sp>
        <p:nvSpPr>
          <p:cNvPr id="3" name="Pladsholder til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0999D-52B5-4E62-AADF-D7C142B6F1E1}" type="datetimeFigureOut">
              <a:rPr lang="da-DK" smtClean="0"/>
              <a:t>15-01-2022</a:t>
            </a:fld>
            <a:endParaRPr lang="da-DK"/>
          </a:p>
        </p:txBody>
      </p:sp>
      <p:sp>
        <p:nvSpPr>
          <p:cNvPr id="5" name="Pladsholder til sidefod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8B5B7-3809-4A05-A580-F6D389BB7222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527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YUckHyIBX5o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b="1" dirty="0"/>
              <a:t>Elektronegativitet </a:t>
            </a:r>
          </a:p>
        </p:txBody>
      </p:sp>
      <p:sp>
        <p:nvSpPr>
          <p:cNvPr id="3" name="U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a-DK" sz="4800" b="1"/>
              <a:t>Polære og upolære bindinger</a:t>
            </a:r>
            <a:endParaRPr lang="da-DK" sz="4800" b="1" dirty="0"/>
          </a:p>
        </p:txBody>
      </p:sp>
    </p:spTree>
    <p:extLst>
      <p:ext uri="{BB962C8B-B14F-4D97-AF65-F5344CB8AC3E}">
        <p14:creationId xmlns:p14="http://schemas.microsoft.com/office/powerpoint/2010/main" val="4201264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436B36-1E0C-4A66-97D6-8657B558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69000"/>
          </a:xfrm>
        </p:spPr>
        <p:txBody>
          <a:bodyPr/>
          <a:lstStyle/>
          <a:p>
            <a:r>
              <a:rPr lang="da-DK" dirty="0"/>
              <a:t>Kovalent binding - </a:t>
            </a:r>
            <a:r>
              <a:rPr lang="da-DK" dirty="0" err="1"/>
              <a:t>elektronparbinding</a:t>
            </a:r>
            <a:endParaRPr lang="da-DK" dirty="0"/>
          </a:p>
        </p:txBody>
      </p:sp>
      <p:sp>
        <p:nvSpPr>
          <p:cNvPr id="3" name="Rektangel 2">
            <a:extLst>
              <a:ext uri="{FF2B5EF4-FFF2-40B4-BE49-F238E27FC236}">
                <a16:creationId xmlns:a16="http://schemas.microsoft.com/office/drawing/2014/main" id="{B4A0BB39-B5A9-453A-A889-1BBF7D5AB951}"/>
              </a:ext>
            </a:extLst>
          </p:cNvPr>
          <p:cNvSpPr/>
          <p:nvPr/>
        </p:nvSpPr>
        <p:spPr>
          <a:xfrm>
            <a:off x="444708" y="4950262"/>
            <a:ext cx="4279692" cy="96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Elektronerne er ligeligt fordelt mellem de to H-atomer. Man kalder bindingen ren kovalent eller en </a:t>
            </a: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upolær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binding.</a:t>
            </a:r>
          </a:p>
        </p:txBody>
      </p:sp>
      <p:pic>
        <p:nvPicPr>
          <p:cNvPr id="4" name="Billede 3">
            <a:extLst>
              <a:ext uri="{FF2B5EF4-FFF2-40B4-BE49-F238E27FC236}">
                <a16:creationId xmlns:a16="http://schemas.microsoft.com/office/drawing/2014/main" id="{7745A708-32A3-4C6B-8D73-3F1C7F4246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804" t="35482" r="18259" b="29702"/>
          <a:stretch/>
        </p:blipFill>
        <p:spPr>
          <a:xfrm>
            <a:off x="1174749" y="2087770"/>
            <a:ext cx="2565401" cy="2387600"/>
          </a:xfrm>
          <a:prstGeom prst="rect">
            <a:avLst/>
          </a:prstGeom>
        </p:spPr>
      </p:pic>
      <p:sp>
        <p:nvSpPr>
          <p:cNvPr id="5" name="Rektangel 4">
            <a:extLst>
              <a:ext uri="{FF2B5EF4-FFF2-40B4-BE49-F238E27FC236}">
                <a16:creationId xmlns:a16="http://schemas.microsoft.com/office/drawing/2014/main" id="{07CA65B0-9B0A-4B4E-ADFB-23FCCA9837F6}"/>
              </a:ext>
            </a:extLst>
          </p:cNvPr>
          <p:cNvSpPr/>
          <p:nvPr/>
        </p:nvSpPr>
        <p:spPr>
          <a:xfrm>
            <a:off x="5143500" y="4847670"/>
            <a:ext cx="6420891" cy="1367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</a:t>
            </a: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HCl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-molekylet bevæger det fælles elektronpar sig om både omkring hydrogen og </a:t>
            </a: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chlors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atomkerne.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trækker mere end hydrogen i det fælles elektronpar. Man siger at </a:t>
            </a: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chlor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er mere elektronegativt end hydrogen.</a:t>
            </a:r>
            <a:endParaRPr lang="da-DK" dirty="0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A40F6ADF-2DAA-4A61-9CFC-874B8131FE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423" t="35064" r="54009" b="27343"/>
          <a:stretch/>
        </p:blipFill>
        <p:spPr>
          <a:xfrm>
            <a:off x="6629400" y="2112480"/>
            <a:ext cx="2758560" cy="233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8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lede 1"/>
          <p:cNvPicPr>
            <a:picLocks noChangeAspect="1"/>
          </p:cNvPicPr>
          <p:nvPr/>
        </p:nvPicPr>
        <p:blipFill rotWithShape="1">
          <a:blip r:embed="rId2"/>
          <a:srcRect l="13046" t="7528" r="11826" b="36458"/>
          <a:stretch/>
        </p:blipFill>
        <p:spPr>
          <a:xfrm>
            <a:off x="324983" y="829972"/>
            <a:ext cx="11411070" cy="478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837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9323439" cy="1325563"/>
          </a:xfrm>
        </p:spPr>
        <p:txBody>
          <a:bodyPr>
            <a:normAutofit/>
          </a:bodyPr>
          <a:lstStyle/>
          <a:p>
            <a:r>
              <a:rPr lang="da-DK" dirty="0"/>
              <a:t>Atomers elektronegativitetsværdier</a:t>
            </a:r>
            <a:br>
              <a:rPr lang="da-DK" dirty="0"/>
            </a:br>
            <a:endParaRPr lang="da-DK" dirty="0"/>
          </a:p>
        </p:txBody>
      </p:sp>
      <p:pic>
        <p:nvPicPr>
          <p:cNvPr id="3" name="Billede 13" descr="83a.ashx (759×398)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427" y="2086964"/>
            <a:ext cx="6485849" cy="38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Billede 6">
            <a:extLst>
              <a:ext uri="{FF2B5EF4-FFF2-40B4-BE49-F238E27FC236}">
                <a16:creationId xmlns:a16="http://schemas.microsoft.com/office/drawing/2014/main" id="{6980553B-4F89-4F02-AD2E-C3A693DDC0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99" t="25660" r="25881" b="23635"/>
          <a:stretch/>
        </p:blipFill>
        <p:spPr>
          <a:xfrm>
            <a:off x="235768" y="1423291"/>
            <a:ext cx="5264150" cy="2266181"/>
          </a:xfrm>
          <a:prstGeom prst="rect">
            <a:avLst/>
          </a:prstGeom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2D8C78CA-D91D-4490-993D-BD34D2E7117A}"/>
              </a:ext>
            </a:extLst>
          </p:cNvPr>
          <p:cNvSpPr/>
          <p:nvPr/>
        </p:nvSpPr>
        <p:spPr>
          <a:xfrm>
            <a:off x="838199" y="5359758"/>
            <a:ext cx="4307718" cy="3755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Metaller har lave elektronegativitetsværdier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87C2537B-BDA6-4133-A2E1-1BFB39BAEEB7}"/>
              </a:ext>
            </a:extLst>
          </p:cNvPr>
          <p:cNvSpPr/>
          <p:nvPr/>
        </p:nvSpPr>
        <p:spPr>
          <a:xfrm>
            <a:off x="838199" y="5776283"/>
            <a:ext cx="6096000" cy="6719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Elektronegativitetsværdierne falder ned gennem en gruppe og stiger hen gennem en periode</a:t>
            </a:r>
          </a:p>
        </p:txBody>
      </p:sp>
    </p:spTree>
    <p:extLst>
      <p:ext uri="{BB962C8B-B14F-4D97-AF65-F5344CB8AC3E}">
        <p14:creationId xmlns:p14="http://schemas.microsoft.com/office/powerpoint/2010/main" val="187092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38D1E9-1A75-4C09-A0F6-0DBC853C0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b="1" dirty="0"/>
              <a:t>Kovalent binding</a:t>
            </a:r>
          </a:p>
        </p:txBody>
      </p:sp>
      <p:pic>
        <p:nvPicPr>
          <p:cNvPr id="5122" name="Picture 2" descr="Billedresultat for HCl kovalent bound&quot;">
            <a:extLst>
              <a:ext uri="{FF2B5EF4-FFF2-40B4-BE49-F238E27FC236}">
                <a16:creationId xmlns:a16="http://schemas.microsoft.com/office/drawing/2014/main" id="{DF41B1CF-35D5-46A4-BE5B-53BE40D07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42" t="50185" b="17963"/>
          <a:stretch/>
        </p:blipFill>
        <p:spPr bwMode="auto">
          <a:xfrm>
            <a:off x="7866064" y="1600200"/>
            <a:ext cx="3176588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illedresultat for HCl kovalent bound&quot;">
            <a:extLst>
              <a:ext uri="{FF2B5EF4-FFF2-40B4-BE49-F238E27FC236}">
                <a16:creationId xmlns:a16="http://schemas.microsoft.com/office/drawing/2014/main" id="{6EFF9E92-8FA6-4A0E-A1A3-4CBC538908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0" t="55925" r="52887" b="17964"/>
          <a:stretch/>
        </p:blipFill>
        <p:spPr bwMode="auto">
          <a:xfrm>
            <a:off x="1216026" y="1911350"/>
            <a:ext cx="3268662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ktangel 3">
            <a:extLst>
              <a:ext uri="{FF2B5EF4-FFF2-40B4-BE49-F238E27FC236}">
                <a16:creationId xmlns:a16="http://schemas.microsoft.com/office/drawing/2014/main" id="{0983C88C-FC03-47E3-964D-211A2C4C783C}"/>
              </a:ext>
            </a:extLst>
          </p:cNvPr>
          <p:cNvSpPr/>
          <p:nvPr/>
        </p:nvSpPr>
        <p:spPr>
          <a:xfrm>
            <a:off x="990600" y="4005262"/>
            <a:ext cx="11055350" cy="1070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H-Cl k</a:t>
            </a:r>
            <a:r>
              <a:rPr lang="da-DK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ovalent binding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hvor H og Cl er fælles om et elektronpar                       NaCl </a:t>
            </a:r>
            <a:r>
              <a:rPr lang="da-DK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ionbinding 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hvor Na har afgivet en       Hvilket kaldes en </a:t>
            </a:r>
            <a:r>
              <a:rPr lang="da-DK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elektronparbinding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				           elektron til Cl (Na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+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Cl</a:t>
            </a:r>
            <a:r>
              <a:rPr lang="da-DK" baseline="30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da-DK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2" descr="Billedresultat for HCl dipol&quot;">
            <a:extLst>
              <a:ext uri="{FF2B5EF4-FFF2-40B4-BE49-F238E27FC236}">
                <a16:creationId xmlns:a16="http://schemas.microsoft.com/office/drawing/2014/main" id="{1C781678-6AA9-489E-BC15-4D8220A8EB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158"/>
          <a:stretch/>
        </p:blipFill>
        <p:spPr bwMode="auto">
          <a:xfrm>
            <a:off x="990600" y="5399387"/>
            <a:ext cx="3600450" cy="757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ktangel 6">
            <a:extLst>
              <a:ext uri="{FF2B5EF4-FFF2-40B4-BE49-F238E27FC236}">
                <a16:creationId xmlns:a16="http://schemas.microsoft.com/office/drawing/2014/main" id="{AAA6B37D-9FC3-49EB-BF33-93A9FC573224}"/>
              </a:ext>
            </a:extLst>
          </p:cNvPr>
          <p:cNvSpPr/>
          <p:nvPr/>
        </p:nvSpPr>
        <p:spPr>
          <a:xfrm>
            <a:off x="4019550" y="5516460"/>
            <a:ext cx="6096000" cy="6719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da-DK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Der er en ladningsforskydning i molekylet hvilket markeres med delta</a:t>
            </a:r>
          </a:p>
        </p:txBody>
      </p:sp>
    </p:spTree>
    <p:extLst>
      <p:ext uri="{BB962C8B-B14F-4D97-AF65-F5344CB8AC3E}">
        <p14:creationId xmlns:p14="http://schemas.microsoft.com/office/powerpoint/2010/main" val="1995275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04755" cy="1325563"/>
          </a:xfrm>
        </p:spPr>
        <p:txBody>
          <a:bodyPr>
            <a:normAutofit/>
          </a:bodyPr>
          <a:lstStyle/>
          <a:p>
            <a:r>
              <a:rPr lang="da-DK" dirty="0"/>
              <a:t>Elektronegativitet og bindingstype – en vejledende tabel</a:t>
            </a:r>
          </a:p>
        </p:txBody>
      </p:sp>
      <p:pic>
        <p:nvPicPr>
          <p:cNvPr id="3" name="Billede 15" descr="http://www.haase.dk/materiale/Basiskemi_C_figurer/Basiskemi_C_Tabel_01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0840" y="1957649"/>
            <a:ext cx="9477009" cy="45352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42203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21226"/>
            <a:ext cx="10784174" cy="8298426"/>
          </a:xfrm>
        </p:spPr>
        <p:txBody>
          <a:bodyPr>
            <a:normAutofit/>
          </a:bodyPr>
          <a:lstStyle/>
          <a:p>
            <a:r>
              <a:rPr lang="da-DK" sz="3600" dirty="0"/>
              <a:t>Afgør om den kovalente binding mellem følgende atomer er polære eller upolær.</a:t>
            </a:r>
            <a:br>
              <a:rPr lang="da-DK" sz="3600" dirty="0"/>
            </a:br>
            <a:r>
              <a:rPr lang="el-GR" sz="3600" dirty="0"/>
              <a:t>δ </a:t>
            </a:r>
            <a:r>
              <a:rPr lang="da-DK" sz="3600" dirty="0"/>
              <a:t> (delta) angiver en ladningsforskydning i molekylet.</a:t>
            </a:r>
            <a:br>
              <a:rPr lang="da-DK" sz="3600" dirty="0"/>
            </a:br>
            <a:r>
              <a:rPr lang="da-DK" sz="3600" dirty="0"/>
              <a:t>Marker </a:t>
            </a:r>
            <a:r>
              <a:rPr lang="el-GR" sz="3600" dirty="0"/>
              <a:t>δ</a:t>
            </a:r>
            <a:r>
              <a:rPr lang="da-DK" sz="3600" dirty="0"/>
              <a:t>-  og </a:t>
            </a:r>
            <a:r>
              <a:rPr lang="el-GR" sz="3600" dirty="0"/>
              <a:t>δ</a:t>
            </a:r>
            <a:r>
              <a:rPr lang="da-DK" sz="3600" dirty="0"/>
              <a:t>+ i molekylet</a:t>
            </a:r>
            <a:br>
              <a:rPr lang="da-DK" sz="3600" dirty="0"/>
            </a:br>
            <a:br>
              <a:rPr lang="da-DK" sz="3600" dirty="0"/>
            </a:br>
            <a:r>
              <a:rPr lang="da-DK" sz="3600" dirty="0"/>
              <a:t>H-Cl</a:t>
            </a:r>
            <a:br>
              <a:rPr lang="da-DK" sz="3600" dirty="0"/>
            </a:br>
            <a:r>
              <a:rPr lang="da-DK" sz="3600" dirty="0"/>
              <a:t>H-C</a:t>
            </a:r>
            <a:br>
              <a:rPr lang="da-DK" sz="3600" dirty="0"/>
            </a:br>
            <a:r>
              <a:rPr lang="da-DK" sz="3600" dirty="0"/>
              <a:t>H-O</a:t>
            </a:r>
            <a:br>
              <a:rPr lang="da-DK" sz="3600" dirty="0"/>
            </a:br>
            <a:r>
              <a:rPr lang="da-DK" sz="3600" dirty="0"/>
              <a:t>Cl-Cl</a:t>
            </a:r>
            <a:br>
              <a:rPr lang="da-DK" sz="3600" dirty="0"/>
            </a:br>
            <a:r>
              <a:rPr lang="da-DK" sz="3600" dirty="0"/>
              <a:t>H-F</a:t>
            </a:r>
            <a:br>
              <a:rPr lang="da-DK" dirty="0"/>
            </a:br>
            <a:r>
              <a:rPr lang="da-DK" dirty="0"/>
              <a:t>		</a:t>
            </a:r>
          </a:p>
        </p:txBody>
      </p:sp>
      <p:pic>
        <p:nvPicPr>
          <p:cNvPr id="3" name="Billede 13" descr="83a.ashx (759×398)">
            <a:extLst>
              <a:ext uri="{FF2B5EF4-FFF2-40B4-BE49-F238E27FC236}">
                <a16:creationId xmlns:a16="http://schemas.microsoft.com/office/drawing/2014/main" id="{D3E72EEB-17BB-4B11-B39A-020D9CDD917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1299" y="3371460"/>
            <a:ext cx="4551493" cy="26871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Billede 15" descr="http://www.haase.dk/materiale/Basiskemi_C_figurer/Basiskemi_C_Tabel_011.jpg">
            <a:extLst>
              <a:ext uri="{FF2B5EF4-FFF2-40B4-BE49-F238E27FC236}">
                <a16:creationId xmlns:a16="http://schemas.microsoft.com/office/drawing/2014/main" id="{7A1D7CC7-21CC-4A49-A5BE-CB0D602C84A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840" y="4002349"/>
            <a:ext cx="4675160" cy="16745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3086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716" y="-162232"/>
            <a:ext cx="11882284" cy="7595420"/>
          </a:xfrm>
        </p:spPr>
        <p:txBody>
          <a:bodyPr>
            <a:normAutofit/>
          </a:bodyPr>
          <a:lstStyle/>
          <a:p>
            <a:r>
              <a:rPr lang="da-DK" dirty="0"/>
              <a:t>Afgør om den kovalente binding mellem følgende atomer erpolære eller upolær og marker </a:t>
            </a:r>
            <a:r>
              <a:rPr lang="el-GR" dirty="0"/>
              <a:t>δ</a:t>
            </a:r>
            <a:r>
              <a:rPr lang="da-DK" dirty="0"/>
              <a:t>-  og </a:t>
            </a:r>
            <a:r>
              <a:rPr lang="el-GR" dirty="0"/>
              <a:t>δ</a:t>
            </a:r>
            <a:r>
              <a:rPr lang="da-DK" dirty="0"/>
              <a:t>+</a:t>
            </a:r>
            <a:br>
              <a:rPr lang="da-DK" dirty="0"/>
            </a:br>
            <a:r>
              <a:rPr lang="da-DK" sz="1600" dirty="0"/>
              <a:t>EN</a:t>
            </a:r>
            <a:br>
              <a:rPr lang="da-DK" sz="1600" dirty="0"/>
            </a:br>
            <a:r>
              <a:rPr lang="da-DK" sz="1600" dirty="0"/>
              <a:t>2,2        3,2	    </a:t>
            </a:r>
            <a:r>
              <a:rPr lang="el-GR" sz="1600" dirty="0"/>
              <a:t>Δ</a:t>
            </a:r>
            <a:r>
              <a:rPr lang="da-DK" sz="1600" dirty="0"/>
              <a:t>EN = 1,0</a:t>
            </a:r>
            <a:br>
              <a:rPr lang="da-DK" dirty="0"/>
            </a:br>
            <a:br>
              <a:rPr lang="da-DK" sz="1600" dirty="0"/>
            </a:br>
            <a:r>
              <a:rPr lang="da-DK" sz="1600" dirty="0"/>
              <a:t> </a:t>
            </a:r>
            <a:r>
              <a:rPr lang="el-GR" sz="1600" dirty="0"/>
              <a:t>δ</a:t>
            </a:r>
            <a:r>
              <a:rPr lang="da-DK" sz="1600" dirty="0"/>
              <a:t>+             </a:t>
            </a:r>
            <a:r>
              <a:rPr lang="el-GR" sz="1600" dirty="0"/>
              <a:t>δ</a:t>
            </a:r>
            <a:r>
              <a:rPr lang="da-DK" sz="1600" dirty="0"/>
              <a:t>-    </a:t>
            </a:r>
            <a:r>
              <a:rPr lang="da-DK" sz="1600" dirty="0">
                <a:highlight>
                  <a:srgbClr val="FFFF00"/>
                </a:highlight>
              </a:rPr>
              <a:t>Polær binding</a:t>
            </a:r>
            <a:br>
              <a:rPr lang="da-DK" dirty="0"/>
            </a:br>
            <a:r>
              <a:rPr lang="da-DK" dirty="0"/>
              <a:t>H-Cl	</a:t>
            </a:r>
            <a:r>
              <a:rPr lang="da-DK" sz="1600" dirty="0">
                <a:solidFill>
                  <a:srgbClr val="FF0000"/>
                </a:solidFill>
              </a:rPr>
              <a:t>EN</a:t>
            </a:r>
            <a:br>
              <a:rPr lang="da-DK" sz="1600" dirty="0">
                <a:solidFill>
                  <a:srgbClr val="FF0000"/>
                </a:solidFill>
              </a:rPr>
            </a:br>
            <a:r>
              <a:rPr lang="da-DK" sz="1600" dirty="0">
                <a:solidFill>
                  <a:srgbClr val="FF0000"/>
                </a:solidFill>
              </a:rPr>
              <a:t>		2,2      2,5          </a:t>
            </a:r>
            <a:r>
              <a:rPr lang="el-GR" sz="1600" dirty="0">
                <a:solidFill>
                  <a:srgbClr val="FF0000"/>
                </a:solidFill>
              </a:rPr>
              <a:t>Δ</a:t>
            </a:r>
            <a:r>
              <a:rPr lang="da-DK" sz="1600" dirty="0">
                <a:solidFill>
                  <a:srgbClr val="FF0000"/>
                </a:solidFill>
              </a:rPr>
              <a:t>EN = 0,3</a:t>
            </a:r>
            <a:br>
              <a:rPr lang="da-DK" dirty="0">
                <a:solidFill>
                  <a:srgbClr val="FF0000"/>
                </a:solidFill>
              </a:rPr>
            </a:br>
            <a:br>
              <a:rPr lang="da-DK" sz="1600" dirty="0">
                <a:solidFill>
                  <a:srgbClr val="FF0000"/>
                </a:solidFill>
              </a:rPr>
            </a:br>
            <a:r>
              <a:rPr lang="da-DK" sz="1600" dirty="0">
                <a:solidFill>
                  <a:srgbClr val="FF0000"/>
                </a:solidFill>
              </a:rPr>
              <a:t>              		</a:t>
            </a:r>
            <a:r>
              <a:rPr lang="el-GR" sz="1600" dirty="0">
                <a:solidFill>
                  <a:srgbClr val="FF0000"/>
                </a:solidFill>
              </a:rPr>
              <a:t>δ</a:t>
            </a:r>
            <a:r>
              <a:rPr lang="da-DK" sz="1600" dirty="0">
                <a:solidFill>
                  <a:srgbClr val="FF0000"/>
                </a:solidFill>
              </a:rPr>
              <a:t>+     </a:t>
            </a:r>
            <a:r>
              <a:rPr lang="el-GR" sz="1600" dirty="0">
                <a:solidFill>
                  <a:srgbClr val="FF0000"/>
                </a:solidFill>
              </a:rPr>
              <a:t>δ</a:t>
            </a:r>
            <a:r>
              <a:rPr lang="da-DK" sz="1600" dirty="0">
                <a:solidFill>
                  <a:srgbClr val="FF0000"/>
                </a:solidFill>
              </a:rPr>
              <a:t>-              </a:t>
            </a:r>
            <a:r>
              <a:rPr lang="da-DK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Upolær</a:t>
            </a:r>
            <a:r>
              <a:rPr lang="da-DK" sz="1600" dirty="0">
                <a:solidFill>
                  <a:srgbClr val="FF0000"/>
                </a:solidFill>
                <a:highlight>
                  <a:srgbClr val="FFFF00"/>
                </a:highlight>
              </a:rPr>
              <a:t> binding</a:t>
            </a:r>
            <a:br>
              <a:rPr lang="da-DK" dirty="0"/>
            </a:br>
            <a:r>
              <a:rPr lang="da-DK" dirty="0"/>
              <a:t>		H-C		</a:t>
            </a:r>
            <a:r>
              <a:rPr lang="da-DK" sz="1600" dirty="0"/>
              <a:t>EN</a:t>
            </a:r>
            <a:br>
              <a:rPr lang="da-DK" sz="1600" dirty="0"/>
            </a:br>
            <a:r>
              <a:rPr lang="da-DK" sz="1600" dirty="0"/>
              <a:t>				2,2      3,5          </a:t>
            </a:r>
            <a:r>
              <a:rPr lang="el-GR" sz="1600" dirty="0"/>
              <a:t>Δ</a:t>
            </a:r>
            <a:r>
              <a:rPr lang="da-DK" sz="1600" dirty="0"/>
              <a:t>EN = 1,2	</a:t>
            </a:r>
            <a:br>
              <a:rPr lang="da-DK" sz="1600" dirty="0"/>
            </a:br>
            <a:r>
              <a:rPr lang="da-DK" sz="1600" dirty="0"/>
              <a:t>              				</a:t>
            </a:r>
            <a:r>
              <a:rPr lang="el-GR" sz="1600" dirty="0"/>
              <a:t>δ</a:t>
            </a:r>
            <a:r>
              <a:rPr lang="da-DK" sz="1600" dirty="0"/>
              <a:t>+       </a:t>
            </a:r>
            <a:r>
              <a:rPr lang="el-GR" sz="1600" dirty="0"/>
              <a:t>δ</a:t>
            </a:r>
            <a:r>
              <a:rPr lang="da-DK" sz="1600" dirty="0">
                <a:highlight>
                  <a:srgbClr val="FFFF00"/>
                </a:highlight>
              </a:rPr>
              <a:t>-            Polær  binding</a:t>
            </a:r>
            <a:br>
              <a:rPr lang="da-DK" dirty="0"/>
            </a:br>
            <a:r>
              <a:rPr lang="da-DK" dirty="0"/>
              <a:t>				H-O       </a:t>
            </a:r>
            <a:r>
              <a:rPr lang="da-DK" sz="1400" dirty="0"/>
              <a:t>          </a:t>
            </a:r>
            <a:r>
              <a:rPr lang="el-GR" sz="1600" dirty="0">
                <a:solidFill>
                  <a:srgbClr val="FF0000"/>
                </a:solidFill>
              </a:rPr>
              <a:t>Δ</a:t>
            </a:r>
            <a:r>
              <a:rPr lang="da-DK" sz="1600" dirty="0">
                <a:solidFill>
                  <a:srgbClr val="FF0000"/>
                </a:solidFill>
              </a:rPr>
              <a:t>EN = 0   </a:t>
            </a:r>
            <a:r>
              <a:rPr lang="da-DK" sz="1600" dirty="0" err="1">
                <a:solidFill>
                  <a:srgbClr val="FF0000"/>
                </a:solidFill>
                <a:highlight>
                  <a:srgbClr val="FFFF00"/>
                </a:highlight>
              </a:rPr>
              <a:t>Upolær</a:t>
            </a:r>
            <a:r>
              <a:rPr lang="da-DK" sz="1600" dirty="0">
                <a:solidFill>
                  <a:srgbClr val="FF0000"/>
                </a:solidFill>
                <a:highlight>
                  <a:srgbClr val="FFFF00"/>
                </a:highlight>
              </a:rPr>
              <a:t> binding</a:t>
            </a:r>
            <a:br>
              <a:rPr lang="da-DK" dirty="0"/>
            </a:br>
            <a:r>
              <a:rPr lang="da-DK" dirty="0"/>
              <a:t>						Cl-Cl		</a:t>
            </a:r>
            <a:r>
              <a:rPr lang="da-DK" sz="1600" dirty="0"/>
              <a:t> EN</a:t>
            </a:r>
            <a:br>
              <a:rPr lang="da-DK" sz="1600" dirty="0"/>
            </a:br>
            <a:r>
              <a:rPr lang="da-DK" sz="1600" dirty="0"/>
              <a:t>									2,2      4,0          </a:t>
            </a:r>
            <a:r>
              <a:rPr lang="el-GR" sz="1600" dirty="0"/>
              <a:t>Δ</a:t>
            </a:r>
            <a:r>
              <a:rPr lang="da-DK" sz="1600" dirty="0"/>
              <a:t>EN = 1,8	</a:t>
            </a:r>
            <a:br>
              <a:rPr lang="da-DK" sz="1600" dirty="0"/>
            </a:br>
            <a:r>
              <a:rPr lang="da-DK" sz="1600" dirty="0"/>
              <a:t>              									</a:t>
            </a:r>
            <a:r>
              <a:rPr lang="el-GR" sz="1600" dirty="0"/>
              <a:t>δ</a:t>
            </a:r>
            <a:r>
              <a:rPr lang="da-DK" sz="1600" dirty="0"/>
              <a:t>+         </a:t>
            </a:r>
            <a:r>
              <a:rPr lang="el-GR" sz="1600" dirty="0"/>
              <a:t>δ</a:t>
            </a:r>
            <a:r>
              <a:rPr lang="da-DK" sz="1600" dirty="0"/>
              <a:t>-          </a:t>
            </a:r>
            <a:r>
              <a:rPr lang="da-DK" sz="1600" dirty="0">
                <a:highlight>
                  <a:srgbClr val="FFFF00"/>
                </a:highlight>
              </a:rPr>
              <a:t>Polær binding</a:t>
            </a:r>
            <a:br>
              <a:rPr lang="da-DK" dirty="0"/>
            </a:br>
            <a:r>
              <a:rPr lang="da-DK" dirty="0"/>
              <a:t>									H-F</a:t>
            </a:r>
            <a:br>
              <a:rPr lang="da-DK" dirty="0"/>
            </a:br>
            <a:r>
              <a:rPr lang="da-DK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942397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9323439" cy="1325563"/>
          </a:xfrm>
        </p:spPr>
        <p:txBody>
          <a:bodyPr>
            <a:normAutofit fontScale="90000"/>
          </a:bodyPr>
          <a:lstStyle/>
          <a:p>
            <a:r>
              <a:rPr lang="da-DK" dirty="0"/>
              <a:t>Atomers elektronegativitetsværdier i forhold til atomstørrelse</a:t>
            </a:r>
            <a:br>
              <a:rPr lang="da-DK" dirty="0"/>
            </a:br>
            <a:endParaRPr lang="da-DK" dirty="0"/>
          </a:p>
        </p:txBody>
      </p:sp>
      <p:pic>
        <p:nvPicPr>
          <p:cNvPr id="1028" name="Picture 4" descr="Billedresultat for electronegativty periodic table&quot;">
            <a:extLst>
              <a:ext uri="{FF2B5EF4-FFF2-40B4-BE49-F238E27FC236}">
                <a16:creationId xmlns:a16="http://schemas.microsoft.com/office/drawing/2014/main" id="{AF95BA36-8055-48BB-BCFC-9C8E628664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55" t="-1749" r="10695" b="1749"/>
          <a:stretch/>
        </p:blipFill>
        <p:spPr bwMode="auto">
          <a:xfrm>
            <a:off x="458971" y="1488958"/>
            <a:ext cx="5795919" cy="3125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lledresultat for periodic table atomic size">
            <a:extLst>
              <a:ext uri="{FF2B5EF4-FFF2-40B4-BE49-F238E27FC236}">
                <a16:creationId xmlns:a16="http://schemas.microsoft.com/office/drawing/2014/main" id="{941ED5A1-735C-47B5-9C74-E1FBC92B2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4118" y="1419212"/>
            <a:ext cx="4819647" cy="2768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81948596-DEC0-4259-979B-1A7911D8E0AC}"/>
              </a:ext>
            </a:extLst>
          </p:cNvPr>
          <p:cNvSpPr/>
          <p:nvPr/>
        </p:nvSpPr>
        <p:spPr>
          <a:xfrm>
            <a:off x="553267" y="4614745"/>
            <a:ext cx="1140324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a-DK" dirty="0"/>
              <a:t>Atomradius falder, når man bevæger sig vandret hen igennem en periode. </a:t>
            </a:r>
          </a:p>
          <a:p>
            <a:r>
              <a:rPr lang="da-DK" dirty="0"/>
              <a:t>Mens atomnummeret, og dermed også antallet af elektroner i valensskallen vokser, så aftager atomradius. </a:t>
            </a:r>
          </a:p>
          <a:p>
            <a:r>
              <a:rPr lang="da-DK" dirty="0"/>
              <a:t>Denne kontraintuitive variation skyldes, at en valenselektron ikke skærmer fuldstændigt for ladningen af en proton i kernen. </a:t>
            </a:r>
          </a:p>
          <a:p>
            <a:r>
              <a:rPr lang="da-DK" dirty="0"/>
              <a:t>Konsekvensen er, at hele elektronskyen påvirkes af en stigende effektiv kerneladning, når atomnummeret vokser. </a:t>
            </a:r>
          </a:p>
          <a:p>
            <a:r>
              <a:rPr lang="da-DK" dirty="0"/>
              <a:t>Inden for en given periode får vi en effekt, der er af samme størrelsesorden som variationen inden for en gruppe (gående fra 2. til 6. periode). Eksempelvis har </a:t>
            </a:r>
            <a:r>
              <a:rPr lang="da-DK" dirty="0" err="1"/>
              <a:t>chloratomet</a:t>
            </a:r>
            <a:r>
              <a:rPr lang="da-DK" dirty="0"/>
              <a:t> en radius, der er ca. 2/3 så stor som natriumatomet. K</a:t>
            </a:r>
          </a:p>
        </p:txBody>
      </p:sp>
    </p:spTree>
    <p:extLst>
      <p:ext uri="{BB962C8B-B14F-4D97-AF65-F5344CB8AC3E}">
        <p14:creationId xmlns:p14="http://schemas.microsoft.com/office/powerpoint/2010/main" val="982107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743450" cy="6228858"/>
          </a:xfrm>
        </p:spPr>
        <p:txBody>
          <a:bodyPr>
            <a:normAutofit/>
          </a:bodyPr>
          <a:lstStyle/>
          <a:p>
            <a:r>
              <a:rPr lang="da-DK" sz="2400" dirty="0"/>
              <a:t>Se screencast </a:t>
            </a:r>
            <a:br>
              <a:rPr lang="da-DK" sz="2400" dirty="0"/>
            </a:br>
            <a:r>
              <a:rPr lang="da-DK" sz="2400" dirty="0">
                <a:hlinkClick r:id="rId2"/>
              </a:rPr>
              <a:t>https://www.youtube.com/watch?v=YUckHyIBX5o</a:t>
            </a:r>
            <a:br>
              <a:rPr lang="da-DK" sz="2400" dirty="0"/>
            </a:br>
            <a:r>
              <a:rPr lang="da-DK" sz="2400" dirty="0"/>
              <a:t>hvor elektronegativitet og bindingstyper gennemgås</a:t>
            </a:r>
            <a:br>
              <a:rPr lang="da-DK" dirty="0"/>
            </a:br>
            <a:endParaRPr lang="da-DK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641229"/>
            <a:ext cx="588264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76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689</TotalTime>
  <Words>493</Words>
  <Application>Microsoft Office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Office-tema</vt:lpstr>
      <vt:lpstr>Elektronegativitet </vt:lpstr>
      <vt:lpstr>Kovalent binding - elektronparbinding</vt:lpstr>
      <vt:lpstr>PowerPoint-præsentation</vt:lpstr>
      <vt:lpstr>Atomers elektronegativitetsværdier </vt:lpstr>
      <vt:lpstr>Kovalent binding</vt:lpstr>
      <vt:lpstr>Elektronegativitet og bindingstype – en vejledende tabel</vt:lpstr>
      <vt:lpstr>Afgør om den kovalente binding mellem følgende atomer er polære eller upolær. δ  (delta) angiver en ladningsforskydning i molekylet. Marker δ-  og δ+ i molekylet  H-Cl H-C H-O Cl-Cl H-F   </vt:lpstr>
      <vt:lpstr>Afgør om den kovalente binding mellem følgende atomer erpolære eller upolær og marker δ-  og δ+ EN 2,2        3,2     ΔEN = 1,0   δ+             δ-    Polær binding H-Cl EN   2,2      2,5          ΔEN = 0,3                  δ+     δ-              Upolær binding   H-C  EN     2,2      3,5          ΔEN = 1,2                    δ+       δ-            Polær  binding     H-O                 ΔEN = 0   Upolær binding       Cl-Cl   EN          2,2      4,0          ΔEN = 1,8                         δ+         δ-          Polær binding          H-F   </vt:lpstr>
      <vt:lpstr>Atomers elektronegativitetsværdier i forhold til atomstørrelse </vt:lpstr>
      <vt:lpstr>Se screencast  https://www.youtube.com/watch?v=YUckHyIBX5o hvor elektronegativitet og bindingstyper gennemgås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PowerPoint-præsentation</dc:title>
  <dc:creator>Charlotte Lena Boesen</dc:creator>
  <cp:lastModifiedBy>Charlotte Lena Boesen</cp:lastModifiedBy>
  <cp:revision>48</cp:revision>
  <dcterms:created xsi:type="dcterms:W3CDTF">2016-03-09T21:13:26Z</dcterms:created>
  <dcterms:modified xsi:type="dcterms:W3CDTF">2022-01-15T19:23:10Z</dcterms:modified>
</cp:coreProperties>
</file>