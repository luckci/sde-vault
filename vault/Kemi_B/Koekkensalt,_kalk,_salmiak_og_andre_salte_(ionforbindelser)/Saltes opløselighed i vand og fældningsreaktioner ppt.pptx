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7A0280-741D-4FAC-8C79-264CA78449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E15D4880-A779-41B5-A3F8-9EB08F4AE6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14FB7E00-02FA-4287-A4E6-D9A909921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CE6F1-37DA-47FC-8AD2-8D480ED11997}" type="datetimeFigureOut">
              <a:rPr lang="da-DK" smtClean="0"/>
              <a:t>10-12-2024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0A13C224-0EEC-4AD9-A373-FD0E134BE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6A66FA12-5694-477D-8C6D-66E4E6CED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8B462-A567-4E31-AD22-FFC375E46200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6333524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D13CDC-C864-4FD5-B177-7EA394D5C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E68DD57F-1942-4D86-8E28-4E5A7AA808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D59893C2-5EF4-42BD-A6B7-51ED9E08D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CE6F1-37DA-47FC-8AD2-8D480ED11997}" type="datetimeFigureOut">
              <a:rPr lang="da-DK" smtClean="0"/>
              <a:t>10-12-2024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DC55770E-6BD4-40A7-A4B8-C49E88617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9C38AEAC-B534-4E48-842F-EEDB75CFE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8B462-A567-4E31-AD22-FFC375E46200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2545740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9F9E65E-3256-4243-AF41-403AC1B01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698D521E-C665-4290-8890-CE9F7B0567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93055AC3-26C7-4B13-AA0F-AEF304434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CE6F1-37DA-47FC-8AD2-8D480ED11997}" type="datetimeFigureOut">
              <a:rPr lang="da-DK" smtClean="0"/>
              <a:t>10-12-2024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2074F49D-EAC6-47EF-AC93-770FE91E8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F58FBBFF-482D-4172-91F5-76C12B28A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8B462-A567-4E31-AD22-FFC375E46200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31167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ECB929-0144-4C11-BFAF-178804EFD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725D7C24-411E-4F6B-8430-CDE74B1291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0F436905-523E-4972-AC4F-1F770C57AF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112C2097-2D73-4CAA-895C-1D7C92F50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CE6F1-37DA-47FC-8AD2-8D480ED11997}" type="datetimeFigureOut">
              <a:rPr lang="da-DK" smtClean="0"/>
              <a:t>10-12-2024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0D2DF282-0C80-42C0-96F0-565A7B314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C082F123-9350-4E5F-A06F-CCE99C2E7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8B462-A567-4E31-AD22-FFC375E46200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720078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C36C7B-BAFC-49E1-8A6C-F456085D0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CA521585-CE99-479E-8704-26B54E7CE4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8E02F3E5-CCE0-4131-B0BA-B94C8FBD1F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75FEF192-6CD4-4626-8896-E0293D8C5E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14B67B12-00E2-4DAC-9AEE-BCE023E386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7" name="Pladsholder til dato 6">
            <a:extLst>
              <a:ext uri="{FF2B5EF4-FFF2-40B4-BE49-F238E27FC236}">
                <a16:creationId xmlns:a16="http://schemas.microsoft.com/office/drawing/2014/main" id="{C840DC5A-B9A2-4C21-BF7B-48E87DD12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CE6F1-37DA-47FC-8AD2-8D480ED11997}" type="datetimeFigureOut">
              <a:rPr lang="da-DK" smtClean="0"/>
              <a:t>10-12-2024</a:t>
            </a:fld>
            <a:endParaRPr lang="da-DK"/>
          </a:p>
        </p:txBody>
      </p:sp>
      <p:sp>
        <p:nvSpPr>
          <p:cNvPr id="8" name="Pladsholder til sidefod 7">
            <a:extLst>
              <a:ext uri="{FF2B5EF4-FFF2-40B4-BE49-F238E27FC236}">
                <a16:creationId xmlns:a16="http://schemas.microsoft.com/office/drawing/2014/main" id="{237F096A-42E7-4F54-84CA-3D709AA2F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Pladsholder til slidenummer 8">
            <a:extLst>
              <a:ext uri="{FF2B5EF4-FFF2-40B4-BE49-F238E27FC236}">
                <a16:creationId xmlns:a16="http://schemas.microsoft.com/office/drawing/2014/main" id="{A27BDF6C-A14F-40E0-ABF0-B8C1A60C5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8B462-A567-4E31-AD22-FFC375E46200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3545310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43FA6EC-278F-43E8-9E58-E22FE1C33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310DDB88-9021-4F27-A795-7068F3832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CE6F1-37DA-47FC-8AD2-8D480ED11997}" type="datetimeFigureOut">
              <a:rPr lang="da-DK" smtClean="0"/>
              <a:t>10-12-2024</a:t>
            </a:fld>
            <a:endParaRPr lang="da-DK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3DA25E54-C6FA-4D80-940E-5856E89BB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705470A2-31F5-49CE-AE8F-070DEC2D7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8B462-A567-4E31-AD22-FFC375E46200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5557980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>
            <a:extLst>
              <a:ext uri="{FF2B5EF4-FFF2-40B4-BE49-F238E27FC236}">
                <a16:creationId xmlns:a16="http://schemas.microsoft.com/office/drawing/2014/main" id="{3F05682D-4240-4F46-ABD6-459C34222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CE6F1-37DA-47FC-8AD2-8D480ED11997}" type="datetimeFigureOut">
              <a:rPr lang="da-DK" smtClean="0"/>
              <a:t>10-12-2024</a:t>
            </a:fld>
            <a:endParaRPr lang="da-DK"/>
          </a:p>
        </p:txBody>
      </p:sp>
      <p:sp>
        <p:nvSpPr>
          <p:cNvPr id="3" name="Pladsholder til sidefod 2">
            <a:extLst>
              <a:ext uri="{FF2B5EF4-FFF2-40B4-BE49-F238E27FC236}">
                <a16:creationId xmlns:a16="http://schemas.microsoft.com/office/drawing/2014/main" id="{F11F1DE8-5EC9-4601-B8F5-DD3578123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73CCC82E-7321-466A-A40C-E4BD34613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8B462-A567-4E31-AD22-FFC375E46200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033320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0EC249-AA09-4E6A-B035-9A169F052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2DDAEFF1-D540-4E94-ACBE-829C6261AD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74589246-1E79-474C-86E5-9982B19FEE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83C82569-7081-4A8F-80B4-1CCC7D2A3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CE6F1-37DA-47FC-8AD2-8D480ED11997}" type="datetimeFigureOut">
              <a:rPr lang="da-DK" smtClean="0"/>
              <a:t>10-12-2024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E6E6BCB2-8152-4271-A061-FADD7332E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8CAB3EEC-6230-417D-91EB-F3F6F7E8A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8B462-A567-4E31-AD22-FFC375E46200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554658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F4B0DCF-5896-4ECC-8AE9-1D750723B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billede 2">
            <a:extLst>
              <a:ext uri="{FF2B5EF4-FFF2-40B4-BE49-F238E27FC236}">
                <a16:creationId xmlns:a16="http://schemas.microsoft.com/office/drawing/2014/main" id="{0A4F41C0-8E81-467B-9F44-9279AF8623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C9297A9A-C444-46E6-AC16-D945DD8C09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B211D73F-CE02-4993-807E-F1893EE26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CE6F1-37DA-47FC-8AD2-8D480ED11997}" type="datetimeFigureOut">
              <a:rPr lang="da-DK" smtClean="0"/>
              <a:t>10-12-2024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44E15D60-0868-40F1-9ABC-C5C28D155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10E2E0E4-3F76-4E3A-B889-BA9543945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8B462-A567-4E31-AD22-FFC375E46200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189582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C287973-AABF-4B4C-AC87-A56FC597D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78D7D0AB-90EB-4AD6-ACA9-2C4EC98B5A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DE1188A9-045C-4EA4-9E39-674470B6E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CE6F1-37DA-47FC-8AD2-8D480ED11997}" type="datetimeFigureOut">
              <a:rPr lang="da-DK" smtClean="0"/>
              <a:t>10-12-2024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CC1B7AAD-9F82-4A17-B77C-2CA9F548B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E29B670A-DC1D-40A8-97E3-B3A7C297E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8B462-A567-4E31-AD22-FFC375E46200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483275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>
            <a:extLst>
              <a:ext uri="{FF2B5EF4-FFF2-40B4-BE49-F238E27FC236}">
                <a16:creationId xmlns:a16="http://schemas.microsoft.com/office/drawing/2014/main" id="{D9D3FFB1-A145-4D78-9688-5C220517E6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0E1423DD-6E49-447D-8A9D-FEA740E0C9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BB96EBCF-4524-4766-8B11-077956E85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CE6F1-37DA-47FC-8AD2-8D480ED11997}" type="datetimeFigureOut">
              <a:rPr lang="da-DK" smtClean="0"/>
              <a:t>10-12-2024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2CF8CC53-B0B1-4518-8656-2CEE5677B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08AEBD0B-CDA8-427C-9B55-582BA80B2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8B462-A567-4E31-AD22-FFC375E46200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7764135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>
            <a:extLst>
              <a:ext uri="{FF2B5EF4-FFF2-40B4-BE49-F238E27FC236}">
                <a16:creationId xmlns:a16="http://schemas.microsoft.com/office/drawing/2014/main" id="{A4F2AB27-7C49-41B5-8D2C-BE7F691FE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F8AB7B98-B9FE-4C9B-9D37-5654069AB3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2EA6D377-1CEA-4697-8F49-1760FCFC6A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ECE6F1-37DA-47FC-8AD2-8D480ED11997}" type="datetimeFigureOut">
              <a:rPr lang="da-DK" smtClean="0"/>
              <a:t>10-12-2024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344A22F1-11D0-4D67-A243-427C6007C4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5F46A1D7-FE5F-46BD-B3DF-E6D39A8BA4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A8B462-A567-4E31-AD22-FFC375E46200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51138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n1bRcQH8HJQ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8F6F82-D9A4-41EB-A995-41A7BCEBA1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Saltes opløselighed i vand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3A8FC5B0-5995-472D-81E3-BE269BC61B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a-DK" dirty="0"/>
              <a:t>Kemi B</a:t>
            </a:r>
          </a:p>
        </p:txBody>
      </p:sp>
    </p:spTree>
    <p:extLst>
      <p:ext uri="{BB962C8B-B14F-4D97-AF65-F5344CB8AC3E}">
        <p14:creationId xmlns:p14="http://schemas.microsoft.com/office/powerpoint/2010/main" val="33521340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1A1ED2-6608-4B39-9FE2-9A4F2AD77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Tilstandsformer</a:t>
            </a:r>
          </a:p>
        </p:txBody>
      </p:sp>
      <p:pic>
        <p:nvPicPr>
          <p:cNvPr id="4" name="Billede 3">
            <a:extLst>
              <a:ext uri="{FF2B5EF4-FFF2-40B4-BE49-F238E27FC236}">
                <a16:creationId xmlns:a16="http://schemas.microsoft.com/office/drawing/2014/main" id="{9CB30E78-657B-4807-92FA-82839CA7F2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363" y="1690688"/>
            <a:ext cx="6439899" cy="1626358"/>
          </a:xfrm>
          <a:prstGeom prst="rect">
            <a:avLst/>
          </a:prstGeom>
        </p:spPr>
      </p:pic>
      <p:sp>
        <p:nvSpPr>
          <p:cNvPr id="8" name="Tekstfelt 7">
            <a:extLst>
              <a:ext uri="{FF2B5EF4-FFF2-40B4-BE49-F238E27FC236}">
                <a16:creationId xmlns:a16="http://schemas.microsoft.com/office/drawing/2014/main" id="{DC75DDD3-F2F9-439E-BBAB-E9937D2413B8}"/>
              </a:ext>
            </a:extLst>
          </p:cNvPr>
          <p:cNvSpPr txBox="1"/>
          <p:nvPr/>
        </p:nvSpPr>
        <p:spPr>
          <a:xfrm>
            <a:off x="923363" y="584654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dirty="0"/>
              <a:t>Opløsning af salt i vand</a:t>
            </a:r>
          </a:p>
          <a:p>
            <a:r>
              <a:rPr lang="da-DK" dirty="0">
                <a:hlinkClick r:id="rId3"/>
              </a:rPr>
              <a:t>https://www.youtube.com/watch?v=n1bRcQH8HJQ</a:t>
            </a:r>
            <a:endParaRPr lang="da-DK" dirty="0"/>
          </a:p>
        </p:txBody>
      </p:sp>
      <p:pic>
        <p:nvPicPr>
          <p:cNvPr id="10" name="Billede 9">
            <a:extLst>
              <a:ext uri="{FF2B5EF4-FFF2-40B4-BE49-F238E27FC236}">
                <a16:creationId xmlns:a16="http://schemas.microsoft.com/office/drawing/2014/main" id="{93ED10D9-8BDE-42F9-B81D-8E88781876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22" y="3681144"/>
            <a:ext cx="3593095" cy="1922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0734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0A85026-5203-4DFB-B722-F1B71ACDC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Smeltepunkt, kogepunkt og opløselighed i vand for en række salte</a:t>
            </a:r>
          </a:p>
        </p:txBody>
      </p:sp>
      <p:pic>
        <p:nvPicPr>
          <p:cNvPr id="4" name="Billede 3">
            <a:extLst>
              <a:ext uri="{FF2B5EF4-FFF2-40B4-BE49-F238E27FC236}">
                <a16:creationId xmlns:a16="http://schemas.microsoft.com/office/drawing/2014/main" id="{079B65C7-E6B5-4E41-ABDB-DB1B6D8B2B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331" y="1968123"/>
            <a:ext cx="8306959" cy="2724530"/>
          </a:xfrm>
          <a:prstGeom prst="rect">
            <a:avLst/>
          </a:prstGeom>
        </p:spPr>
      </p:pic>
      <p:sp>
        <p:nvSpPr>
          <p:cNvPr id="6" name="Tekstfelt 5">
            <a:extLst>
              <a:ext uri="{FF2B5EF4-FFF2-40B4-BE49-F238E27FC236}">
                <a16:creationId xmlns:a16="http://schemas.microsoft.com/office/drawing/2014/main" id="{167433F2-5B81-4BC3-A3C3-DF422F16BF15}"/>
              </a:ext>
            </a:extLst>
          </p:cNvPr>
          <p:cNvSpPr txBox="1"/>
          <p:nvPr/>
        </p:nvSpPr>
        <p:spPr>
          <a:xfrm>
            <a:off x="1165411" y="5455507"/>
            <a:ext cx="2294965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NaCl(s) </a:t>
            </a:r>
            <a: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</a:t>
            </a:r>
            <a: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NaCl(</a:t>
            </a:r>
            <a:r>
              <a:rPr lang="da-DK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aq</a:t>
            </a:r>
            <a: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8" name="Tekstfelt 7">
            <a:extLst>
              <a:ext uri="{FF2B5EF4-FFF2-40B4-BE49-F238E27FC236}">
                <a16:creationId xmlns:a16="http://schemas.microsoft.com/office/drawing/2014/main" id="{0864B660-EA99-4658-B732-866422FE62B0}"/>
              </a:ext>
            </a:extLst>
          </p:cNvPr>
          <p:cNvSpPr txBox="1"/>
          <p:nvPr/>
        </p:nvSpPr>
        <p:spPr>
          <a:xfrm>
            <a:off x="1165411" y="5930636"/>
            <a:ext cx="6096000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NaCl(s)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Na</a:t>
            </a:r>
            <a:r>
              <a:rPr lang="en-US" sz="1800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+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aq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 +  Cl</a:t>
            </a:r>
            <a:r>
              <a:rPr lang="en-US" sz="1800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aq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da-DK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9" name="Billede 8">
            <a:extLst>
              <a:ext uri="{FF2B5EF4-FFF2-40B4-BE49-F238E27FC236}">
                <a16:creationId xmlns:a16="http://schemas.microsoft.com/office/drawing/2014/main" id="{F5A0CD6E-A1A0-4EAE-965E-5A96471491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6709" y="4870955"/>
            <a:ext cx="1804372" cy="1920208"/>
          </a:xfrm>
          <a:prstGeom prst="rect">
            <a:avLst/>
          </a:prstGeom>
        </p:spPr>
      </p:pic>
      <p:sp>
        <p:nvSpPr>
          <p:cNvPr id="11" name="Tekstfelt 10">
            <a:extLst>
              <a:ext uri="{FF2B5EF4-FFF2-40B4-BE49-F238E27FC236}">
                <a16:creationId xmlns:a16="http://schemas.microsoft.com/office/drawing/2014/main" id="{52BCDFCC-E06A-4246-8708-37831D50CFA9}"/>
              </a:ext>
            </a:extLst>
          </p:cNvPr>
          <p:cNvSpPr txBox="1"/>
          <p:nvPr/>
        </p:nvSpPr>
        <p:spPr>
          <a:xfrm>
            <a:off x="8077201" y="5443805"/>
            <a:ext cx="3344708" cy="7745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Hvad menes der med følgende: 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NaCl(</a:t>
            </a:r>
            <a:r>
              <a:rPr lang="da-DK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aq</a:t>
            </a:r>
            <a: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 </a:t>
            </a:r>
            <a: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</a:t>
            </a:r>
            <a: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NaCl(s)</a:t>
            </a:r>
          </a:p>
        </p:txBody>
      </p:sp>
    </p:spTree>
    <p:extLst>
      <p:ext uri="{BB962C8B-B14F-4D97-AF65-F5344CB8AC3E}">
        <p14:creationId xmlns:p14="http://schemas.microsoft.com/office/powerpoint/2010/main" val="6281410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F3F81FD-177F-4E18-8A7D-6DCDB8F35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Tungt og letopløselige salte</a:t>
            </a:r>
          </a:p>
        </p:txBody>
      </p:sp>
      <p:pic>
        <p:nvPicPr>
          <p:cNvPr id="4" name="Billede 3">
            <a:extLst>
              <a:ext uri="{FF2B5EF4-FFF2-40B4-BE49-F238E27FC236}">
                <a16:creationId xmlns:a16="http://schemas.microsoft.com/office/drawing/2014/main" id="{04F65CB4-A67D-41D3-B341-FE9AC11113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6110" y="1914844"/>
            <a:ext cx="5568772" cy="4093937"/>
          </a:xfrm>
          <a:prstGeom prst="rect">
            <a:avLst/>
          </a:prstGeom>
        </p:spPr>
      </p:pic>
      <p:sp>
        <p:nvSpPr>
          <p:cNvPr id="6" name="Tekstfelt 5">
            <a:extLst>
              <a:ext uri="{FF2B5EF4-FFF2-40B4-BE49-F238E27FC236}">
                <a16:creationId xmlns:a16="http://schemas.microsoft.com/office/drawing/2014/main" id="{0D24C3C8-7120-4415-B10B-72CD39C17A2A}"/>
              </a:ext>
            </a:extLst>
          </p:cNvPr>
          <p:cNvSpPr txBox="1"/>
          <p:nvPr/>
        </p:nvSpPr>
        <p:spPr>
          <a:xfrm>
            <a:off x="914400" y="2061766"/>
            <a:ext cx="2770094" cy="2256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Kan der opløses mere end 2 g salt pr.100 </a:t>
            </a:r>
            <a:r>
              <a:rPr lang="da-DK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mL</a:t>
            </a:r>
            <a: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vand kaldes saltet letopløseligt.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Kan der opløses mindre end 2 g salt pr. 100 </a:t>
            </a:r>
            <a:r>
              <a:rPr lang="da-DK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mL</a:t>
            </a:r>
            <a: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vand kaldes saltet tungtopløseligt</a:t>
            </a:r>
          </a:p>
        </p:txBody>
      </p:sp>
      <p:sp>
        <p:nvSpPr>
          <p:cNvPr id="8" name="Tekstfelt 7">
            <a:extLst>
              <a:ext uri="{FF2B5EF4-FFF2-40B4-BE49-F238E27FC236}">
                <a16:creationId xmlns:a16="http://schemas.microsoft.com/office/drawing/2014/main" id="{CDFCAB5A-D972-4685-9C04-A7E30183869F}"/>
              </a:ext>
            </a:extLst>
          </p:cNvPr>
          <p:cNvSpPr txBox="1"/>
          <p:nvPr/>
        </p:nvSpPr>
        <p:spPr>
          <a:xfrm>
            <a:off x="977153" y="4572457"/>
            <a:ext cx="3048000" cy="17661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Salte der indeholder en af følgende ioner er letopløselige: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NH</a:t>
            </a:r>
            <a:r>
              <a:rPr lang="da-DK" sz="18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</a:t>
            </a:r>
            <a:r>
              <a:rPr lang="da-DK" sz="1800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+</a:t>
            </a:r>
            <a: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Na</a:t>
            </a:r>
            <a:r>
              <a:rPr lang="da-DK" sz="1800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+</a:t>
            </a:r>
            <a: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K</a:t>
            </a:r>
            <a:r>
              <a:rPr lang="da-DK" sz="1800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+</a:t>
            </a:r>
            <a:endParaRPr lang="da-DK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</a:t>
            </a:r>
            <a:r>
              <a:rPr lang="da-DK" sz="18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da-DK" sz="1800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21862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00F59AE-5EB1-4660-9FAD-AF1FC3FAA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198781"/>
          </a:xfrm>
        </p:spPr>
        <p:txBody>
          <a:bodyPr>
            <a:normAutofit/>
          </a:bodyPr>
          <a:lstStyle/>
          <a:p>
            <a:r>
              <a:rPr lang="da-DK" dirty="0"/>
              <a:t>Find opgaverne </a:t>
            </a:r>
            <a:br>
              <a:rPr lang="da-DK" dirty="0"/>
            </a:br>
            <a:r>
              <a:rPr lang="da-DK" dirty="0"/>
              <a:t>´Opgaver Saltes opløselighed i vand og fældningsreaktioner´ i Learn og løs opgave 1</a:t>
            </a:r>
          </a:p>
        </p:txBody>
      </p:sp>
      <p:sp>
        <p:nvSpPr>
          <p:cNvPr id="4" name="Tekstfelt 3">
            <a:extLst>
              <a:ext uri="{FF2B5EF4-FFF2-40B4-BE49-F238E27FC236}">
                <a16:creationId xmlns:a16="http://schemas.microsoft.com/office/drawing/2014/main" id="{A177699A-FC17-430B-BAA4-3110E6D3B9FE}"/>
              </a:ext>
            </a:extLst>
          </p:cNvPr>
          <p:cNvSpPr txBox="1"/>
          <p:nvPr/>
        </p:nvSpPr>
        <p:spPr>
          <a:xfrm>
            <a:off x="1030941" y="2926861"/>
            <a:ext cx="6096000" cy="13672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a-DK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Opgave</a:t>
            </a:r>
            <a:endParaRPr lang="da-DK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Opskriv formler for tre salte der er letopløselige.</a:t>
            </a:r>
            <a:endParaRPr lang="da-DK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Opskriv formler for tre salte der er tungtopløselige.</a:t>
            </a:r>
            <a:endParaRPr lang="da-DK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Hvilke fire ioner danner altid letopløselige salte?</a:t>
            </a:r>
            <a:endParaRPr lang="da-DK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Billede 4">
            <a:extLst>
              <a:ext uri="{FF2B5EF4-FFF2-40B4-BE49-F238E27FC236}">
                <a16:creationId xmlns:a16="http://schemas.microsoft.com/office/drawing/2014/main" id="{1785B770-E639-4369-9093-8DAAC834DF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634" y="3017503"/>
            <a:ext cx="4394823" cy="3230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6532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230211-52A0-406B-B6A9-0D1E1AE82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Temperaturens betydning for saltes opløselighed i vand</a:t>
            </a:r>
          </a:p>
        </p:txBody>
      </p:sp>
      <p:pic>
        <p:nvPicPr>
          <p:cNvPr id="4" name="Billede 3">
            <a:extLst>
              <a:ext uri="{FF2B5EF4-FFF2-40B4-BE49-F238E27FC236}">
                <a16:creationId xmlns:a16="http://schemas.microsoft.com/office/drawing/2014/main" id="{0C38D0D8-B2EB-4853-97C8-D519C0A5E7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7058" y="1593003"/>
            <a:ext cx="5333225" cy="4745043"/>
          </a:xfrm>
          <a:prstGeom prst="rect">
            <a:avLst/>
          </a:prstGeom>
        </p:spPr>
      </p:pic>
      <p:sp>
        <p:nvSpPr>
          <p:cNvPr id="6" name="Tekstfelt 5">
            <a:extLst>
              <a:ext uri="{FF2B5EF4-FFF2-40B4-BE49-F238E27FC236}">
                <a16:creationId xmlns:a16="http://schemas.microsoft.com/office/drawing/2014/main" id="{2F2CF5FA-28DD-492C-9CEA-0F6BD0F8A049}"/>
              </a:ext>
            </a:extLst>
          </p:cNvPr>
          <p:cNvSpPr txBox="1"/>
          <p:nvPr/>
        </p:nvSpPr>
        <p:spPr>
          <a:xfrm>
            <a:off x="900953" y="2013060"/>
            <a:ext cx="4065494" cy="671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Hvor meget KNO</a:t>
            </a:r>
            <a:r>
              <a:rPr lang="da-DK" sz="18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kan opløses ved 20 </a:t>
            </a:r>
            <a:r>
              <a:rPr lang="da-DK" sz="1800" baseline="30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da-DK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og ved 60</a:t>
            </a:r>
            <a:r>
              <a:rPr lang="da-DK" sz="1800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C?</a:t>
            </a:r>
          </a:p>
        </p:txBody>
      </p:sp>
    </p:spTree>
    <p:extLst>
      <p:ext uri="{BB962C8B-B14F-4D97-AF65-F5344CB8AC3E}">
        <p14:creationId xmlns:p14="http://schemas.microsoft.com/office/powerpoint/2010/main" val="33608439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BD9532-EE03-4B8A-BAD0-BC331D416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Fældningsreaktioner</a:t>
            </a:r>
          </a:p>
        </p:txBody>
      </p:sp>
      <p:pic>
        <p:nvPicPr>
          <p:cNvPr id="4" name="Billede 3">
            <a:extLst>
              <a:ext uri="{FF2B5EF4-FFF2-40B4-BE49-F238E27FC236}">
                <a16:creationId xmlns:a16="http://schemas.microsoft.com/office/drawing/2014/main" id="{97309603-C761-4D6A-B167-9B66C6F48F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870" y="3856387"/>
            <a:ext cx="7565499" cy="2718302"/>
          </a:xfrm>
          <a:prstGeom prst="rect">
            <a:avLst/>
          </a:prstGeom>
        </p:spPr>
      </p:pic>
      <p:sp>
        <p:nvSpPr>
          <p:cNvPr id="10" name="Tekstfelt 9">
            <a:extLst>
              <a:ext uri="{FF2B5EF4-FFF2-40B4-BE49-F238E27FC236}">
                <a16:creationId xmlns:a16="http://schemas.microsoft.com/office/drawing/2014/main" id="{8021FF66-7781-46C9-8C8B-D5C78F617BB3}"/>
              </a:ext>
            </a:extLst>
          </p:cNvPr>
          <p:cNvSpPr txBox="1"/>
          <p:nvPr/>
        </p:nvSpPr>
        <p:spPr>
          <a:xfrm>
            <a:off x="977152" y="1551061"/>
            <a:ext cx="10246659" cy="1971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 opløsning af  NaCl (Na</a:t>
            </a:r>
            <a:r>
              <a:rPr lang="da-DK" sz="1800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+ </a:t>
            </a:r>
            <a: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og Cl</a:t>
            </a:r>
            <a:r>
              <a:rPr lang="da-DK" sz="1800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  <a: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hældes sammen med en opløsning af AgNO</a:t>
            </a:r>
            <a:r>
              <a:rPr lang="da-DK" sz="18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(Ag</a:t>
            </a:r>
            <a:r>
              <a:rPr lang="da-DK" sz="1800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+</a:t>
            </a:r>
            <a: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og NO</a:t>
            </a:r>
            <a:r>
              <a:rPr lang="da-DK" sz="18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da-DK" sz="1800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  <a: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a-DK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Reaktionsskema med stofformler:</a:t>
            </a:r>
            <a:endParaRPr lang="da-DK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NaCl(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aq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 +  AgNO</a:t>
            </a:r>
            <a:r>
              <a:rPr lang="en-US" sz="18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aq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NaNO</a:t>
            </a:r>
            <a:r>
              <a:rPr lang="en-US" sz="18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aq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 +  AgCl(s) </a:t>
            </a:r>
            <a:endParaRPr lang="da-DK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Ionreaktionsskema</a:t>
            </a: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da-DK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Ag</a:t>
            </a:r>
            <a:r>
              <a:rPr lang="da-DK" sz="1800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+</a:t>
            </a:r>
            <a: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da-DK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aq</a:t>
            </a:r>
            <a: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 +  Cl</a:t>
            </a:r>
            <a:r>
              <a:rPr lang="da-DK" sz="1800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  <a: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da-DK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aq</a:t>
            </a:r>
            <a: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 </a:t>
            </a:r>
            <a: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</a:t>
            </a:r>
            <a: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da-DK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AgCl</a:t>
            </a:r>
            <a: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(s)	(</a:t>
            </a:r>
            <a:r>
              <a:rPr lang="da-DK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tilskuerioner</a:t>
            </a:r>
            <a: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medtages ikke)</a:t>
            </a:r>
          </a:p>
        </p:txBody>
      </p:sp>
      <p:pic>
        <p:nvPicPr>
          <p:cNvPr id="12" name="Billede 11">
            <a:extLst>
              <a:ext uri="{FF2B5EF4-FFF2-40B4-BE49-F238E27FC236}">
                <a16:creationId xmlns:a16="http://schemas.microsoft.com/office/drawing/2014/main" id="{0CFAE3ED-160F-4A19-9719-015DF3941F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9412" y="2024640"/>
            <a:ext cx="5235388" cy="1339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9563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D1C2B25-CDE6-416D-894B-4E0BADADC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a-DK"/>
          </a:p>
        </p:txBody>
      </p:sp>
      <p:pic>
        <p:nvPicPr>
          <p:cNvPr id="4" name="Billede 3">
            <a:extLst>
              <a:ext uri="{FF2B5EF4-FFF2-40B4-BE49-F238E27FC236}">
                <a16:creationId xmlns:a16="http://schemas.microsoft.com/office/drawing/2014/main" id="{9FD923FC-816C-450B-B47F-18378E4F53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16" y="0"/>
            <a:ext cx="111989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8276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BD9532-EE03-4B8A-BAD0-BC331D416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Fældningsreaktioner</a:t>
            </a:r>
          </a:p>
        </p:txBody>
      </p:sp>
      <p:sp>
        <p:nvSpPr>
          <p:cNvPr id="10" name="Tekstfelt 9">
            <a:extLst>
              <a:ext uri="{FF2B5EF4-FFF2-40B4-BE49-F238E27FC236}">
                <a16:creationId xmlns:a16="http://schemas.microsoft.com/office/drawing/2014/main" id="{8021FF66-7781-46C9-8C8B-D5C78F617BB3}"/>
              </a:ext>
            </a:extLst>
          </p:cNvPr>
          <p:cNvSpPr txBox="1"/>
          <p:nvPr/>
        </p:nvSpPr>
        <p:spPr>
          <a:xfrm>
            <a:off x="977152" y="1551061"/>
            <a:ext cx="10246659" cy="3168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 opløsning af  Na</a:t>
            </a:r>
            <a:r>
              <a:rPr lang="da-DK" sz="18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 (Na</a:t>
            </a:r>
            <a:r>
              <a:rPr lang="da-DK" sz="1800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+ </a:t>
            </a:r>
            <a: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og </a:t>
            </a:r>
            <a:r>
              <a:rPr lang="da-DK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da-DK" baseline="30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da-DK" sz="1800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  <a: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hældes sammen med en opløsning af AgNO</a:t>
            </a:r>
            <a:r>
              <a:rPr lang="da-DK" sz="18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(Ag</a:t>
            </a:r>
            <a:r>
              <a:rPr lang="da-DK" sz="1800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+</a:t>
            </a:r>
            <a: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og NO</a:t>
            </a:r>
            <a:r>
              <a:rPr lang="da-DK" sz="18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da-DK" sz="1800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  <a: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da-DK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a-DK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Opskriv r</a:t>
            </a:r>
            <a:r>
              <a:rPr lang="da-DK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eaktionsskema med stofformler:</a:t>
            </a:r>
            <a:endParaRPr lang="da-DK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________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aq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 +  ________(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aq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_________(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aq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 +  _________(s) </a:t>
            </a:r>
            <a:endParaRPr lang="da-DK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Ionreaktionsskema</a:t>
            </a: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da-DK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a-DK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_______</a:t>
            </a:r>
            <a: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da-DK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aq</a:t>
            </a:r>
            <a: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 +  _______(</a:t>
            </a:r>
            <a:r>
              <a:rPr lang="da-DK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aq</a:t>
            </a:r>
            <a: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 </a:t>
            </a:r>
            <a: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 ________</a:t>
            </a:r>
            <a: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(s)	(</a:t>
            </a:r>
            <a:r>
              <a:rPr lang="da-DK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tilskuerioner</a:t>
            </a:r>
            <a: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medtages ikke)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da-DK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Tjek til slut om de to reaktionsskemaer er afstemte.</a:t>
            </a:r>
          </a:p>
        </p:txBody>
      </p:sp>
    </p:spTree>
    <p:extLst>
      <p:ext uri="{BB962C8B-B14F-4D97-AF65-F5344CB8AC3E}">
        <p14:creationId xmlns:p14="http://schemas.microsoft.com/office/powerpoint/2010/main" val="2049167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BD9532-EE03-4B8A-BAD0-BC331D416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Fældningsreaktioner</a:t>
            </a:r>
          </a:p>
        </p:txBody>
      </p:sp>
      <p:sp>
        <p:nvSpPr>
          <p:cNvPr id="10" name="Tekstfelt 9">
            <a:extLst>
              <a:ext uri="{FF2B5EF4-FFF2-40B4-BE49-F238E27FC236}">
                <a16:creationId xmlns:a16="http://schemas.microsoft.com/office/drawing/2014/main" id="{8021FF66-7781-46C9-8C8B-D5C78F617BB3}"/>
              </a:ext>
            </a:extLst>
          </p:cNvPr>
          <p:cNvSpPr txBox="1"/>
          <p:nvPr/>
        </p:nvSpPr>
        <p:spPr>
          <a:xfrm>
            <a:off x="977152" y="1551061"/>
            <a:ext cx="10246659" cy="3966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Opgave 25 side 48 i Basiskemi B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da-DK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 opløsning af  Na</a:t>
            </a:r>
            <a:r>
              <a:rPr lang="da-DK" sz="18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</a:t>
            </a:r>
            <a:r>
              <a:rPr lang="da-DK" sz="18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</a:t>
            </a:r>
            <a: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(Na</a:t>
            </a:r>
            <a:r>
              <a:rPr lang="da-DK" sz="1800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+ </a:t>
            </a:r>
            <a: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og </a:t>
            </a:r>
            <a:r>
              <a:rPr lang="da-DK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</a:t>
            </a:r>
            <a:r>
              <a:rPr lang="da-DK" baseline="-25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</a:t>
            </a:r>
            <a:r>
              <a:rPr lang="da-DK" baseline="30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da-DK" sz="1800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  <a: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hældes sammen med en opløsning af </a:t>
            </a:r>
            <a:r>
              <a:rPr lang="da-DK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BaCl</a:t>
            </a:r>
            <a:r>
              <a:rPr lang="da-DK" baseline="-25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da-DK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</a:t>
            </a:r>
            <a:r>
              <a:rPr lang="da-DK" baseline="30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da-DK" sz="1800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+</a:t>
            </a:r>
            <a: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og </a:t>
            </a:r>
            <a:r>
              <a:rPr lang="da-DK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</a:t>
            </a:r>
            <a:r>
              <a:rPr lang="da-DK" sz="1800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  <a: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da-DK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a-DK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Opskriv r</a:t>
            </a:r>
            <a:r>
              <a:rPr lang="da-DK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eaktionsskema med stofformler:</a:t>
            </a:r>
            <a:endParaRPr lang="da-DK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________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aq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 +  ________(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aq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_________(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aq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 +  _________(s) </a:t>
            </a:r>
            <a:endParaRPr lang="da-DK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Ionreaktionsskema</a:t>
            </a: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da-DK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a-DK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_______</a:t>
            </a:r>
            <a: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da-DK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aq</a:t>
            </a:r>
            <a: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 +  _______(</a:t>
            </a:r>
            <a:r>
              <a:rPr lang="da-DK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aq</a:t>
            </a:r>
            <a: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 </a:t>
            </a:r>
            <a: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 ________</a:t>
            </a:r>
            <a: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(s)	(</a:t>
            </a:r>
            <a:r>
              <a:rPr lang="da-DK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tilskuerioner</a:t>
            </a:r>
            <a: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medtages ikke)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da-DK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Tjek til slut om de to reaktionsskemaer er afstemte.</a:t>
            </a:r>
          </a:p>
        </p:txBody>
      </p:sp>
    </p:spTree>
    <p:extLst>
      <p:ext uri="{BB962C8B-B14F-4D97-AF65-F5344CB8AC3E}">
        <p14:creationId xmlns:p14="http://schemas.microsoft.com/office/powerpoint/2010/main" val="9217409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9B84EC6-CD56-4562-B118-D31917C36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588" y="1001619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da-DK" dirty="0"/>
              <a:t>Fortsæt med opgaverne ´Opgaver Saltes opløselighed i vand og fældningsreaktioner´ opgave 2-4</a:t>
            </a:r>
          </a:p>
        </p:txBody>
      </p:sp>
    </p:spTree>
    <p:extLst>
      <p:ext uri="{BB962C8B-B14F-4D97-AF65-F5344CB8AC3E}">
        <p14:creationId xmlns:p14="http://schemas.microsoft.com/office/powerpoint/2010/main" val="34947987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429</Words>
  <Application>Microsoft Office PowerPoint</Application>
  <PresentationFormat>Widescreen</PresentationFormat>
  <Paragraphs>50</Paragraphs>
  <Slides>11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3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Office-tema</vt:lpstr>
      <vt:lpstr>Saltes opløselighed i vand</vt:lpstr>
      <vt:lpstr>Tilstandsformer</vt:lpstr>
      <vt:lpstr>Smeltepunkt, kogepunkt og opløselighed i vand for en række salte</vt:lpstr>
      <vt:lpstr>Tungt og letopløselige salte</vt:lpstr>
      <vt:lpstr>Find opgaverne  ´Opgaver Saltes opløselighed i vand og fældningsreaktioner´ i Learn og løs opgave 1</vt:lpstr>
      <vt:lpstr>Temperaturens betydning for saltes opløselighed i vand</vt:lpstr>
      <vt:lpstr>Fældningsreaktioner</vt:lpstr>
      <vt:lpstr>PowerPoint-præsentation</vt:lpstr>
      <vt:lpstr>Fældningsreaktioner</vt:lpstr>
      <vt:lpstr>Fældningsreaktioner</vt:lpstr>
      <vt:lpstr>Fortsæt med opgaverne ´Opgaver Saltes opløselighed i vand og fældningsreaktioner´ opgave 2-4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Saltes opløselighed i vand</dc:title>
  <dc:creator>Charlotte Lena Boesen</dc:creator>
  <cp:lastModifiedBy>Charlotte Lena Boesen</cp:lastModifiedBy>
  <cp:revision>7</cp:revision>
  <dcterms:created xsi:type="dcterms:W3CDTF">2024-12-10T09:18:01Z</dcterms:created>
  <dcterms:modified xsi:type="dcterms:W3CDTF">2024-12-10T10:12:34Z</dcterms:modified>
</cp:coreProperties>
</file>