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59" r:id="rId5"/>
    <p:sldId id="258" r:id="rId6"/>
    <p:sldId id="260" r:id="rId7"/>
    <p:sldId id="266" r:id="rId8"/>
    <p:sldId id="267" r:id="rId9"/>
    <p:sldId id="261" r:id="rId10"/>
    <p:sldId id="262" r:id="rId11"/>
    <p:sldId id="263" r:id="rId12"/>
    <p:sldId id="264" r:id="rId13"/>
    <p:sldId id="274" r:id="rId14"/>
    <p:sldId id="268" r:id="rId15"/>
    <p:sldId id="269" r:id="rId16"/>
    <p:sldId id="270" r:id="rId17"/>
    <p:sldId id="271" r:id="rId18"/>
    <p:sldId id="273" r:id="rId19"/>
    <p:sldId id="272" r:id="rId20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9" autoAdjust="0"/>
    <p:restoredTop sz="94660"/>
  </p:normalViewPr>
  <p:slideViewPr>
    <p:cSldViewPr snapToGrid="0">
      <p:cViewPr varScale="1">
        <p:scale>
          <a:sx n="85" d="100"/>
          <a:sy n="85" d="100"/>
        </p:scale>
        <p:origin x="51" y="2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607BC9-B92C-46F2-9B97-370F3A33C2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1A57FADF-BC7D-4A0C-80C3-2A79AC432A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ED06BCD-35F3-473F-85E6-F8382D4DF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88594-D019-4447-B867-2AF331682D86}" type="datetimeFigureOut">
              <a:rPr lang="da-DK" smtClean="0"/>
              <a:t>24-11-2021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1BBDA1-5ECF-40BD-8D3A-BA2C6CB7E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334ABB25-D76A-4B2D-8704-D1E17D3C0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8F6B-FBC8-4314-88D0-51E11226FC2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59232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481050-CD4E-47D4-90E3-4CBB39ADB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31601A6-1988-4E9D-B6F5-E2916448C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EFD6FAA-DA9D-4E22-BB24-70A63C101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88594-D019-4447-B867-2AF331682D86}" type="datetimeFigureOut">
              <a:rPr lang="da-DK" smtClean="0"/>
              <a:t>24-11-2021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65687D3F-D1FA-4114-BFFB-073AC48B3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37A9D0A-A9F0-4E10-989C-6CB3DF30A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8F6B-FBC8-4314-88D0-51E11226FC2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58946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BB28FB-E513-4407-B467-2F6C6536E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6DA22481-2AA4-47C6-B01C-6918810EC2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F9D51B16-6C5F-4008-B3A3-0E6B433AC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88594-D019-4447-B867-2AF331682D86}" type="datetimeFigureOut">
              <a:rPr lang="da-DK" smtClean="0"/>
              <a:t>24-11-2021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DA5417EA-7F22-4094-AA01-06EAE6D54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E9AF663-0447-4D48-A6CB-2B5BEBDE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8F6B-FBC8-4314-88D0-51E11226FC2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32649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7F0E22-5E9B-4C18-B527-8EE4B72E2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E497455-232C-4E09-AAF7-5AC7DBF459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64C5DED6-E2FF-4005-AC03-7DA63C9CEC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00A68A22-38EE-4617-84B0-FDA472DC5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88594-D019-4447-B867-2AF331682D86}" type="datetimeFigureOut">
              <a:rPr lang="da-DK" smtClean="0"/>
              <a:t>24-11-2021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24FDC111-8500-4557-BC7C-06C2CFFF1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27529D07-C367-4C47-B22C-F5F6583E4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8F6B-FBC8-4314-88D0-51E11226FC2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31809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25708F-039C-4EAE-9847-4F0E1FF28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7B586632-061E-4D68-908D-F52474256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3A818586-68AA-4167-A8DB-8FE9BF8FC9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C596D526-DD1E-481D-B8CF-1E53D9BB27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56DC3285-B5AF-4948-8ECA-D9D37BC105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D4147294-0C58-448A-8700-CD9B89361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88594-D019-4447-B867-2AF331682D86}" type="datetimeFigureOut">
              <a:rPr lang="da-DK" smtClean="0"/>
              <a:t>24-11-2021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E8D79A58-F21B-45F4-AAD1-472A994F0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CFFBB8B8-A1D6-4240-A3C7-A19806900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8F6B-FBC8-4314-88D0-51E11226FC2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3978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8C1E9C-769F-4133-8878-EAB3BA6EE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44A29F35-E0E1-42AC-8EFD-DF57390BF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88594-D019-4447-B867-2AF331682D86}" type="datetimeFigureOut">
              <a:rPr lang="da-DK" smtClean="0"/>
              <a:t>24-11-2021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5416C604-4C6C-48D8-B4AB-11E7D0634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5A27591D-ECF3-4864-AE6D-8656330A6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8F6B-FBC8-4314-88D0-51E11226FC2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98704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C12E14AA-3A93-4FD1-93CC-B186E7D51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88594-D019-4447-B867-2AF331682D86}" type="datetimeFigureOut">
              <a:rPr lang="da-DK" smtClean="0"/>
              <a:t>24-11-2021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2879061C-8C06-4689-91A7-5EE3334E8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C62DB790-BEF6-4183-ACC1-C316E3823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8F6B-FBC8-4314-88D0-51E11226FC2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86233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FEBFB2-6492-4208-847D-2FA6C0278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A23628A-A527-4383-BA27-A5DD9031C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B3CC2D6E-2C71-46B3-811D-FE889FECA2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61C6B970-BC59-4DD3-A098-12E5B41E7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88594-D019-4447-B867-2AF331682D86}" type="datetimeFigureOut">
              <a:rPr lang="da-DK" smtClean="0"/>
              <a:t>24-11-2021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19F215BA-47F8-4D26-8724-A434F8E90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CD2B17F3-6D32-44B9-933F-1777AE9E8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8F6B-FBC8-4314-88D0-51E11226FC2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13293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B2293C-30DE-4768-B6FA-014CDB8A7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EA6E04C8-6FF7-466A-A788-A81DBB817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90DE2CEE-9DC7-4E40-8FE4-54DF648098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6CF70535-9E7F-48E1-92F9-EB5F135DC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88594-D019-4447-B867-2AF331682D86}" type="datetimeFigureOut">
              <a:rPr lang="da-DK" smtClean="0"/>
              <a:t>24-11-2021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0FFB7498-F169-44C5-B518-7279F68B3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E70F449A-1127-4686-AC40-3481B0CD7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8F6B-FBC8-4314-88D0-51E11226FC2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6099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0784A7-9645-4E64-AB0D-BDBBE25DE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842BDEF1-82DF-468D-83AE-60BCD8FEF9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755BA3D-5AEB-4329-86A5-C9BAFAE22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88594-D019-4447-B867-2AF331682D86}" type="datetimeFigureOut">
              <a:rPr lang="da-DK" smtClean="0"/>
              <a:t>24-11-2021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60A6FE1-646C-42CD-9F51-659EDB683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CA39375-0690-4C79-89A5-593B0C5AC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8F6B-FBC8-4314-88D0-51E11226FC2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11422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9B7CBDA5-5EF0-4A84-B9A4-6F69764CDA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80504D47-3B76-4DC3-AB14-5DAB480E0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F7EDCFEC-5C7E-403B-B0DD-99C70F3DC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88594-D019-4447-B867-2AF331682D86}" type="datetimeFigureOut">
              <a:rPr lang="da-DK" smtClean="0"/>
              <a:t>24-11-2021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5D922CEC-E556-48E1-814A-338EB1F01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A95E251-D927-4580-91D1-144E43DD0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8F6B-FBC8-4314-88D0-51E11226FC2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61390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023A6DFB-1EBB-43F1-80A8-B306B900C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6743035D-BE0F-44C8-9052-1875B741C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F0087F0-EFED-4A3A-8D58-0CC0E4BA2B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F88594-D019-4447-B867-2AF331682D86}" type="datetimeFigureOut">
              <a:rPr lang="da-DK" smtClean="0"/>
              <a:t>24-11-2021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7C9BACF9-DA81-45F6-A02C-60BE0880DF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699C1388-E218-417F-B9E3-FE03639CE1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0A8F6B-FBC8-4314-88D0-51E11226FC2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24174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8E893C-4FF7-475D-8674-E7E3D9CC2E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Sammensatte ioner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6CECA37B-FE27-4C81-971A-5D3B1D57FD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Kemi</a:t>
            </a:r>
          </a:p>
        </p:txBody>
      </p:sp>
    </p:spTree>
    <p:extLst>
      <p:ext uri="{BB962C8B-B14F-4D97-AF65-F5344CB8AC3E}">
        <p14:creationId xmlns:p14="http://schemas.microsoft.com/office/powerpoint/2010/main" val="2136436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D49C9E-079C-4527-A9C9-DEA60F08B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6234192" cy="5565223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6600" b="1" dirty="0"/>
              <a:t>Sulf</a:t>
            </a:r>
            <a:r>
              <a:rPr lang="da-DK" sz="6600" b="1" u="sng" dirty="0"/>
              <a:t>at</a:t>
            </a:r>
            <a:r>
              <a:rPr lang="da-DK" sz="6600" b="1" dirty="0"/>
              <a:t>-ion</a:t>
            </a:r>
            <a:br>
              <a:rPr lang="da-DK" sz="3600" b="1" dirty="0"/>
            </a:br>
            <a:br>
              <a:rPr lang="da-DK" sz="3600" b="1" dirty="0"/>
            </a:br>
            <a:r>
              <a:rPr lang="da-DK" sz="3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Sulphur</a:t>
            </a:r>
            <a: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svovl (latin)</a:t>
            </a:r>
            <a:b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Endelsen  - </a:t>
            </a:r>
            <a:r>
              <a:rPr lang="da-DK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</a:t>
            </a:r>
            <a: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fortæller at svovl er bundet til oxygen</a:t>
            </a:r>
            <a:b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da-DK" dirty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635EE4B9-12A5-4360-96A6-D7BC69AD9EB9}"/>
              </a:ext>
            </a:extLst>
          </p:cNvPr>
          <p:cNvSpPr txBox="1"/>
          <p:nvPr/>
        </p:nvSpPr>
        <p:spPr>
          <a:xfrm>
            <a:off x="8307091" y="2002650"/>
            <a:ext cx="2464231" cy="11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6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</a:t>
            </a:r>
            <a:r>
              <a:rPr lang="da-DK" sz="66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da-DK" sz="66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2-</a:t>
            </a:r>
            <a:endParaRPr lang="da-DK" sz="6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822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D49C9E-079C-4527-A9C9-DEA60F08B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878237"/>
            <a:ext cx="6234192" cy="5052111"/>
          </a:xfrm>
        </p:spPr>
        <p:txBody>
          <a:bodyPr>
            <a:normAutofit fontScale="9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6600" b="1" dirty="0" err="1"/>
              <a:t>Carbonat</a:t>
            </a:r>
            <a:r>
              <a:rPr lang="da-DK" sz="6600" b="1" dirty="0"/>
              <a:t>-ion</a:t>
            </a:r>
            <a:br>
              <a:rPr lang="da-DK" sz="6600" b="1" dirty="0"/>
            </a:br>
            <a:br>
              <a:rPr lang="da-DK" sz="3600" b="1" dirty="0"/>
            </a:br>
            <a:b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Endelsen  - </a:t>
            </a:r>
            <a:r>
              <a:rPr lang="da-DK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</a:t>
            </a:r>
            <a: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fortæller at </a:t>
            </a:r>
            <a:r>
              <a:rPr lang="da-DK" sz="36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carbon</a:t>
            </a:r>
            <a: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er bundet til et bestemt antal oxygenatomer (3 </a:t>
            </a:r>
            <a:r>
              <a:rPr lang="da-DK" sz="3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stk</a:t>
            </a:r>
            <a: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b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da-DK" dirty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635EE4B9-12A5-4360-96A6-D7BC69AD9EB9}"/>
              </a:ext>
            </a:extLst>
          </p:cNvPr>
          <p:cNvSpPr txBox="1"/>
          <p:nvPr/>
        </p:nvSpPr>
        <p:spPr>
          <a:xfrm>
            <a:off x="8307091" y="2002650"/>
            <a:ext cx="2464231" cy="11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6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da-DK" sz="6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da-DK" sz="6600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da-DK" sz="6600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da-DK" sz="66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endParaRPr lang="da-DK" sz="6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2372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D49C9E-079C-4527-A9C9-DEA60F08B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6234192" cy="5565223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6600" b="1" dirty="0"/>
              <a:t>Nitrat-ion</a:t>
            </a:r>
            <a:br>
              <a:rPr lang="da-DK" sz="6600" b="1" dirty="0"/>
            </a:br>
            <a:br>
              <a:rPr lang="da-DK" sz="3600" b="1" dirty="0"/>
            </a:br>
            <a:br>
              <a:rPr lang="da-DK" sz="3600" b="1" dirty="0"/>
            </a:br>
            <a:b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Endelsen  - </a:t>
            </a:r>
            <a:r>
              <a:rPr lang="da-DK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</a:t>
            </a:r>
            <a: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fortæller at nitrogen er bundet til oxygen</a:t>
            </a:r>
            <a:b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da-DK" dirty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635EE4B9-12A5-4360-96A6-D7BC69AD9EB9}"/>
              </a:ext>
            </a:extLst>
          </p:cNvPr>
          <p:cNvSpPr txBox="1"/>
          <p:nvPr/>
        </p:nvSpPr>
        <p:spPr>
          <a:xfrm>
            <a:off x="8307091" y="2002650"/>
            <a:ext cx="2464231" cy="11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6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da-DK" sz="6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da-DK" sz="6600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da-DK" sz="66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endParaRPr lang="da-DK" sz="6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905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D49C9E-079C-4527-A9C9-DEA60F08B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6234192" cy="5565223"/>
          </a:xfrm>
        </p:spPr>
        <p:txBody>
          <a:bodyPr>
            <a:normAutofit fontScale="9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6600" b="1" dirty="0" err="1"/>
              <a:t>Phosphat</a:t>
            </a:r>
            <a:r>
              <a:rPr lang="da-DK" sz="6600" b="1" dirty="0"/>
              <a:t>-ion</a:t>
            </a:r>
            <a:br>
              <a:rPr lang="da-DK" sz="6600" b="1" dirty="0"/>
            </a:br>
            <a:r>
              <a:rPr lang="da-DK" sz="6600" b="1" dirty="0"/>
              <a:t>(fosfat-ion)</a:t>
            </a:r>
            <a:br>
              <a:rPr lang="da-DK" sz="3600" b="1" dirty="0"/>
            </a:br>
            <a:br>
              <a:rPr lang="da-DK" sz="3600" b="1" dirty="0"/>
            </a:br>
            <a:b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Endelsen  - </a:t>
            </a:r>
            <a:r>
              <a:rPr lang="da-DK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</a:t>
            </a:r>
            <a: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fortæller at </a:t>
            </a:r>
            <a:r>
              <a:rPr lang="da-DK" sz="36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phosphor</a:t>
            </a:r>
            <a: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er bundet til oxygen</a:t>
            </a:r>
            <a:b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da-DK" dirty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635EE4B9-12A5-4360-96A6-D7BC69AD9EB9}"/>
              </a:ext>
            </a:extLst>
          </p:cNvPr>
          <p:cNvSpPr txBox="1"/>
          <p:nvPr/>
        </p:nvSpPr>
        <p:spPr>
          <a:xfrm>
            <a:off x="8307091" y="2002650"/>
            <a:ext cx="2464231" cy="11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6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da-DK" sz="6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da-DK" sz="66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da-DK" sz="6600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da-DK" sz="66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endParaRPr lang="da-DK" sz="6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33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D49C9E-079C-4527-A9C9-DEA60F08B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6234192" cy="7766319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6600" b="1" dirty="0"/>
              <a:t>Hydroxid-ion</a:t>
            </a:r>
            <a:br>
              <a:rPr lang="da-DK" sz="6600" b="1" dirty="0"/>
            </a:br>
            <a:br>
              <a:rPr lang="da-DK" sz="6600" b="1" dirty="0"/>
            </a:br>
            <a:r>
              <a:rPr lang="da-DK" b="1" dirty="0"/>
              <a:t>Natriumhydroxid kender du måske fra folkeskolen. Det er en vigtig og kendt base</a:t>
            </a:r>
            <a:br>
              <a:rPr lang="da-DK" sz="6600" b="1" dirty="0"/>
            </a:br>
            <a:br>
              <a:rPr lang="da-DK" sz="3600" b="1" dirty="0"/>
            </a:br>
            <a:br>
              <a:rPr lang="da-DK" sz="3600" b="1" dirty="0"/>
            </a:br>
            <a:b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da-DK" dirty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635EE4B9-12A5-4360-96A6-D7BC69AD9EB9}"/>
              </a:ext>
            </a:extLst>
          </p:cNvPr>
          <p:cNvSpPr txBox="1"/>
          <p:nvPr/>
        </p:nvSpPr>
        <p:spPr>
          <a:xfrm>
            <a:off x="8307091" y="2002650"/>
            <a:ext cx="2464231" cy="11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6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da-DK" sz="6600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endParaRPr lang="da-DK" sz="6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5500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D49C9E-079C-4527-A9C9-DEA60F08B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6234192" cy="7766319"/>
          </a:xfrm>
        </p:spPr>
        <p:txBody>
          <a:bodyPr>
            <a:normAutofit fontScale="9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6600" b="1" dirty="0"/>
              <a:t>Ammonium-ion</a:t>
            </a:r>
            <a:br>
              <a:rPr lang="da-DK" sz="6600" b="1" dirty="0"/>
            </a:br>
            <a:br>
              <a:rPr lang="da-DK" sz="6600" b="1" dirty="0"/>
            </a:br>
            <a:r>
              <a:rPr lang="da-DK" sz="3100" b="1" dirty="0"/>
              <a:t>Den eneste positive sammensatte ions som du skal kende.</a:t>
            </a:r>
            <a:br>
              <a:rPr lang="da-DK" sz="3100" b="1" dirty="0"/>
            </a:br>
            <a:r>
              <a:rPr lang="da-DK" sz="3100" b="1" dirty="0"/>
              <a:t>Den er opbygget af nitrogen (N) og fire hydrogen-atomer (H) og har ladningen (+)</a:t>
            </a:r>
            <a:br>
              <a:rPr lang="da-DK" sz="6600" b="1" dirty="0"/>
            </a:br>
            <a:br>
              <a:rPr lang="da-DK" sz="3600" b="1" dirty="0"/>
            </a:br>
            <a:br>
              <a:rPr lang="da-DK" sz="3600" b="1" dirty="0"/>
            </a:br>
            <a:b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da-DK" dirty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635EE4B9-12A5-4360-96A6-D7BC69AD9EB9}"/>
              </a:ext>
            </a:extLst>
          </p:cNvPr>
          <p:cNvSpPr txBox="1"/>
          <p:nvPr/>
        </p:nvSpPr>
        <p:spPr>
          <a:xfrm>
            <a:off x="8307091" y="2002650"/>
            <a:ext cx="2464231" cy="2320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6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NH</a:t>
            </a:r>
            <a:r>
              <a:rPr lang="da-DK" sz="6600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da-DK" sz="6600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da-DK" sz="6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549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98E539-3181-4D99-9386-531EE30D4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 næste ioner er ikke så almindelige som de første. Find dem også side 197 i lærebogen.</a:t>
            </a:r>
          </a:p>
        </p:txBody>
      </p:sp>
    </p:spTree>
    <p:extLst>
      <p:ext uri="{BB962C8B-B14F-4D97-AF65-F5344CB8AC3E}">
        <p14:creationId xmlns:p14="http://schemas.microsoft.com/office/powerpoint/2010/main" val="3425791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D49C9E-079C-4527-A9C9-DEA60F08B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6234192" cy="5565223"/>
          </a:xfrm>
        </p:spPr>
        <p:txBody>
          <a:bodyPr>
            <a:normAutofit fontScale="9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6600" b="1" dirty="0"/>
              <a:t>Hydrogensulf</a:t>
            </a:r>
            <a:r>
              <a:rPr lang="da-DK" sz="6600" b="1" u="sng" dirty="0"/>
              <a:t>at</a:t>
            </a:r>
            <a:r>
              <a:rPr lang="da-DK" sz="6600" b="1" dirty="0"/>
              <a:t>-ion</a:t>
            </a:r>
            <a:br>
              <a:rPr lang="da-DK" sz="3600" b="1" dirty="0"/>
            </a:br>
            <a:br>
              <a:rPr lang="da-DK" sz="3600" b="1" dirty="0"/>
            </a:br>
            <a:r>
              <a:rPr lang="da-DK" sz="3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Sulphur</a:t>
            </a:r>
            <a: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svovl (latin)</a:t>
            </a:r>
            <a:b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Endelsen  - </a:t>
            </a:r>
            <a:r>
              <a:rPr lang="da-DK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</a:t>
            </a:r>
            <a: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fortæller at svovl er bundet til oxygen</a:t>
            </a:r>
            <a:b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da-DK" dirty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635EE4B9-12A5-4360-96A6-D7BC69AD9EB9}"/>
              </a:ext>
            </a:extLst>
          </p:cNvPr>
          <p:cNvSpPr txBox="1"/>
          <p:nvPr/>
        </p:nvSpPr>
        <p:spPr>
          <a:xfrm>
            <a:off x="8307091" y="2002650"/>
            <a:ext cx="2464231" cy="11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66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HSO</a:t>
            </a:r>
            <a:r>
              <a:rPr lang="da-DK" sz="6600" baseline="-25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da-DK" sz="6600" baseline="30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endParaRPr lang="da-DK" sz="6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5640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D49C9E-079C-4527-A9C9-DEA60F08B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6234192" cy="5565223"/>
          </a:xfrm>
        </p:spPr>
        <p:txBody>
          <a:bodyPr>
            <a:normAutofit fontScale="9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5300" b="1" dirty="0" err="1"/>
              <a:t>Hydrogenphosphat</a:t>
            </a:r>
            <a:r>
              <a:rPr lang="da-DK" sz="5300" b="1" dirty="0"/>
              <a:t>-ion</a:t>
            </a:r>
            <a:br>
              <a:rPr lang="da-DK" sz="5300" b="1" dirty="0"/>
            </a:br>
            <a:r>
              <a:rPr lang="da-DK" sz="5300" b="1" dirty="0"/>
              <a:t>(hydrogenfosfat-ion)</a:t>
            </a:r>
            <a:br>
              <a:rPr lang="da-DK" sz="3600" b="1" dirty="0"/>
            </a:br>
            <a:br>
              <a:rPr lang="da-DK" sz="3600" b="1" dirty="0"/>
            </a:br>
            <a:b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Endelsen  - </a:t>
            </a:r>
            <a:r>
              <a:rPr lang="da-DK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</a:t>
            </a:r>
            <a: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fortæller at </a:t>
            </a:r>
            <a:r>
              <a:rPr lang="da-DK" sz="36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phosphor</a:t>
            </a:r>
            <a: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er bundet til oxygen</a:t>
            </a:r>
            <a:b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da-DK" dirty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635EE4B9-12A5-4360-96A6-D7BC69AD9EB9}"/>
              </a:ext>
            </a:extLst>
          </p:cNvPr>
          <p:cNvSpPr txBox="1"/>
          <p:nvPr/>
        </p:nvSpPr>
        <p:spPr>
          <a:xfrm>
            <a:off x="8307091" y="2002650"/>
            <a:ext cx="2464231" cy="11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6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HP</a:t>
            </a:r>
            <a:r>
              <a:rPr lang="da-DK" sz="6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da-DK" sz="66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da-DK" sz="6600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da-DK" sz="66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endParaRPr lang="da-DK" sz="6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6678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D49C9E-079C-4527-A9C9-DEA60F08B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6234192" cy="5565223"/>
          </a:xfrm>
        </p:spPr>
        <p:txBody>
          <a:bodyPr>
            <a:normAutofit fontScale="9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6600" b="1" dirty="0"/>
              <a:t>Sulf</a:t>
            </a:r>
            <a:r>
              <a:rPr lang="da-DK" sz="6600" b="1" u="sng" dirty="0"/>
              <a:t>it</a:t>
            </a:r>
            <a:r>
              <a:rPr lang="da-DK" sz="6600" b="1" dirty="0"/>
              <a:t>-ion</a:t>
            </a:r>
            <a:br>
              <a:rPr lang="da-DK" sz="3600" b="1" dirty="0"/>
            </a:br>
            <a:br>
              <a:rPr lang="da-DK" sz="3600" b="1" dirty="0"/>
            </a:br>
            <a:r>
              <a:rPr lang="da-DK" sz="3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Sulphur</a:t>
            </a:r>
            <a: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svovl (latin)</a:t>
            </a:r>
            <a:b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Endelsen  - </a:t>
            </a:r>
            <a:r>
              <a:rPr lang="da-DK" sz="36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</a:t>
            </a:r>
            <a: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fortæller at svovl er bundet til et oxygenatom mindre </a:t>
            </a:r>
            <a:r>
              <a:rPr lang="da-DK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end i sulfat-ionen.</a:t>
            </a:r>
            <a:br>
              <a:rPr lang="da-DK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a-DK" sz="3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Ladningen er den samme</a:t>
            </a:r>
            <a:b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da-DK" dirty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635EE4B9-12A5-4360-96A6-D7BC69AD9EB9}"/>
              </a:ext>
            </a:extLst>
          </p:cNvPr>
          <p:cNvSpPr txBox="1"/>
          <p:nvPr/>
        </p:nvSpPr>
        <p:spPr>
          <a:xfrm>
            <a:off x="8307091" y="2002650"/>
            <a:ext cx="2464231" cy="11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6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</a:t>
            </a:r>
            <a:r>
              <a:rPr lang="da-DK" sz="6600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da-DK" sz="66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2-</a:t>
            </a:r>
            <a:endParaRPr lang="da-DK" sz="6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948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D49C9E-079C-4527-A9C9-DEA60F08B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6234192" cy="5565223"/>
          </a:xfrm>
        </p:spPr>
        <p:txBody>
          <a:bodyPr>
            <a:normAutofit fontScale="9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6600" b="1" dirty="0"/>
              <a:t>Nitrit-ion</a:t>
            </a:r>
            <a:br>
              <a:rPr lang="da-DK" sz="6600" b="1" dirty="0"/>
            </a:br>
            <a:br>
              <a:rPr lang="da-DK" sz="3600" b="1" dirty="0"/>
            </a:br>
            <a:br>
              <a:rPr lang="da-DK" sz="3600" b="1" dirty="0"/>
            </a:br>
            <a:b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Endelsen  - </a:t>
            </a:r>
            <a:r>
              <a:rPr lang="da-DK" sz="36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</a:t>
            </a:r>
            <a: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fortæller at nitrogen er bundet til et oxygen men antallet er et </a:t>
            </a:r>
            <a:r>
              <a:rPr lang="da-DK" sz="3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oxgenatom</a:t>
            </a:r>
            <a: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mindre end i nitrat-ionen.</a:t>
            </a:r>
            <a:b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Ladningen er den samme.</a:t>
            </a:r>
            <a:b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da-DK" dirty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635EE4B9-12A5-4360-96A6-D7BC69AD9EB9}"/>
              </a:ext>
            </a:extLst>
          </p:cNvPr>
          <p:cNvSpPr txBox="1"/>
          <p:nvPr/>
        </p:nvSpPr>
        <p:spPr>
          <a:xfrm>
            <a:off x="8307091" y="2002650"/>
            <a:ext cx="2464231" cy="11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6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da-DK" sz="6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da-DK" sz="6600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da-DK" sz="66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endParaRPr lang="da-DK" sz="6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263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492FFD-EDE5-4980-8AE3-21D6A19AB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Så er det jeres tur – sig navn eller angiv ionens opbygning (husk </a:t>
            </a:r>
            <a:r>
              <a:rPr lang="da-DK"/>
              <a:t>også ladningen)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339668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7098D7-D901-4DEF-B53A-4FF10CD89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64DC7947-421B-4349-968E-45E0B705D2B2}"/>
              </a:ext>
            </a:extLst>
          </p:cNvPr>
          <p:cNvSpPr txBox="1"/>
          <p:nvPr/>
        </p:nvSpPr>
        <p:spPr>
          <a:xfrm>
            <a:off x="5856158" y="1418670"/>
            <a:ext cx="6096000" cy="1225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7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da-DK" sz="7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da-DK" sz="7200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da-DK" sz="72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endParaRPr lang="da-DK" sz="7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46A9B1B6-44C5-4214-8B97-BFCC96B6B476}"/>
              </a:ext>
            </a:extLst>
          </p:cNvPr>
          <p:cNvSpPr txBox="1"/>
          <p:nvPr/>
        </p:nvSpPr>
        <p:spPr>
          <a:xfrm>
            <a:off x="3048000" y="324558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1800" b="1" dirty="0"/>
              <a:t>Nitrat-ion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151423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D49C9E-079C-4527-A9C9-DEA60F08B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6234192" cy="5565223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6600" b="1" dirty="0" err="1"/>
              <a:t>Phosphat</a:t>
            </a:r>
            <a:r>
              <a:rPr lang="da-DK" sz="6600" b="1" dirty="0"/>
              <a:t>-ion</a:t>
            </a:r>
            <a:br>
              <a:rPr lang="da-DK" sz="6600" b="1" dirty="0"/>
            </a:br>
            <a:r>
              <a:rPr lang="da-DK" sz="6600" b="1" dirty="0"/>
              <a:t>(fosfat-ion)</a:t>
            </a:r>
            <a:br>
              <a:rPr lang="da-DK" sz="3600" b="1" dirty="0"/>
            </a:br>
            <a:br>
              <a:rPr lang="da-DK" sz="3600" b="1" dirty="0"/>
            </a:br>
            <a:b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da-DK" dirty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635EE4B9-12A5-4360-96A6-D7BC69AD9EB9}"/>
              </a:ext>
            </a:extLst>
          </p:cNvPr>
          <p:cNvSpPr txBox="1"/>
          <p:nvPr/>
        </p:nvSpPr>
        <p:spPr>
          <a:xfrm>
            <a:off x="8307091" y="2002650"/>
            <a:ext cx="2464231" cy="11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6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da-DK" sz="6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da-DK" sz="66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da-DK" sz="6600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da-DK" sz="66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endParaRPr lang="da-DK" sz="6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5265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D49C9E-079C-4527-A9C9-DEA60F08B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878237"/>
            <a:ext cx="6234192" cy="5052111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6600" b="1" dirty="0" err="1"/>
              <a:t>Carbonat</a:t>
            </a:r>
            <a:r>
              <a:rPr lang="da-DK" sz="6600" b="1" dirty="0"/>
              <a:t>-ion</a:t>
            </a:r>
            <a:br>
              <a:rPr lang="da-DK" sz="6600" b="1" dirty="0"/>
            </a:br>
            <a:br>
              <a:rPr lang="da-DK" sz="3600" b="1" dirty="0"/>
            </a:br>
            <a:b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da-DK" dirty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635EE4B9-12A5-4360-96A6-D7BC69AD9EB9}"/>
              </a:ext>
            </a:extLst>
          </p:cNvPr>
          <p:cNvSpPr txBox="1"/>
          <p:nvPr/>
        </p:nvSpPr>
        <p:spPr>
          <a:xfrm>
            <a:off x="8307091" y="2002650"/>
            <a:ext cx="2464231" cy="11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6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da-DK" sz="6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da-DK" sz="6600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da-DK" sz="6600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da-DK" sz="66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endParaRPr lang="da-DK" sz="6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451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D49C9E-079C-4527-A9C9-DEA60F08B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6234192" cy="5565223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6600" b="1" dirty="0"/>
              <a:t>Sulf</a:t>
            </a:r>
            <a:r>
              <a:rPr lang="da-DK" sz="6600" b="1" u="sng" dirty="0"/>
              <a:t>at</a:t>
            </a:r>
            <a:r>
              <a:rPr lang="da-DK" sz="6600" b="1" dirty="0"/>
              <a:t>-ion</a:t>
            </a:r>
            <a:br>
              <a:rPr lang="da-DK" sz="3600" b="1" dirty="0"/>
            </a:br>
            <a:br>
              <a:rPr lang="da-DK" sz="3600" b="1" dirty="0"/>
            </a:br>
            <a:b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da-DK" dirty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635EE4B9-12A5-4360-96A6-D7BC69AD9EB9}"/>
              </a:ext>
            </a:extLst>
          </p:cNvPr>
          <p:cNvSpPr txBox="1"/>
          <p:nvPr/>
        </p:nvSpPr>
        <p:spPr>
          <a:xfrm>
            <a:off x="8307091" y="2002650"/>
            <a:ext cx="2464231" cy="11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6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</a:t>
            </a:r>
            <a:r>
              <a:rPr lang="da-DK" sz="66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da-DK" sz="66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2-</a:t>
            </a:r>
            <a:endParaRPr lang="da-DK" sz="6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1947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D49C9E-079C-4527-A9C9-DEA60F08B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6234192" cy="7766319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6600" b="1" dirty="0"/>
              <a:t>Hydroxid-ion</a:t>
            </a:r>
            <a:br>
              <a:rPr lang="da-DK" sz="6600" b="1" dirty="0"/>
            </a:br>
            <a:br>
              <a:rPr lang="da-DK" sz="6600" b="1" dirty="0"/>
            </a:br>
            <a:br>
              <a:rPr lang="da-DK" sz="6600" b="1" dirty="0"/>
            </a:br>
            <a:br>
              <a:rPr lang="da-DK" sz="3600" b="1" dirty="0"/>
            </a:br>
            <a:br>
              <a:rPr lang="da-DK" sz="3600" b="1" dirty="0"/>
            </a:br>
            <a:b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da-DK" dirty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635EE4B9-12A5-4360-96A6-D7BC69AD9EB9}"/>
              </a:ext>
            </a:extLst>
          </p:cNvPr>
          <p:cNvSpPr txBox="1"/>
          <p:nvPr/>
        </p:nvSpPr>
        <p:spPr>
          <a:xfrm>
            <a:off x="8307091" y="2002650"/>
            <a:ext cx="2464231" cy="11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6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da-DK" sz="6600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endParaRPr lang="da-DK" sz="6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9674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D49C9E-079C-4527-A9C9-DEA60F08B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6234192" cy="7766319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6600" b="1" dirty="0"/>
              <a:t>Ammonium-ion</a:t>
            </a:r>
            <a:br>
              <a:rPr lang="da-DK" sz="6600" b="1" dirty="0"/>
            </a:br>
            <a:br>
              <a:rPr lang="da-DK" sz="6600" b="1" dirty="0"/>
            </a:br>
            <a:br>
              <a:rPr lang="da-DK" sz="3600" b="1" dirty="0"/>
            </a:br>
            <a:b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da-DK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da-DK" dirty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635EE4B9-12A5-4360-96A6-D7BC69AD9EB9}"/>
              </a:ext>
            </a:extLst>
          </p:cNvPr>
          <p:cNvSpPr txBox="1"/>
          <p:nvPr/>
        </p:nvSpPr>
        <p:spPr>
          <a:xfrm>
            <a:off x="8307091" y="2002650"/>
            <a:ext cx="2464231" cy="2320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6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NH</a:t>
            </a:r>
            <a:r>
              <a:rPr lang="da-DK" sz="6600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da-DK" sz="6600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da-DK" sz="6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741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346</Words>
  <Application>Microsoft Office PowerPoint</Application>
  <PresentationFormat>Widescreen</PresentationFormat>
  <Paragraphs>36</Paragraphs>
  <Slides>19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Office-tema</vt:lpstr>
      <vt:lpstr>Sammensatte ioner</vt:lpstr>
      <vt:lpstr>Sulfat-ion  Sulphur = svovl (latin)  Endelsen  - at fortæller at svovl er bundet til oxygen </vt:lpstr>
      <vt:lpstr>Carbonat-ion   Endelsen  - at fortæller at carbon er bundet til et bestemt antal oxygenatomer (3 stk)  </vt:lpstr>
      <vt:lpstr>Nitrat-ion     Endelsen  - at fortæller at nitrogen er bundet til oxygen </vt:lpstr>
      <vt:lpstr>Phosphat-ion (fosfat-ion)    Endelsen  - at fortæller at phosphor er bundet til oxygen </vt:lpstr>
      <vt:lpstr>Hydroxid-ion  Natriumhydroxid kender du måske fra folkeskolen. Det er en vigtig og kendt base      </vt:lpstr>
      <vt:lpstr>Ammonium-ion  Den eneste positive sammensatte ions som du skal kende. Den er opbygget af nitrogen (N) og fire hydrogen-atomer (H) og har ladningen (+)      </vt:lpstr>
      <vt:lpstr>De næste ioner er ikke så almindelige som de første. Find dem også side 197 i lærebogen.</vt:lpstr>
      <vt:lpstr>Hydrogensulfat-ion  Sulphur = svovl (latin)  Endelsen  - at fortæller at svovl er bundet til oxygen </vt:lpstr>
      <vt:lpstr>Hydrogenphosphat-ion (hydrogenfosfat-ion)    Endelsen  - at fortæller at phosphor er bundet til oxygen </vt:lpstr>
      <vt:lpstr>Sulfit-ion  Sulphur = svovl (latin)  Endelsen  - it fortæller at svovl er bundet til et oxygenatom mindre end i sulfat-ionen. Ladningen er den samme </vt:lpstr>
      <vt:lpstr>Nitrit-ion     Endelsen  - it fortæller at nitrogen er bundet til et oxygen men antallet er et oxgenatom mindre end i nitrat-ionen. Ladningen er den samme. </vt:lpstr>
      <vt:lpstr>Så er det jeres tur – sig navn eller angiv ionens opbygning (husk også ladningen)</vt:lpstr>
      <vt:lpstr>PowerPoint-præsentation</vt:lpstr>
      <vt:lpstr>Phosphat-ion (fosfat-ion)     </vt:lpstr>
      <vt:lpstr>Carbonat-ion     </vt:lpstr>
      <vt:lpstr>Sulfat-ion   </vt:lpstr>
      <vt:lpstr>Hydroxid-ion        </vt:lpstr>
      <vt:lpstr>Ammonium-ion  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Sammensatte ioner</dc:title>
  <dc:creator>Charlotte Lena Boesen</dc:creator>
  <cp:lastModifiedBy>Charlotte Lena Boesen</cp:lastModifiedBy>
  <cp:revision>5</cp:revision>
  <dcterms:created xsi:type="dcterms:W3CDTF">2021-11-18T10:07:22Z</dcterms:created>
  <dcterms:modified xsi:type="dcterms:W3CDTF">2021-11-24T09:49:29Z</dcterms:modified>
</cp:coreProperties>
</file>