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57" r:id="rId4"/>
    <p:sldId id="259" r:id="rId5"/>
    <p:sldId id="265" r:id="rId6"/>
    <p:sldId id="270" r:id="rId7"/>
    <p:sldId id="271" r:id="rId8"/>
    <p:sldId id="261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29A0F-08A5-4587-BE4C-112DA43DF816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033E7-14A1-4A94-A410-9CC985A176E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194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45 g – 19 g(aflæst ved 10 grader) = 26 g salt udfældes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E033E7-14A1-4A94-A410-9CC985A176EF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66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033E7-14A1-4A94-A410-9CC985A176EF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9656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770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203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510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199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59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6422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593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486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3814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506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551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7C899-7FAF-4C29-AD8A-018A982B80B4}" type="datetimeFigureOut">
              <a:rPr lang="da-DK" smtClean="0"/>
              <a:t>03-01-2023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EC477-80A0-4D71-A584-F72343B0041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750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Lq5NibwV5g" TargetMode="External"/><Relationship Id="rId2" Type="http://schemas.openxmlformats.org/officeDocument/2006/relationships/hyperlink" Target="http://www.youtube.com/watch?v=nvHrXr5Jajg&amp;feature=endscreen&amp;NR=1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Mættede, umættede og overmættede opløsninger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sz="4400" dirty="0"/>
              <a:t>og</a:t>
            </a:r>
          </a:p>
          <a:p>
            <a:r>
              <a:rPr lang="da-DK" sz="4400" dirty="0" err="1"/>
              <a:t>Exoterme</a:t>
            </a:r>
            <a:r>
              <a:rPr lang="da-DK" sz="4400" dirty="0"/>
              <a:t> og endoterme reaktioner</a:t>
            </a:r>
          </a:p>
        </p:txBody>
      </p:sp>
    </p:spTree>
    <p:extLst>
      <p:ext uri="{BB962C8B-B14F-4D97-AF65-F5344CB8AC3E}">
        <p14:creationId xmlns:p14="http://schemas.microsoft.com/office/powerpoint/2010/main" val="391314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-656153"/>
            <a:ext cx="11250881" cy="7116330"/>
          </a:xfrm>
        </p:spPr>
        <p:txBody>
          <a:bodyPr>
            <a:normAutofit/>
          </a:bodyPr>
          <a:lstStyle/>
          <a:p>
            <a:br>
              <a:rPr lang="da-DK" sz="3100" dirty="0"/>
            </a:br>
            <a:r>
              <a:rPr lang="da-DK" sz="3100" b="1" dirty="0"/>
              <a:t>Umættet, mættet og overmættet opløsning  </a:t>
            </a:r>
            <a:br>
              <a:rPr lang="da-DK" sz="2800" b="1" dirty="0"/>
            </a:br>
            <a:r>
              <a:rPr lang="da-DK" sz="2800" b="1" dirty="0"/>
              <a:t> </a:t>
            </a:r>
            <a:br>
              <a:rPr lang="da-DK" sz="2800" dirty="0"/>
            </a:br>
            <a:r>
              <a:rPr lang="da-DK" sz="2000" dirty="0"/>
              <a:t>Ved 20</a:t>
            </a:r>
            <a:r>
              <a:rPr lang="da-DK" sz="2000" baseline="30000" dirty="0"/>
              <a:t>o</a:t>
            </a:r>
            <a:r>
              <a:rPr lang="da-DK" sz="2000" dirty="0"/>
              <a:t>C kan der ifølge opløselighedskurven opløses</a:t>
            </a:r>
            <a:br>
              <a:rPr lang="da-DK" sz="2000" dirty="0"/>
            </a:br>
            <a:r>
              <a:rPr lang="da-DK" sz="2000" dirty="0">
                <a:solidFill>
                  <a:srgbClr val="FF0000"/>
                </a:solidFill>
              </a:rPr>
              <a:t>30 g </a:t>
            </a:r>
            <a:r>
              <a:rPr lang="da-DK" sz="2000" dirty="0"/>
              <a:t>KNO</a:t>
            </a:r>
            <a:r>
              <a:rPr lang="da-DK" sz="2000" baseline="-25000" dirty="0"/>
              <a:t>3</a:t>
            </a:r>
            <a:r>
              <a:rPr lang="da-DK" sz="2000" dirty="0"/>
              <a:t> i 100 mL vand.</a:t>
            </a:r>
            <a:br>
              <a:rPr lang="da-DK" sz="2000" dirty="0"/>
            </a:br>
            <a:br>
              <a:rPr lang="da-DK" sz="2000" dirty="0"/>
            </a:br>
            <a:r>
              <a:rPr lang="da-DK" sz="2000" dirty="0"/>
              <a:t>En opløsning af KNO</a:t>
            </a:r>
            <a:r>
              <a:rPr lang="da-DK" sz="2000" baseline="-25000" dirty="0"/>
              <a:t>3</a:t>
            </a:r>
            <a:r>
              <a:rPr lang="da-DK" sz="2000" dirty="0"/>
              <a:t> er 20</a:t>
            </a:r>
            <a:r>
              <a:rPr lang="da-DK" sz="2000" baseline="30000" dirty="0"/>
              <a:t>0</a:t>
            </a:r>
            <a:r>
              <a:rPr lang="da-DK" sz="2000" dirty="0"/>
              <a:t>C hvori der er opløst </a:t>
            </a:r>
            <a:br>
              <a:rPr lang="da-DK" sz="2000" dirty="0"/>
            </a:br>
            <a:r>
              <a:rPr lang="da-DK" sz="2000" dirty="0">
                <a:solidFill>
                  <a:srgbClr val="FF0000"/>
                </a:solidFill>
              </a:rPr>
              <a:t>25 g </a:t>
            </a:r>
            <a:r>
              <a:rPr lang="da-DK" sz="2000" dirty="0"/>
              <a:t>salt i 100 mL vand kaldes </a:t>
            </a:r>
            <a:r>
              <a:rPr lang="da-DK" sz="2000" b="1" dirty="0"/>
              <a:t>umættet</a:t>
            </a:r>
            <a:r>
              <a:rPr lang="da-DK" sz="2000" dirty="0"/>
              <a:t>. </a:t>
            </a:r>
            <a:br>
              <a:rPr lang="da-DK" sz="2000" dirty="0"/>
            </a:br>
            <a:r>
              <a:rPr lang="da-DK" sz="2000" dirty="0"/>
              <a:t>Der kan stadig opløses mere salt i opløsningen.</a:t>
            </a:r>
            <a:br>
              <a:rPr lang="da-DK" sz="2000" dirty="0"/>
            </a:br>
            <a:br>
              <a:rPr lang="da-DK" sz="2000" dirty="0"/>
            </a:br>
            <a:r>
              <a:rPr lang="da-DK" sz="2000" dirty="0"/>
              <a:t>I en anden portion vand (100 mL, 20</a:t>
            </a:r>
            <a:r>
              <a:rPr lang="da-DK" sz="2000" baseline="30000" dirty="0"/>
              <a:t>0</a:t>
            </a:r>
            <a:r>
              <a:rPr lang="da-DK" sz="2000" dirty="0"/>
              <a:t>C), er der </a:t>
            </a:r>
            <a:br>
              <a:rPr lang="da-DK" sz="2000" dirty="0"/>
            </a:br>
            <a:r>
              <a:rPr lang="da-DK" sz="2000" dirty="0"/>
              <a:t>opløst </a:t>
            </a:r>
            <a:r>
              <a:rPr lang="da-DK" sz="2000" dirty="0">
                <a:solidFill>
                  <a:srgbClr val="FF0000"/>
                </a:solidFill>
              </a:rPr>
              <a:t>30 g </a:t>
            </a:r>
            <a:r>
              <a:rPr lang="da-DK" sz="2000" dirty="0"/>
              <a:t>salt. Opløsningen er nu </a:t>
            </a:r>
            <a:r>
              <a:rPr lang="da-DK" sz="2000" b="1" dirty="0"/>
              <a:t>mættet</a:t>
            </a:r>
            <a:r>
              <a:rPr lang="da-DK" sz="2000" dirty="0"/>
              <a:t>. </a:t>
            </a:r>
            <a:br>
              <a:rPr lang="da-DK" sz="2000" dirty="0"/>
            </a:br>
            <a:r>
              <a:rPr lang="da-DK" sz="2000" dirty="0"/>
              <a:t>Der kan ikke opløses mere salt i opløsningen.</a:t>
            </a:r>
            <a:br>
              <a:rPr lang="da-DK" sz="2000" dirty="0"/>
            </a:br>
            <a:br>
              <a:rPr lang="da-DK" sz="2000" dirty="0"/>
            </a:br>
            <a:r>
              <a:rPr lang="da-DK" sz="2000" dirty="0"/>
              <a:t>I et tredje glas (100 </a:t>
            </a:r>
            <a:r>
              <a:rPr lang="da-DK" sz="2000" dirty="0" err="1"/>
              <a:t>mL</a:t>
            </a:r>
            <a:r>
              <a:rPr lang="da-DK" sz="2000" dirty="0"/>
              <a:t> vand) er der tilsat </a:t>
            </a:r>
            <a:r>
              <a:rPr lang="da-DK" sz="2000" dirty="0">
                <a:solidFill>
                  <a:srgbClr val="FF0000"/>
                </a:solidFill>
              </a:rPr>
              <a:t>45 g </a:t>
            </a:r>
            <a:r>
              <a:rPr lang="da-DK" sz="2000" dirty="0"/>
              <a:t>salt. </a:t>
            </a:r>
            <a:br>
              <a:rPr lang="da-DK" sz="2000" dirty="0"/>
            </a:br>
            <a:r>
              <a:rPr lang="da-DK" sz="2000" dirty="0"/>
              <a:t>Opløsningen opvarmes til 50</a:t>
            </a:r>
            <a:r>
              <a:rPr lang="da-DK" sz="2000" baseline="30000" dirty="0"/>
              <a:t>0</a:t>
            </a:r>
            <a:r>
              <a:rPr lang="da-DK" sz="2000" dirty="0"/>
              <a:t>C (opløseligheden er </a:t>
            </a:r>
            <a:br>
              <a:rPr lang="da-DK" sz="2000" dirty="0"/>
            </a:br>
            <a:r>
              <a:rPr lang="da-DK" sz="2000" dirty="0"/>
              <a:t>her </a:t>
            </a:r>
            <a:r>
              <a:rPr lang="da-DK" sz="2000" dirty="0">
                <a:solidFill>
                  <a:srgbClr val="FF0000"/>
                </a:solidFill>
              </a:rPr>
              <a:t>88 g/100 mL</a:t>
            </a:r>
            <a:r>
              <a:rPr lang="da-DK" sz="2000" dirty="0"/>
              <a:t>) og alt saltet går nu i opløsning. </a:t>
            </a:r>
            <a:br>
              <a:rPr lang="da-DK" sz="2000" dirty="0"/>
            </a:br>
            <a:r>
              <a:rPr lang="da-DK" sz="2000" dirty="0"/>
              <a:t>Derefter afkøles opløsningen til 10 </a:t>
            </a:r>
            <a:r>
              <a:rPr lang="da-DK" sz="2000" baseline="30000" dirty="0"/>
              <a:t>o</a:t>
            </a:r>
            <a:r>
              <a:rPr lang="da-DK" sz="2000" dirty="0"/>
              <a:t>C og man har </a:t>
            </a:r>
            <a:br>
              <a:rPr lang="da-DK" sz="2000" dirty="0"/>
            </a:br>
            <a:r>
              <a:rPr lang="da-DK" sz="2000" dirty="0"/>
              <a:t>en klar opløsning. </a:t>
            </a:r>
            <a:br>
              <a:rPr lang="da-DK" sz="2000" dirty="0"/>
            </a:br>
            <a:r>
              <a:rPr lang="da-DK" sz="2000" dirty="0"/>
              <a:t>Opløsningen kaldes nu for en </a:t>
            </a:r>
            <a:r>
              <a:rPr lang="da-DK" sz="2000" b="1" dirty="0"/>
              <a:t>overmættet</a:t>
            </a:r>
            <a:r>
              <a:rPr lang="da-DK" sz="2000" dirty="0"/>
              <a:t> opløsning </a:t>
            </a:r>
            <a:br>
              <a:rPr lang="da-DK" sz="2000" dirty="0"/>
            </a:br>
            <a:r>
              <a:rPr lang="da-DK" sz="2000" dirty="0"/>
              <a:t>(ustabil opløsning).</a:t>
            </a:r>
            <a:br>
              <a:rPr lang="da-DK" sz="2000" dirty="0"/>
            </a:br>
            <a:r>
              <a:rPr lang="da-DK" sz="2000" dirty="0"/>
              <a:t>Hvis opløsningen udkrystalliserer, hvor meget salt vil så </a:t>
            </a:r>
            <a:br>
              <a:rPr lang="da-DK" sz="2000" dirty="0"/>
            </a:br>
            <a:r>
              <a:rPr lang="da-DK" sz="2000" dirty="0"/>
              <a:t>udfældes?</a:t>
            </a:r>
          </a:p>
        </p:txBody>
      </p:sp>
      <p:pic>
        <p:nvPicPr>
          <p:cNvPr id="5" name="Picture 4" descr="https://www.quia.com/files/quia/users/kprophet11/Chemistry/solubility_color_shrunk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497" y="1091381"/>
            <a:ext cx="4896259" cy="5368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561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207"/>
          </a:xfrm>
        </p:spPr>
        <p:txBody>
          <a:bodyPr>
            <a:normAutofit/>
          </a:bodyPr>
          <a:lstStyle/>
          <a:p>
            <a:br>
              <a:rPr lang="da-DK" sz="3100" dirty="0"/>
            </a:br>
            <a:r>
              <a:rPr lang="da-DK" sz="3100" b="1" dirty="0"/>
              <a:t>Umættet, mættet og overmættet opløsning </a:t>
            </a:r>
            <a:br>
              <a:rPr lang="da-DK" sz="3100" b="1" dirty="0"/>
            </a:br>
            <a:r>
              <a:rPr lang="da-DK" sz="3100" b="1" dirty="0"/>
              <a:t> </a:t>
            </a:r>
            <a:br>
              <a:rPr lang="da-DK" sz="2800" b="1" dirty="0"/>
            </a:br>
            <a:r>
              <a:rPr lang="da-DK" sz="2800" b="1" dirty="0"/>
              <a:t> </a:t>
            </a:r>
            <a:br>
              <a:rPr lang="da-DK" sz="2800" dirty="0"/>
            </a:br>
            <a:r>
              <a:rPr lang="da-DK" sz="2800" b="1" dirty="0"/>
              <a:t>Se de to videoer og forklar hvad der sker</a:t>
            </a:r>
            <a:br>
              <a:rPr lang="da-DK" sz="2800" b="1" dirty="0"/>
            </a:br>
            <a:br>
              <a:rPr lang="da-DK" sz="2800" b="1" dirty="0"/>
            </a:br>
            <a:br>
              <a:rPr lang="da-DK" sz="2800" dirty="0"/>
            </a:br>
            <a:r>
              <a:rPr lang="da-DK" sz="2800" u="sng" dirty="0">
                <a:hlinkClick r:id="rId2"/>
              </a:rPr>
              <a:t>http://www.youtube.com/watch?v=nvHrXr5Jajg&amp;feature=endscreen&amp;NR=1 </a:t>
            </a:r>
            <a:r>
              <a:rPr lang="da-DK" sz="2800" dirty="0">
                <a:hlinkClick r:id="rId2"/>
              </a:rPr>
              <a:t> </a:t>
            </a:r>
            <a:r>
              <a:rPr lang="da-DK" sz="2800" dirty="0"/>
              <a:t>(1.43)</a:t>
            </a:r>
            <a:br>
              <a:rPr lang="da-DK" sz="2800" dirty="0"/>
            </a:br>
            <a:br>
              <a:rPr lang="da-DK" sz="2800" dirty="0"/>
            </a:br>
            <a:br>
              <a:rPr lang="da-DK" sz="2800" dirty="0"/>
            </a:br>
            <a:r>
              <a:rPr lang="da-DK" sz="2800" u="sng" dirty="0">
                <a:hlinkClick r:id="rId3"/>
              </a:rPr>
              <a:t>http://www.youtube.com/watch?v=BLq5NibwV5g</a:t>
            </a:r>
            <a:r>
              <a:rPr lang="da-DK" sz="2800" dirty="0">
                <a:hlinkClick r:id="rId3"/>
              </a:rPr>
              <a:t>	</a:t>
            </a:r>
            <a:r>
              <a:rPr lang="da-DK" sz="2800" dirty="0"/>
              <a:t>			</a:t>
            </a:r>
            <a:br>
              <a:rPr lang="da-DK" sz="2800" dirty="0"/>
            </a:br>
            <a:r>
              <a:rPr lang="da-DK" sz="2800" dirty="0"/>
              <a:t>(0.53)</a:t>
            </a:r>
            <a:br>
              <a:rPr lang="da-DK" sz="2800" dirty="0"/>
            </a:br>
            <a:br>
              <a:rPr lang="da-DK" sz="2800" dirty="0"/>
            </a:br>
            <a:endParaRPr lang="da-DK" sz="2200" dirty="0"/>
          </a:p>
        </p:txBody>
      </p:sp>
      <p:pic>
        <p:nvPicPr>
          <p:cNvPr id="3" name="Billede 2" descr="http://sciencelabs.dk/wp-content/uploads/2015/11/Istap-af-natriumacetat-fig.1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991" y="643466"/>
            <a:ext cx="1569720" cy="2375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648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5287" y="402317"/>
            <a:ext cx="14465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da-DK" altLang="da-DK" sz="4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da-DK" altLang="da-DK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xoterme</a:t>
            </a: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endoterme reaktioner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kstfelt 2"/>
          <p:cNvSpPr txBox="1">
            <a:spLocks noChangeArrowheads="1"/>
          </p:cNvSpPr>
          <p:nvPr/>
        </p:nvSpPr>
        <p:spPr bwMode="auto">
          <a:xfrm>
            <a:off x="3696982" y="1435158"/>
            <a:ext cx="4448175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</a:t>
            </a:r>
            <a:r>
              <a:rPr kumimoji="0" lang="da-DK" altLang="da-DK" sz="2800" b="1" i="1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exoterm</a:t>
            </a:r>
            <a:r>
              <a:rPr kumimoji="0" lang="da-DK" altLang="da-DK" sz="28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reaktion afgiver energi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endoterm reaktion optager energi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319835" y="3436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9" name="Billed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40" y="4227443"/>
            <a:ext cx="4190021" cy="1886065"/>
          </a:xfrm>
          <a:prstGeom prst="rect">
            <a:avLst/>
          </a:prstGeom>
        </p:spPr>
      </p:pic>
      <p:pic>
        <p:nvPicPr>
          <p:cNvPr id="10" name="Billed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062" y="4227443"/>
            <a:ext cx="4354264" cy="187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1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27457"/>
          </a:xfrm>
        </p:spPr>
        <p:txBody>
          <a:bodyPr>
            <a:normAutofit/>
          </a:bodyPr>
          <a:lstStyle/>
          <a:p>
            <a:r>
              <a:rPr lang="da-DK" dirty="0"/>
              <a:t>Hot </a:t>
            </a:r>
            <a:r>
              <a:rPr lang="da-DK" dirty="0" err="1"/>
              <a:t>pack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varmepose (blå) </a:t>
            </a:r>
            <a:br>
              <a:rPr lang="da-DK" dirty="0"/>
            </a:br>
            <a:br>
              <a:rPr lang="da-DK" dirty="0"/>
            </a:br>
            <a:r>
              <a:rPr lang="da-DK" dirty="0"/>
              <a:t>Pris 39 kr.</a:t>
            </a:r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65" y="2207611"/>
            <a:ext cx="4069500" cy="4069500"/>
          </a:xfrm>
        </p:spPr>
      </p:pic>
      <p:pic>
        <p:nvPicPr>
          <p:cNvPr id="1026" name="Picture 2" descr="Gelé varmepude &quot;Herz&quot; - VKF Renzel | VKF Renzel Danmark">
            <a:extLst>
              <a:ext uri="{FF2B5EF4-FFF2-40B4-BE49-F238E27FC236}">
                <a16:creationId xmlns:a16="http://schemas.microsoft.com/office/drawing/2014/main" id="{32EBD29F-AAE9-4A07-8F16-35EC340F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809" y="506236"/>
            <a:ext cx="3736125" cy="373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23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E7C9F-832B-413F-823C-E9067CDC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46422" cy="1325563"/>
          </a:xfrm>
        </p:spPr>
        <p:txBody>
          <a:bodyPr/>
          <a:lstStyle/>
          <a:p>
            <a:r>
              <a:rPr lang="da-DK" dirty="0"/>
              <a:t>Endoterm reaktion</a:t>
            </a:r>
          </a:p>
        </p:txBody>
      </p:sp>
      <p:pic>
        <p:nvPicPr>
          <p:cNvPr id="1026" name="Picture 2" descr="Billedresultat for endoterm reaktion">
            <a:extLst>
              <a:ext uri="{FF2B5EF4-FFF2-40B4-BE49-F238E27FC236}">
                <a16:creationId xmlns:a16="http://schemas.microsoft.com/office/drawing/2014/main" id="{E18CF442-1CC3-4F04-A7C7-D828D2224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72744"/>
            <a:ext cx="3738504" cy="280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B24CB02A-392A-4882-B859-BA615992D70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40" y="4063754"/>
            <a:ext cx="4354264" cy="1873365"/>
          </a:xfrm>
          <a:prstGeom prst="rect">
            <a:avLst/>
          </a:prstGeom>
        </p:spPr>
      </p:pic>
      <p:pic>
        <p:nvPicPr>
          <p:cNvPr id="1028" name="Picture 4" descr="Billedresultat for endoterm reaktion">
            <a:extLst>
              <a:ext uri="{FF2B5EF4-FFF2-40B4-BE49-F238E27FC236}">
                <a16:creationId xmlns:a16="http://schemas.microsoft.com/office/drawing/2014/main" id="{669798D1-1DCC-45D5-B1F0-CB531FB97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128" y="789517"/>
            <a:ext cx="2254250" cy="305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4FC60706-06D4-406A-BB88-443E74B14201}"/>
              </a:ext>
            </a:extLst>
          </p:cNvPr>
          <p:cNvSpPr/>
          <p:nvPr/>
        </p:nvSpPr>
        <p:spPr>
          <a:xfrm>
            <a:off x="974607" y="2206164"/>
            <a:ext cx="589834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(s)   +  </a:t>
            </a:r>
            <a:r>
              <a:rPr lang="en-US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energi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NH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NO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06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E7C9F-832B-413F-823C-E9067CDC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46422" cy="1325563"/>
          </a:xfrm>
        </p:spPr>
        <p:txBody>
          <a:bodyPr/>
          <a:lstStyle/>
          <a:p>
            <a:r>
              <a:rPr lang="da-DK" dirty="0"/>
              <a:t>Exoterm reaktion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4FC60706-06D4-406A-BB88-443E74B14201}"/>
              </a:ext>
            </a:extLst>
          </p:cNvPr>
          <p:cNvSpPr/>
          <p:nvPr/>
        </p:nvSpPr>
        <p:spPr>
          <a:xfrm>
            <a:off x="941325" y="1837524"/>
            <a:ext cx="5894683" cy="1700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Overmættet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opløsning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natriumacetat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når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udfælder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/>
              <a:t>Na</a:t>
            </a:r>
            <a:r>
              <a:rPr lang="en-US" sz="2000" baseline="30000" dirty="0"/>
              <a:t>+</a:t>
            </a:r>
            <a:r>
              <a:rPr lang="en-US" sz="2000" dirty="0"/>
              <a:t>(</a:t>
            </a:r>
            <a:r>
              <a:rPr lang="en-US" sz="2000" dirty="0" err="1"/>
              <a:t>aq</a:t>
            </a:r>
            <a:r>
              <a:rPr lang="en-US" sz="2000" dirty="0"/>
              <a:t>)  +  CH</a:t>
            </a:r>
            <a:r>
              <a:rPr lang="en-US" sz="2000" baseline="-25000" dirty="0"/>
              <a:t>3</a:t>
            </a:r>
            <a:r>
              <a:rPr lang="en-US" sz="2000" dirty="0"/>
              <a:t>COO</a:t>
            </a:r>
            <a:r>
              <a:rPr lang="en-US" sz="2000" baseline="30000" dirty="0"/>
              <a:t>-</a:t>
            </a:r>
            <a:r>
              <a:rPr lang="en-US" sz="2000" dirty="0"/>
              <a:t>(</a:t>
            </a:r>
            <a:r>
              <a:rPr lang="en-US" sz="2000" dirty="0" err="1"/>
              <a:t>aq</a:t>
            </a:r>
            <a:r>
              <a:rPr lang="en-US" sz="2000" dirty="0"/>
              <a:t>) → NaCH</a:t>
            </a:r>
            <a:r>
              <a:rPr lang="en-US" sz="2000" baseline="-25000" dirty="0"/>
              <a:t>3</a:t>
            </a:r>
            <a:r>
              <a:rPr lang="en-US" sz="2000" dirty="0"/>
              <a:t>COO(s)  +  </a:t>
            </a:r>
            <a:r>
              <a:rPr lang="en-US" sz="2000" dirty="0" err="1">
                <a:solidFill>
                  <a:srgbClr val="FF0000"/>
                </a:solidFill>
              </a:rPr>
              <a:t>energi</a:t>
            </a:r>
            <a:endParaRPr lang="da-DK" sz="2000" dirty="0">
              <a:solidFill>
                <a:srgbClr val="FF0000"/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9D9FE47-622C-43A8-94F5-162379C23C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40" y="4227443"/>
            <a:ext cx="4190021" cy="1886065"/>
          </a:xfrm>
          <a:prstGeom prst="rect">
            <a:avLst/>
          </a:prstGeom>
        </p:spPr>
      </p:pic>
      <p:pic>
        <p:nvPicPr>
          <p:cNvPr id="2050" name="Picture 2" descr="Billedresultat for exoterm reaktion">
            <a:extLst>
              <a:ext uri="{FF2B5EF4-FFF2-40B4-BE49-F238E27FC236}">
                <a16:creationId xmlns:a16="http://schemas.microsoft.com/office/drawing/2014/main" id="{8142FC7E-B465-489A-AE6C-4BEB8541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334" y="803140"/>
            <a:ext cx="183832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illedresultat for exoterm reaktion">
            <a:extLst>
              <a:ext uri="{FF2B5EF4-FFF2-40B4-BE49-F238E27FC236}">
                <a16:creationId xmlns:a16="http://schemas.microsoft.com/office/drawing/2014/main" id="{1EF38476-CA03-4635-93C2-EB16F0D7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402" y="3684763"/>
            <a:ext cx="4115864" cy="308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89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/>
          <p:cNvSpPr/>
          <p:nvPr/>
        </p:nvSpPr>
        <p:spPr>
          <a:xfrm>
            <a:off x="450761" y="1035781"/>
            <a:ext cx="11243256" cy="3810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Øvelse 2 	Fremstilling af en varmepude (CH</a:t>
            </a:r>
            <a:r>
              <a:rPr lang="da-DK" sz="2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COONa = CH</a:t>
            </a:r>
            <a:r>
              <a:rPr lang="da-DK" sz="2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da-DK" sz="24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natriumacetat)</a:t>
            </a: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da-DK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 sikkerhedsbriller og kittel på </a:t>
            </a:r>
          </a:p>
          <a:p>
            <a:pPr marL="34290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Afvej ca. 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 g natriumacetat(skal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indeholde krystalvand) direkte 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en frysepose   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Tilsæt 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da-DK" sz="20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demineraliseret vand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luk posen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Fyld et 600 </a:t>
            </a:r>
            <a:r>
              <a:rPr lang="da-DK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bægerglas ca. halvt op med vand og bring det i kog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Placér posen med natriumacetat i det varme vand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indtil alle krystallerne er opløst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 posen forsigtigt op og placér den i bægerglasset med vand og is. 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Når posen 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afkølet,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tages den forsigtigt op og kommes i endnu en plastpose.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Slå posen </a:t>
            </a:r>
            <a:r>
              <a:rPr lang="da-DK" sz="2000" b="1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forsigtigt</a:t>
            </a:r>
            <a:r>
              <a:rPr lang="da-DK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 bordkanten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se, hvad der sker. Mærk på posen. Er reaktionen </a:t>
            </a:r>
            <a:r>
              <a:rPr lang="da-DK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exo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eller endoterm?</a:t>
            </a:r>
          </a:p>
        </p:txBody>
      </p:sp>
      <p:pic>
        <p:nvPicPr>
          <p:cNvPr id="14" name="Billede 13" descr="http://www.kajakgal.dk/wp-content/uploads/2012/02/Varmepude-300x21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90" y="4927600"/>
            <a:ext cx="1949450" cy="137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97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475</Words>
  <Application>Microsoft Office PowerPoint</Application>
  <PresentationFormat>Widescreen</PresentationFormat>
  <Paragraphs>27</Paragraphs>
  <Slides>8</Slides>
  <Notes>2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Office-tema</vt:lpstr>
      <vt:lpstr>Mættede, umættede og overmættede opløsninger</vt:lpstr>
      <vt:lpstr> Umættet, mættet og overmættet opløsning     Ved 20oC kan der ifølge opløselighedskurven opløses 30 g KNO3 i 100 mL vand.  En opløsning af KNO3 er 200C hvori der er opløst  25 g salt i 100 mL vand kaldes umættet.  Der kan stadig opløses mere salt i opløsningen.  I en anden portion vand (100 mL, 200C), er der  opløst 30 g salt. Opløsningen er nu mættet.  Der kan ikke opløses mere salt i opløsningen.  I et tredje glas (100 mL vand) er der tilsat 45 g salt.  Opløsningen opvarmes til 500C (opløseligheden er  her 88 g/100 mL) og alt saltet går nu i opløsning.  Derefter afkøles opløsningen til 10 oC og man har  en klar opløsning.  Opløsningen kaldes nu for en overmættet opløsning  (ustabil opløsning). Hvis opløsningen udkrystalliserer, hvor meget salt vil så  udfældes?</vt:lpstr>
      <vt:lpstr> Umættet, mættet og overmættet opløsning      Se de to videoer og forklar hvad der sker   http://www.youtube.com/watch?v=nvHrXr5Jajg&amp;feature=endscreen&amp;NR=1  (1.43)   http://www.youtube.com/watch?v=BLq5NibwV5g     (0.53)  </vt:lpstr>
      <vt:lpstr>PowerPoint-præsentation</vt:lpstr>
      <vt:lpstr>Hot pack  varmepose (blå)   Pris 39 kr.</vt:lpstr>
      <vt:lpstr>Endoterm reaktion</vt:lpstr>
      <vt:lpstr>Exoterm reaktion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Charlotte Lena Boesen</dc:creator>
  <cp:lastModifiedBy>Charlotte Lena Boesen</cp:lastModifiedBy>
  <cp:revision>24</cp:revision>
  <dcterms:created xsi:type="dcterms:W3CDTF">2016-11-15T18:29:13Z</dcterms:created>
  <dcterms:modified xsi:type="dcterms:W3CDTF">2023-01-03T21:27:32Z</dcterms:modified>
</cp:coreProperties>
</file>